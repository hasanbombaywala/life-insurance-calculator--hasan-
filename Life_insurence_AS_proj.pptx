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8288000" cy="10287000"/>
  <p:notesSz cx="6858000" cy="9144000"/>
  <p:embeddedFontLst>
    <p:embeddedFont>
      <p:font typeface="Canva Sans" panose="020B0604020202020204" charset="0"/>
      <p:regular r:id="rId26"/>
    </p:embeddedFont>
    <p:embeddedFont>
      <p:font typeface="Canva Sans Bold" panose="020B0604020202020204" charset="0"/>
      <p:regular r:id="rId27"/>
    </p:embeddedFont>
    <p:embeddedFont>
      <p:font typeface="Canva Sans Italics" panose="020B0604020202020204" charset="0"/>
      <p:regular r:id="rId28"/>
    </p:embeddedFont>
    <p:embeddedFont>
      <p:font typeface="Times New Roman Bold" panose="02020803070505020304" pitchFamily="18" charset="0"/>
      <p:regular r:id="rId29"/>
      <p:bold r:id="rId30"/>
    </p:embeddedFont>
    <p:embeddedFont>
      <p:font typeface="Times New Roman Bold Italics" panose="020B0604020202020204" charset="0"/>
      <p:regular r:id="rId31"/>
    </p:embeddedFont>
    <p:embeddedFont>
      <p:font typeface="Times New Roman Italics" panose="020B0604020202020204" charset="0"/>
      <p:regular r:id="rId3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2" d="100"/>
          <a:sy n="52" d="100"/>
        </p:scale>
        <p:origin x="85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7.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theme" Target="theme/theme1.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4/5/2025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2.png"/><Relationship Id="rId7" Type="http://schemas.openxmlformats.org/officeDocument/2006/relationships/image" Target="../media/image9.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4.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image" Target="../media/image2.png"/><Relationship Id="rId7" Type="http://schemas.openxmlformats.org/officeDocument/2006/relationships/image" Target="../media/image15.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18.pn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23.png"/><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24.png"/><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25.jpeg"/><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26.png"/><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hyperlink" Target="https://time.com/7210400/why-is-alcohol-unhealthy/" TargetMode="External"/><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
            <a:chOff x="0" y="0"/>
            <a:chExt cx="24384000" cy="1371600"/>
          </a:xfrm>
        </p:grpSpPr>
        <p:sp>
          <p:nvSpPr>
            <p:cNvPr id="3" name="Freeform 3"/>
            <p:cNvSpPr/>
            <p:nvPr/>
          </p:nvSpPr>
          <p:spPr>
            <a:xfrm>
              <a:off x="0" y="0"/>
              <a:ext cx="24384000" cy="1371600"/>
            </a:xfrm>
            <a:custGeom>
              <a:avLst/>
              <a:gdLst/>
              <a:ahLst/>
              <a:cxnLst/>
              <a:rect l="l" t="t" r="r" b="b"/>
              <a:pathLst>
                <a:path w="24384000" h="1371600">
                  <a:moveTo>
                    <a:pt x="24384000" y="0"/>
                  </a:moveTo>
                  <a:lnTo>
                    <a:pt x="0" y="0"/>
                  </a:lnTo>
                  <a:lnTo>
                    <a:pt x="0" y="1371600"/>
                  </a:lnTo>
                  <a:lnTo>
                    <a:pt x="24384000" y="1371600"/>
                  </a:lnTo>
                  <a:lnTo>
                    <a:pt x="24384000" y="0"/>
                  </a:lnTo>
                  <a:close/>
                </a:path>
              </a:pathLst>
            </a:custGeom>
            <a:solidFill>
              <a:srgbClr val="D2222A"/>
            </a:solidFill>
          </p:spPr>
        </p:sp>
      </p:grpSp>
      <p:sp>
        <p:nvSpPr>
          <p:cNvPr id="4" name="Freeform 4"/>
          <p:cNvSpPr/>
          <p:nvPr/>
        </p:nvSpPr>
        <p:spPr>
          <a:xfrm>
            <a:off x="3600450" y="657225"/>
            <a:ext cx="3543300" cy="657225"/>
          </a:xfrm>
          <a:custGeom>
            <a:avLst/>
            <a:gdLst/>
            <a:ahLst/>
            <a:cxnLst/>
            <a:rect l="l" t="t" r="r" b="b"/>
            <a:pathLst>
              <a:path w="3543300" h="657225">
                <a:moveTo>
                  <a:pt x="0" y="0"/>
                </a:moveTo>
                <a:lnTo>
                  <a:pt x="3543300" y="0"/>
                </a:lnTo>
                <a:lnTo>
                  <a:pt x="3543300" y="657225"/>
                </a:lnTo>
                <a:lnTo>
                  <a:pt x="0" y="657225"/>
                </a:lnTo>
                <a:lnTo>
                  <a:pt x="0" y="0"/>
                </a:lnTo>
                <a:close/>
              </a:path>
            </a:pathLst>
          </a:custGeom>
          <a:blipFill>
            <a:blip r:embed="rId2"/>
            <a:stretch>
              <a:fillRect/>
            </a:stretch>
          </a:blipFill>
        </p:spPr>
      </p:sp>
      <p:sp>
        <p:nvSpPr>
          <p:cNvPr id="5" name="Freeform 5"/>
          <p:cNvSpPr/>
          <p:nvPr/>
        </p:nvSpPr>
        <p:spPr>
          <a:xfrm>
            <a:off x="0" y="171354"/>
            <a:ext cx="7551039" cy="1707356"/>
          </a:xfrm>
          <a:custGeom>
            <a:avLst/>
            <a:gdLst/>
            <a:ahLst/>
            <a:cxnLst/>
            <a:rect l="l" t="t" r="r" b="b"/>
            <a:pathLst>
              <a:path w="7551039" h="1707356">
                <a:moveTo>
                  <a:pt x="0" y="0"/>
                </a:moveTo>
                <a:lnTo>
                  <a:pt x="7551039" y="0"/>
                </a:lnTo>
                <a:lnTo>
                  <a:pt x="7551039" y="1707356"/>
                </a:lnTo>
                <a:lnTo>
                  <a:pt x="0" y="1707356"/>
                </a:lnTo>
                <a:lnTo>
                  <a:pt x="0" y="0"/>
                </a:lnTo>
                <a:close/>
              </a:path>
            </a:pathLst>
          </a:custGeom>
          <a:blipFill>
            <a:blip r:embed="rId3"/>
            <a:stretch>
              <a:fillRect t="-67" b="-67"/>
            </a:stretch>
          </a:blipFill>
        </p:spPr>
      </p:sp>
      <p:sp>
        <p:nvSpPr>
          <p:cNvPr id="6" name="Freeform 6"/>
          <p:cNvSpPr/>
          <p:nvPr/>
        </p:nvSpPr>
        <p:spPr>
          <a:xfrm>
            <a:off x="0" y="257175"/>
            <a:ext cx="7472361" cy="1457325"/>
          </a:xfrm>
          <a:custGeom>
            <a:avLst/>
            <a:gdLst/>
            <a:ahLst/>
            <a:cxnLst/>
            <a:rect l="l" t="t" r="r" b="b"/>
            <a:pathLst>
              <a:path w="7472361" h="1457325">
                <a:moveTo>
                  <a:pt x="0" y="0"/>
                </a:moveTo>
                <a:lnTo>
                  <a:pt x="7472361" y="0"/>
                </a:lnTo>
                <a:lnTo>
                  <a:pt x="7472361" y="1457325"/>
                </a:lnTo>
                <a:lnTo>
                  <a:pt x="0" y="1457325"/>
                </a:lnTo>
                <a:lnTo>
                  <a:pt x="0" y="0"/>
                </a:lnTo>
                <a:close/>
              </a:path>
            </a:pathLst>
          </a:custGeom>
          <a:blipFill>
            <a:blip r:embed="rId4"/>
            <a:stretch>
              <a:fillRect l="-31" r="-31"/>
            </a:stretch>
          </a:blipFill>
        </p:spPr>
      </p:sp>
      <p:grpSp>
        <p:nvGrpSpPr>
          <p:cNvPr id="7" name="Group 7"/>
          <p:cNvGrpSpPr/>
          <p:nvPr/>
        </p:nvGrpSpPr>
        <p:grpSpPr>
          <a:xfrm>
            <a:off x="0" y="10115550"/>
            <a:ext cx="18288000" cy="171450"/>
            <a:chOff x="0" y="0"/>
            <a:chExt cx="24384000" cy="228600"/>
          </a:xfrm>
        </p:grpSpPr>
        <p:sp>
          <p:nvSpPr>
            <p:cNvPr id="8" name="Freeform 8"/>
            <p:cNvSpPr/>
            <p:nvPr/>
          </p:nvSpPr>
          <p:spPr>
            <a:xfrm>
              <a:off x="0" y="0"/>
              <a:ext cx="24384000" cy="228600"/>
            </a:xfrm>
            <a:custGeom>
              <a:avLst/>
              <a:gdLst/>
              <a:ahLst/>
              <a:cxnLst/>
              <a:rect l="l" t="t" r="r" b="b"/>
              <a:pathLst>
                <a:path w="24384000" h="228600">
                  <a:moveTo>
                    <a:pt x="24384000" y="0"/>
                  </a:moveTo>
                  <a:lnTo>
                    <a:pt x="0" y="0"/>
                  </a:lnTo>
                  <a:lnTo>
                    <a:pt x="0" y="228600"/>
                  </a:lnTo>
                  <a:lnTo>
                    <a:pt x="24384000" y="228600"/>
                  </a:lnTo>
                  <a:lnTo>
                    <a:pt x="24384000" y="0"/>
                  </a:lnTo>
                  <a:close/>
                </a:path>
              </a:pathLst>
            </a:custGeom>
            <a:solidFill>
              <a:srgbClr val="D2222A"/>
            </a:solidFill>
          </p:spPr>
        </p:sp>
      </p:grpSp>
      <p:grpSp>
        <p:nvGrpSpPr>
          <p:cNvPr id="9" name="Group 9"/>
          <p:cNvGrpSpPr/>
          <p:nvPr/>
        </p:nvGrpSpPr>
        <p:grpSpPr>
          <a:xfrm>
            <a:off x="67801" y="8749546"/>
            <a:ext cx="9196949" cy="1199290"/>
            <a:chOff x="0" y="0"/>
            <a:chExt cx="16254730" cy="2119630"/>
          </a:xfrm>
        </p:grpSpPr>
        <p:sp>
          <p:nvSpPr>
            <p:cNvPr id="10" name="Freeform 10"/>
            <p:cNvSpPr/>
            <p:nvPr/>
          </p:nvSpPr>
          <p:spPr>
            <a:xfrm>
              <a:off x="0" y="0"/>
              <a:ext cx="16254730" cy="2119630"/>
            </a:xfrm>
            <a:custGeom>
              <a:avLst/>
              <a:gdLst/>
              <a:ahLst/>
              <a:cxnLst/>
              <a:rect l="l" t="t" r="r" b="b"/>
              <a:pathLst>
                <a:path w="16254730" h="2119630">
                  <a:moveTo>
                    <a:pt x="0" y="0"/>
                  </a:moveTo>
                  <a:lnTo>
                    <a:pt x="16254730" y="0"/>
                  </a:lnTo>
                  <a:lnTo>
                    <a:pt x="16254730" y="2119630"/>
                  </a:lnTo>
                  <a:lnTo>
                    <a:pt x="0" y="2119630"/>
                  </a:lnTo>
                  <a:close/>
                </a:path>
              </a:pathLst>
            </a:custGeom>
            <a:solidFill>
              <a:srgbClr val="000000">
                <a:alpha val="0"/>
              </a:srgbClr>
            </a:solidFill>
          </p:spPr>
        </p:sp>
        <p:sp>
          <p:nvSpPr>
            <p:cNvPr id="11" name="TextBox 11"/>
            <p:cNvSpPr txBox="1"/>
            <p:nvPr/>
          </p:nvSpPr>
          <p:spPr>
            <a:xfrm>
              <a:off x="0" y="-66675"/>
              <a:ext cx="16254730" cy="2186305"/>
            </a:xfrm>
            <a:prstGeom prst="rect">
              <a:avLst/>
            </a:prstGeom>
          </p:spPr>
          <p:txBody>
            <a:bodyPr lIns="0" tIns="0" rIns="0" bIns="0" rtlCol="0" anchor="t"/>
            <a:lstStyle/>
            <a:p>
              <a:pPr algn="l">
                <a:lnSpc>
                  <a:spcPts val="3600"/>
                </a:lnSpc>
              </a:pPr>
              <a:r>
                <a:rPr lang="en-US" sz="3000" b="1" i="1">
                  <a:solidFill>
                    <a:srgbClr val="000000"/>
                  </a:solidFill>
                  <a:latin typeface="Times New Roman Bold Italics"/>
                  <a:ea typeface="Times New Roman Bold Italics"/>
                  <a:cs typeface="Times New Roman Bold Italics"/>
                  <a:sym typeface="Times New Roman Bold Italics"/>
                </a:rPr>
                <a:t>Under the guidance of Prof.Shaishavi</a:t>
              </a:r>
            </a:p>
            <a:p>
              <a:pPr algn="l">
                <a:lnSpc>
                  <a:spcPts val="2520"/>
                </a:lnSpc>
              </a:pPr>
              <a:endParaRPr lang="en-US" sz="3000" b="1" i="1">
                <a:solidFill>
                  <a:srgbClr val="000000"/>
                </a:solidFill>
                <a:latin typeface="Times New Roman Bold Italics"/>
                <a:ea typeface="Times New Roman Bold Italics"/>
                <a:cs typeface="Times New Roman Bold Italics"/>
                <a:sym typeface="Times New Roman Bold Italics"/>
              </a:endParaRPr>
            </a:p>
            <a:p>
              <a:pPr algn="l">
                <a:lnSpc>
                  <a:spcPts val="2520"/>
                </a:lnSpc>
              </a:pPr>
              <a:r>
                <a:rPr lang="en-US" sz="2100" i="1">
                  <a:solidFill>
                    <a:srgbClr val="000000"/>
                  </a:solidFill>
                  <a:latin typeface="Times New Roman Italics"/>
                  <a:ea typeface="Times New Roman Italics"/>
                  <a:cs typeface="Times New Roman Italics"/>
                  <a:sym typeface="Times New Roman Italics"/>
                </a:rPr>
                <a:t>B. Sc. (Applied Statistics and Analytics) | Actuarial Science</a:t>
              </a:r>
            </a:p>
          </p:txBody>
        </p:sp>
      </p:grpSp>
      <p:sp>
        <p:nvSpPr>
          <p:cNvPr id="12" name="TextBox 12"/>
          <p:cNvSpPr txBox="1"/>
          <p:nvPr/>
        </p:nvSpPr>
        <p:spPr>
          <a:xfrm>
            <a:off x="1270200" y="3206397"/>
            <a:ext cx="15989100" cy="2228215"/>
          </a:xfrm>
          <a:prstGeom prst="rect">
            <a:avLst/>
          </a:prstGeom>
        </p:spPr>
        <p:txBody>
          <a:bodyPr lIns="0" tIns="0" rIns="0" bIns="0" rtlCol="0" anchor="t">
            <a:spAutoFit/>
          </a:bodyPr>
          <a:lstStyle/>
          <a:p>
            <a:pPr algn="ctr">
              <a:lnSpc>
                <a:spcPts val="8959"/>
              </a:lnSpc>
            </a:pPr>
            <a:r>
              <a:rPr lang="en-US" sz="6399" b="1" dirty="0">
                <a:solidFill>
                  <a:srgbClr val="000000"/>
                </a:solidFill>
                <a:latin typeface="Canva Sans Bold"/>
                <a:ea typeface="Canva Sans Bold"/>
                <a:cs typeface="Canva Sans Bold"/>
                <a:sym typeface="Canva Sans Bold"/>
              </a:rPr>
              <a:t>Predictive Modeling of Life Insurance Premiums Based on Health Risks</a:t>
            </a:r>
          </a:p>
        </p:txBody>
      </p:sp>
      <p:sp>
        <p:nvSpPr>
          <p:cNvPr id="13" name="TextBox 13"/>
          <p:cNvSpPr txBox="1"/>
          <p:nvPr/>
        </p:nvSpPr>
        <p:spPr>
          <a:xfrm>
            <a:off x="12496800" y="6576986"/>
            <a:ext cx="5089493" cy="2962349"/>
          </a:xfrm>
          <a:prstGeom prst="rect">
            <a:avLst/>
          </a:prstGeom>
        </p:spPr>
        <p:txBody>
          <a:bodyPr wrap="square" lIns="0" tIns="0" rIns="0" bIns="0" rtlCol="0" anchor="t">
            <a:spAutoFit/>
          </a:bodyPr>
          <a:lstStyle/>
          <a:p>
            <a:pPr algn="ctr">
              <a:lnSpc>
                <a:spcPts val="4559"/>
              </a:lnSpc>
            </a:pPr>
            <a:r>
              <a:rPr lang="en-US" sz="3799" b="1" spc="-15" dirty="0">
                <a:solidFill>
                  <a:srgbClr val="000000"/>
                </a:solidFill>
                <a:latin typeface="Canva Sans Bold"/>
                <a:ea typeface="Canva Sans Bold"/>
                <a:cs typeface="Canva Sans Bold"/>
                <a:sym typeface="Canva Sans Bold"/>
              </a:rPr>
              <a:t>Project by</a:t>
            </a:r>
          </a:p>
          <a:p>
            <a:pPr algn="l">
              <a:lnSpc>
                <a:spcPts val="3720"/>
              </a:lnSpc>
            </a:pPr>
            <a:r>
              <a:rPr lang="en-US" sz="3100" spc="-12" dirty="0">
                <a:solidFill>
                  <a:srgbClr val="000000"/>
                </a:solidFill>
                <a:latin typeface="Canva Sans"/>
                <a:ea typeface="Canva Sans"/>
                <a:cs typeface="Canva Sans"/>
                <a:sym typeface="Canva Sans"/>
              </a:rPr>
              <a:t>Bhakti Nayak                A006</a:t>
            </a:r>
          </a:p>
          <a:p>
            <a:pPr algn="l">
              <a:lnSpc>
                <a:spcPts val="3720"/>
              </a:lnSpc>
            </a:pPr>
            <a:r>
              <a:rPr lang="en-US" sz="3100" spc="-12" dirty="0">
                <a:solidFill>
                  <a:srgbClr val="000000"/>
                </a:solidFill>
                <a:latin typeface="Canva Sans"/>
                <a:ea typeface="Canva Sans"/>
                <a:cs typeface="Canva Sans"/>
                <a:sym typeface="Canva Sans"/>
              </a:rPr>
              <a:t>Hasan Bombaywala   A015</a:t>
            </a:r>
          </a:p>
          <a:p>
            <a:pPr algn="l">
              <a:lnSpc>
                <a:spcPts val="3720"/>
              </a:lnSpc>
            </a:pPr>
            <a:r>
              <a:rPr lang="en-US" sz="3100" spc="-12" dirty="0">
                <a:solidFill>
                  <a:srgbClr val="000000"/>
                </a:solidFill>
                <a:latin typeface="Canva Sans"/>
                <a:ea typeface="Canva Sans"/>
                <a:cs typeface="Canva Sans"/>
                <a:sym typeface="Canva Sans"/>
              </a:rPr>
              <a:t>Jash Chitalia                A016</a:t>
            </a:r>
          </a:p>
          <a:p>
            <a:pPr algn="l">
              <a:lnSpc>
                <a:spcPts val="3720"/>
              </a:lnSpc>
            </a:pPr>
            <a:r>
              <a:rPr lang="en-US" sz="3100" spc="-12" dirty="0">
                <a:solidFill>
                  <a:srgbClr val="000000"/>
                </a:solidFill>
                <a:latin typeface="Canva Sans"/>
                <a:ea typeface="Canva Sans"/>
                <a:cs typeface="Canva Sans"/>
                <a:sym typeface="Canva Sans"/>
              </a:rPr>
              <a:t>Sandarbh  Jantwal     A049</a:t>
            </a:r>
          </a:p>
          <a:p>
            <a:pPr algn="l">
              <a:lnSpc>
                <a:spcPts val="3720"/>
              </a:lnSpc>
              <a:spcBef>
                <a:spcPct val="0"/>
              </a:spcBef>
            </a:pPr>
            <a:r>
              <a:rPr lang="en-US" sz="3100" spc="-12" dirty="0">
                <a:solidFill>
                  <a:srgbClr val="000000"/>
                </a:solidFill>
                <a:latin typeface="Canva Sans"/>
                <a:ea typeface="Canva Sans"/>
                <a:cs typeface="Canva Sans"/>
                <a:sym typeface="Canva Sans"/>
              </a:rPr>
              <a:t>Soham Patil                  A051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
            <a:chOff x="0" y="0"/>
            <a:chExt cx="24384000" cy="1371600"/>
          </a:xfrm>
        </p:grpSpPr>
        <p:sp>
          <p:nvSpPr>
            <p:cNvPr id="3" name="Freeform 3"/>
            <p:cNvSpPr/>
            <p:nvPr/>
          </p:nvSpPr>
          <p:spPr>
            <a:xfrm>
              <a:off x="0" y="0"/>
              <a:ext cx="24384000" cy="1371600"/>
            </a:xfrm>
            <a:custGeom>
              <a:avLst/>
              <a:gdLst/>
              <a:ahLst/>
              <a:cxnLst/>
              <a:rect l="l" t="t" r="r" b="b"/>
              <a:pathLst>
                <a:path w="24384000" h="1371600">
                  <a:moveTo>
                    <a:pt x="24384000" y="0"/>
                  </a:moveTo>
                  <a:lnTo>
                    <a:pt x="0" y="0"/>
                  </a:lnTo>
                  <a:lnTo>
                    <a:pt x="0" y="1371600"/>
                  </a:lnTo>
                  <a:lnTo>
                    <a:pt x="24384000" y="1371600"/>
                  </a:lnTo>
                  <a:lnTo>
                    <a:pt x="24384000" y="0"/>
                  </a:lnTo>
                  <a:close/>
                </a:path>
              </a:pathLst>
            </a:custGeom>
            <a:solidFill>
              <a:srgbClr val="D2222A"/>
            </a:solidFill>
          </p:spPr>
        </p:sp>
      </p:grpSp>
      <p:sp>
        <p:nvSpPr>
          <p:cNvPr id="4" name="Freeform 4"/>
          <p:cNvSpPr/>
          <p:nvPr/>
        </p:nvSpPr>
        <p:spPr>
          <a:xfrm>
            <a:off x="3600450" y="657225"/>
            <a:ext cx="3543300" cy="657225"/>
          </a:xfrm>
          <a:custGeom>
            <a:avLst/>
            <a:gdLst/>
            <a:ahLst/>
            <a:cxnLst/>
            <a:rect l="l" t="t" r="r" b="b"/>
            <a:pathLst>
              <a:path w="3543300" h="657225">
                <a:moveTo>
                  <a:pt x="0" y="0"/>
                </a:moveTo>
                <a:lnTo>
                  <a:pt x="3543300" y="0"/>
                </a:lnTo>
                <a:lnTo>
                  <a:pt x="3543300" y="657225"/>
                </a:lnTo>
                <a:lnTo>
                  <a:pt x="0" y="657225"/>
                </a:lnTo>
                <a:lnTo>
                  <a:pt x="0" y="0"/>
                </a:lnTo>
                <a:close/>
              </a:path>
            </a:pathLst>
          </a:custGeom>
          <a:blipFill>
            <a:blip r:embed="rId2"/>
            <a:stretch>
              <a:fillRect/>
            </a:stretch>
          </a:blipFill>
        </p:spPr>
      </p:sp>
      <p:sp>
        <p:nvSpPr>
          <p:cNvPr id="5" name="Freeform 5"/>
          <p:cNvSpPr/>
          <p:nvPr/>
        </p:nvSpPr>
        <p:spPr>
          <a:xfrm>
            <a:off x="0" y="171354"/>
            <a:ext cx="7551039" cy="1707356"/>
          </a:xfrm>
          <a:custGeom>
            <a:avLst/>
            <a:gdLst/>
            <a:ahLst/>
            <a:cxnLst/>
            <a:rect l="l" t="t" r="r" b="b"/>
            <a:pathLst>
              <a:path w="7551039" h="1707356">
                <a:moveTo>
                  <a:pt x="0" y="0"/>
                </a:moveTo>
                <a:lnTo>
                  <a:pt x="7551039" y="0"/>
                </a:lnTo>
                <a:lnTo>
                  <a:pt x="7551039" y="1707356"/>
                </a:lnTo>
                <a:lnTo>
                  <a:pt x="0" y="1707356"/>
                </a:lnTo>
                <a:lnTo>
                  <a:pt x="0" y="0"/>
                </a:lnTo>
                <a:close/>
              </a:path>
            </a:pathLst>
          </a:custGeom>
          <a:blipFill>
            <a:blip r:embed="rId3"/>
            <a:stretch>
              <a:fillRect t="-67" b="-67"/>
            </a:stretch>
          </a:blipFill>
        </p:spPr>
      </p:sp>
      <p:sp>
        <p:nvSpPr>
          <p:cNvPr id="6" name="Freeform 6"/>
          <p:cNvSpPr/>
          <p:nvPr/>
        </p:nvSpPr>
        <p:spPr>
          <a:xfrm>
            <a:off x="0" y="257175"/>
            <a:ext cx="7472361" cy="1457325"/>
          </a:xfrm>
          <a:custGeom>
            <a:avLst/>
            <a:gdLst/>
            <a:ahLst/>
            <a:cxnLst/>
            <a:rect l="l" t="t" r="r" b="b"/>
            <a:pathLst>
              <a:path w="7472361" h="1457325">
                <a:moveTo>
                  <a:pt x="0" y="0"/>
                </a:moveTo>
                <a:lnTo>
                  <a:pt x="7472361" y="0"/>
                </a:lnTo>
                <a:lnTo>
                  <a:pt x="7472361" y="1457325"/>
                </a:lnTo>
                <a:lnTo>
                  <a:pt x="0" y="1457325"/>
                </a:lnTo>
                <a:lnTo>
                  <a:pt x="0" y="0"/>
                </a:lnTo>
                <a:close/>
              </a:path>
            </a:pathLst>
          </a:custGeom>
          <a:blipFill>
            <a:blip r:embed="rId4"/>
            <a:stretch>
              <a:fillRect l="-31" r="-31"/>
            </a:stretch>
          </a:blipFill>
        </p:spPr>
      </p:sp>
      <p:grpSp>
        <p:nvGrpSpPr>
          <p:cNvPr id="7" name="Group 7"/>
          <p:cNvGrpSpPr/>
          <p:nvPr/>
        </p:nvGrpSpPr>
        <p:grpSpPr>
          <a:xfrm>
            <a:off x="0" y="10115550"/>
            <a:ext cx="18288000" cy="171450"/>
            <a:chOff x="0" y="0"/>
            <a:chExt cx="24384000" cy="228600"/>
          </a:xfrm>
        </p:grpSpPr>
        <p:sp>
          <p:nvSpPr>
            <p:cNvPr id="8" name="Freeform 8"/>
            <p:cNvSpPr/>
            <p:nvPr/>
          </p:nvSpPr>
          <p:spPr>
            <a:xfrm>
              <a:off x="0" y="0"/>
              <a:ext cx="24384000" cy="228600"/>
            </a:xfrm>
            <a:custGeom>
              <a:avLst/>
              <a:gdLst/>
              <a:ahLst/>
              <a:cxnLst/>
              <a:rect l="l" t="t" r="r" b="b"/>
              <a:pathLst>
                <a:path w="24384000" h="228600">
                  <a:moveTo>
                    <a:pt x="24384000" y="0"/>
                  </a:moveTo>
                  <a:lnTo>
                    <a:pt x="0" y="0"/>
                  </a:lnTo>
                  <a:lnTo>
                    <a:pt x="0" y="228600"/>
                  </a:lnTo>
                  <a:lnTo>
                    <a:pt x="24384000" y="228600"/>
                  </a:lnTo>
                  <a:lnTo>
                    <a:pt x="24384000" y="0"/>
                  </a:lnTo>
                  <a:close/>
                </a:path>
              </a:pathLst>
            </a:custGeom>
            <a:solidFill>
              <a:srgbClr val="D2222A"/>
            </a:solidFill>
          </p:spPr>
        </p:sp>
      </p:grpSp>
      <p:graphicFrame>
        <p:nvGraphicFramePr>
          <p:cNvPr id="9" name="Table 9"/>
          <p:cNvGraphicFramePr>
            <a:graphicFrameLocks noGrp="1"/>
          </p:cNvGraphicFramePr>
          <p:nvPr/>
        </p:nvGraphicFramePr>
        <p:xfrm>
          <a:off x="1028700" y="3167482"/>
          <a:ext cx="16230600" cy="6496043"/>
        </p:xfrm>
        <a:graphic>
          <a:graphicData uri="http://schemas.openxmlformats.org/drawingml/2006/table">
            <a:tbl>
              <a:tblPr/>
              <a:tblGrid>
                <a:gridCol w="1897961">
                  <a:extLst>
                    <a:ext uri="{9D8B030D-6E8A-4147-A177-3AD203B41FA5}">
                      <a16:colId xmlns:a16="http://schemas.microsoft.com/office/drawing/2014/main" val="20000"/>
                    </a:ext>
                  </a:extLst>
                </a:gridCol>
                <a:gridCol w="11967791">
                  <a:extLst>
                    <a:ext uri="{9D8B030D-6E8A-4147-A177-3AD203B41FA5}">
                      <a16:colId xmlns:a16="http://schemas.microsoft.com/office/drawing/2014/main" val="20001"/>
                    </a:ext>
                  </a:extLst>
                </a:gridCol>
                <a:gridCol w="2364848">
                  <a:extLst>
                    <a:ext uri="{9D8B030D-6E8A-4147-A177-3AD203B41FA5}">
                      <a16:colId xmlns:a16="http://schemas.microsoft.com/office/drawing/2014/main" val="20002"/>
                    </a:ext>
                  </a:extLst>
                </a:gridCol>
              </a:tblGrid>
              <a:tr h="924891">
                <a:tc>
                  <a:txBody>
                    <a:bodyPr/>
                    <a:lstStyle/>
                    <a:p>
                      <a:pPr algn="l">
                        <a:lnSpc>
                          <a:spcPts val="3480"/>
                        </a:lnSpc>
                        <a:defRPr/>
                      </a:pPr>
                      <a:r>
                        <a:rPr lang="en-US" sz="2900" b="1">
                          <a:solidFill>
                            <a:srgbClr val="000000"/>
                          </a:solidFill>
                          <a:latin typeface="Canva Sans Bold"/>
                          <a:ea typeface="Canva Sans Bold"/>
                          <a:cs typeface="Canva Sans Bold"/>
                          <a:sym typeface="Canva Sans Bold"/>
                        </a:rPr>
                        <a:t>Serial No.</a:t>
                      </a:r>
                      <a:endParaRPr lang="en-US" sz="1100"/>
                    </a:p>
                  </a:txBody>
                  <a:tcPr marL="0" marR="0" marT="0" marB="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tcPr>
                </a:tc>
                <a:tc>
                  <a:txBody>
                    <a:bodyPr/>
                    <a:lstStyle/>
                    <a:p>
                      <a:pPr algn="ctr">
                        <a:lnSpc>
                          <a:spcPts val="3480"/>
                        </a:lnSpc>
                        <a:defRPr/>
                      </a:pPr>
                      <a:r>
                        <a:rPr lang="en-US" sz="2900" b="1" spc="-14">
                          <a:solidFill>
                            <a:srgbClr val="000000"/>
                          </a:solidFill>
                          <a:latin typeface="Canva Sans Bold"/>
                          <a:ea typeface="Canva Sans Bold"/>
                          <a:cs typeface="Canva Sans Bold"/>
                          <a:sym typeface="Canva Sans Bold"/>
                        </a:rPr>
                        <a:t>CONTENT</a:t>
                      </a:r>
                      <a:endParaRPr lang="en-US" sz="1100"/>
                    </a:p>
                  </a:txBody>
                  <a:tcPr marL="0" marR="0" marT="0" marB="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tcPr>
                </a:tc>
                <a:tc>
                  <a:txBody>
                    <a:bodyPr/>
                    <a:lstStyle/>
                    <a:p>
                      <a:pPr algn="ctr">
                        <a:lnSpc>
                          <a:spcPts val="3480"/>
                        </a:lnSpc>
                        <a:defRPr/>
                      </a:pPr>
                      <a:r>
                        <a:rPr lang="en-US" sz="2900" b="1">
                          <a:solidFill>
                            <a:srgbClr val="000000"/>
                          </a:solidFill>
                          <a:latin typeface="Canva Sans Bold"/>
                          <a:ea typeface="Canva Sans Bold"/>
                          <a:cs typeface="Canva Sans Bold"/>
                          <a:sym typeface="Canva Sans Bold"/>
                        </a:rPr>
                        <a:t>Page No.</a:t>
                      </a:r>
                      <a:endParaRPr lang="en-US" sz="1100"/>
                    </a:p>
                  </a:txBody>
                  <a:tcPr marL="0" marR="0" marT="0" marB="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tcPr>
                </a:tc>
                <a:extLst>
                  <a:ext uri="{0D108BD9-81ED-4DB2-BD59-A6C34878D82A}">
                    <a16:rowId xmlns:a16="http://schemas.microsoft.com/office/drawing/2014/main" val="10000"/>
                  </a:ext>
                </a:extLst>
              </a:tr>
              <a:tr h="725013">
                <a:tc>
                  <a:txBody>
                    <a:bodyPr/>
                    <a:lstStyle/>
                    <a:p>
                      <a:pPr algn="ctr">
                        <a:lnSpc>
                          <a:spcPts val="3480"/>
                        </a:lnSpc>
                        <a:defRPr/>
                      </a:pPr>
                      <a:r>
                        <a:rPr lang="en-US" sz="2900" spc="-72">
                          <a:solidFill>
                            <a:srgbClr val="000000"/>
                          </a:solidFill>
                          <a:latin typeface="Canva Sans"/>
                          <a:ea typeface="Canva Sans"/>
                          <a:cs typeface="Canva Sans"/>
                          <a:sym typeface="Canva Sans"/>
                        </a:rPr>
                        <a:t>1</a:t>
                      </a:r>
                      <a:endParaRPr lang="en-US" sz="1100"/>
                    </a:p>
                  </a:txBody>
                  <a:tcPr marL="0" marR="0" marT="0" marB="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tcPr>
                </a:tc>
                <a:tc>
                  <a:txBody>
                    <a:bodyPr/>
                    <a:lstStyle/>
                    <a:p>
                      <a:pPr algn="ctr">
                        <a:lnSpc>
                          <a:spcPts val="3480"/>
                        </a:lnSpc>
                        <a:defRPr/>
                      </a:pPr>
                      <a:r>
                        <a:rPr lang="en-US" sz="2900" spc="-14">
                          <a:solidFill>
                            <a:srgbClr val="000000"/>
                          </a:solidFill>
                          <a:latin typeface="Canva Sans"/>
                          <a:ea typeface="Canva Sans"/>
                          <a:cs typeface="Canva Sans"/>
                          <a:sym typeface="Canva Sans"/>
                        </a:rPr>
                        <a:t>Introduction</a:t>
                      </a:r>
                      <a:endParaRPr lang="en-US" sz="1100"/>
                    </a:p>
                  </a:txBody>
                  <a:tcPr marL="0" marR="0" marT="0" marB="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tcPr>
                </a:tc>
                <a:tc>
                  <a:txBody>
                    <a:bodyPr/>
                    <a:lstStyle/>
                    <a:p>
                      <a:pPr algn="ctr">
                        <a:lnSpc>
                          <a:spcPts val="3480"/>
                        </a:lnSpc>
                        <a:defRPr/>
                      </a:pPr>
                      <a:r>
                        <a:rPr lang="en-US" sz="2900" u="sng" spc="-72">
                          <a:solidFill>
                            <a:srgbClr val="4F81BC"/>
                          </a:solidFill>
                          <a:latin typeface="Canva Sans"/>
                          <a:ea typeface="Canva Sans"/>
                          <a:cs typeface="Canva Sans"/>
                          <a:sym typeface="Canva Sans"/>
                        </a:rPr>
                        <a:t>3</a:t>
                      </a:r>
                      <a:endParaRPr lang="en-US" sz="1100"/>
                    </a:p>
                  </a:txBody>
                  <a:tcPr marL="0" marR="0" marT="0" marB="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tcPr>
                </a:tc>
                <a:extLst>
                  <a:ext uri="{0D108BD9-81ED-4DB2-BD59-A6C34878D82A}">
                    <a16:rowId xmlns:a16="http://schemas.microsoft.com/office/drawing/2014/main" val="10001"/>
                  </a:ext>
                </a:extLst>
              </a:tr>
              <a:tr h="725013">
                <a:tc>
                  <a:txBody>
                    <a:bodyPr/>
                    <a:lstStyle/>
                    <a:p>
                      <a:pPr algn="ctr">
                        <a:lnSpc>
                          <a:spcPts val="3480"/>
                        </a:lnSpc>
                        <a:defRPr/>
                      </a:pPr>
                      <a:r>
                        <a:rPr lang="en-US" sz="2900" spc="-72">
                          <a:solidFill>
                            <a:srgbClr val="000000"/>
                          </a:solidFill>
                          <a:latin typeface="Canva Sans"/>
                          <a:ea typeface="Canva Sans"/>
                          <a:cs typeface="Canva Sans"/>
                          <a:sym typeface="Canva Sans"/>
                        </a:rPr>
                        <a:t>3</a:t>
                      </a:r>
                      <a:endParaRPr lang="en-US" sz="1100"/>
                    </a:p>
                  </a:txBody>
                  <a:tcPr marL="0" marR="0" marT="0" marB="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tcPr>
                </a:tc>
                <a:tc>
                  <a:txBody>
                    <a:bodyPr/>
                    <a:lstStyle/>
                    <a:p>
                      <a:pPr algn="ctr">
                        <a:lnSpc>
                          <a:spcPts val="3480"/>
                        </a:lnSpc>
                        <a:defRPr/>
                      </a:pPr>
                      <a:r>
                        <a:rPr lang="en-US" sz="2900" spc="-14">
                          <a:solidFill>
                            <a:srgbClr val="000000"/>
                          </a:solidFill>
                          <a:latin typeface="Canva Sans"/>
                          <a:ea typeface="Canva Sans"/>
                          <a:cs typeface="Canva Sans"/>
                          <a:sym typeface="Canva Sans"/>
                        </a:rPr>
                        <a:t>Literature Review</a:t>
                      </a:r>
                      <a:endParaRPr lang="en-US" sz="1100"/>
                    </a:p>
                  </a:txBody>
                  <a:tcPr marL="0" marR="0" marT="0" marB="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tcPr>
                </a:tc>
                <a:tc>
                  <a:txBody>
                    <a:bodyPr/>
                    <a:lstStyle/>
                    <a:p>
                      <a:pPr algn="ctr">
                        <a:lnSpc>
                          <a:spcPts val="3480"/>
                        </a:lnSpc>
                        <a:defRPr/>
                      </a:pPr>
                      <a:r>
                        <a:rPr lang="en-US" sz="2900" u="sng" spc="-72">
                          <a:solidFill>
                            <a:srgbClr val="4F81BC"/>
                          </a:solidFill>
                          <a:latin typeface="Canva Sans"/>
                          <a:ea typeface="Canva Sans"/>
                          <a:cs typeface="Canva Sans"/>
                          <a:sym typeface="Canva Sans"/>
                        </a:rPr>
                        <a:t>5</a:t>
                      </a:r>
                      <a:endParaRPr lang="en-US" sz="1100"/>
                    </a:p>
                  </a:txBody>
                  <a:tcPr marL="0" marR="0" marT="0" marB="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tcPr>
                </a:tc>
                <a:extLst>
                  <a:ext uri="{0D108BD9-81ED-4DB2-BD59-A6C34878D82A}">
                    <a16:rowId xmlns:a16="http://schemas.microsoft.com/office/drawing/2014/main" val="10002"/>
                  </a:ext>
                </a:extLst>
              </a:tr>
              <a:tr h="725013">
                <a:tc>
                  <a:txBody>
                    <a:bodyPr/>
                    <a:lstStyle/>
                    <a:p>
                      <a:pPr algn="ctr">
                        <a:lnSpc>
                          <a:spcPts val="3480"/>
                        </a:lnSpc>
                        <a:defRPr/>
                      </a:pPr>
                      <a:r>
                        <a:rPr lang="en-US" sz="2900" spc="-72">
                          <a:solidFill>
                            <a:srgbClr val="000000"/>
                          </a:solidFill>
                          <a:latin typeface="Canva Sans"/>
                          <a:ea typeface="Canva Sans"/>
                          <a:cs typeface="Canva Sans"/>
                          <a:sym typeface="Canva Sans"/>
                        </a:rPr>
                        <a:t>4</a:t>
                      </a:r>
                      <a:endParaRPr lang="en-US" sz="1100"/>
                    </a:p>
                  </a:txBody>
                  <a:tcPr marL="0" marR="0" marT="0" marB="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tcPr>
                </a:tc>
                <a:tc>
                  <a:txBody>
                    <a:bodyPr/>
                    <a:lstStyle/>
                    <a:p>
                      <a:pPr algn="ctr">
                        <a:lnSpc>
                          <a:spcPts val="3480"/>
                        </a:lnSpc>
                        <a:defRPr/>
                      </a:pPr>
                      <a:r>
                        <a:rPr lang="en-US" sz="2900" spc="-14">
                          <a:solidFill>
                            <a:srgbClr val="000000"/>
                          </a:solidFill>
                          <a:latin typeface="Canva Sans"/>
                          <a:ea typeface="Canva Sans"/>
                          <a:cs typeface="Canva Sans"/>
                          <a:sym typeface="Canva Sans"/>
                        </a:rPr>
                        <a:t>Objectives</a:t>
                      </a:r>
                      <a:endParaRPr lang="en-US" sz="1100"/>
                    </a:p>
                  </a:txBody>
                  <a:tcPr marL="0" marR="0" marT="0" marB="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tcPr>
                </a:tc>
                <a:tc>
                  <a:txBody>
                    <a:bodyPr/>
                    <a:lstStyle/>
                    <a:p>
                      <a:pPr algn="ctr">
                        <a:lnSpc>
                          <a:spcPts val="3480"/>
                        </a:lnSpc>
                        <a:defRPr/>
                      </a:pPr>
                      <a:r>
                        <a:rPr lang="en-US" sz="2900" u="sng" spc="-72">
                          <a:solidFill>
                            <a:srgbClr val="4F81BC"/>
                          </a:solidFill>
                          <a:latin typeface="Canva Sans"/>
                          <a:ea typeface="Canva Sans"/>
                          <a:cs typeface="Canva Sans"/>
                          <a:sym typeface="Canva Sans"/>
                        </a:rPr>
                        <a:t>7</a:t>
                      </a:r>
                      <a:endParaRPr lang="en-US" sz="1100"/>
                    </a:p>
                  </a:txBody>
                  <a:tcPr marL="0" marR="0" marT="0" marB="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tcPr>
                </a:tc>
                <a:extLst>
                  <a:ext uri="{0D108BD9-81ED-4DB2-BD59-A6C34878D82A}">
                    <a16:rowId xmlns:a16="http://schemas.microsoft.com/office/drawing/2014/main" val="10003"/>
                  </a:ext>
                </a:extLst>
              </a:tr>
              <a:tr h="725013">
                <a:tc>
                  <a:txBody>
                    <a:bodyPr/>
                    <a:lstStyle/>
                    <a:p>
                      <a:pPr algn="ctr">
                        <a:lnSpc>
                          <a:spcPts val="3480"/>
                        </a:lnSpc>
                        <a:defRPr/>
                      </a:pPr>
                      <a:r>
                        <a:rPr lang="en-US" sz="2900" spc="-72">
                          <a:solidFill>
                            <a:srgbClr val="000000"/>
                          </a:solidFill>
                          <a:latin typeface="Canva Sans"/>
                          <a:ea typeface="Canva Sans"/>
                          <a:cs typeface="Canva Sans"/>
                          <a:sym typeface="Canva Sans"/>
                        </a:rPr>
                        <a:t>5</a:t>
                      </a:r>
                      <a:endParaRPr lang="en-US" sz="1100"/>
                    </a:p>
                  </a:txBody>
                  <a:tcPr marL="0" marR="0" marT="0" marB="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tcPr>
                </a:tc>
                <a:tc>
                  <a:txBody>
                    <a:bodyPr/>
                    <a:lstStyle/>
                    <a:p>
                      <a:pPr algn="ctr">
                        <a:lnSpc>
                          <a:spcPts val="3480"/>
                        </a:lnSpc>
                        <a:defRPr/>
                      </a:pPr>
                      <a:r>
                        <a:rPr lang="en-US" sz="2900" spc="-14">
                          <a:solidFill>
                            <a:srgbClr val="000000"/>
                          </a:solidFill>
                          <a:latin typeface="Canva Sans"/>
                          <a:ea typeface="Canva Sans"/>
                          <a:cs typeface="Canva Sans"/>
                          <a:sym typeface="Canva Sans"/>
                        </a:rPr>
                        <a:t>Methodology</a:t>
                      </a:r>
                      <a:endParaRPr lang="en-US" sz="1100"/>
                    </a:p>
                  </a:txBody>
                  <a:tcPr marL="0" marR="0" marT="0" marB="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tcPr>
                </a:tc>
                <a:tc>
                  <a:txBody>
                    <a:bodyPr/>
                    <a:lstStyle/>
                    <a:p>
                      <a:pPr algn="ctr">
                        <a:lnSpc>
                          <a:spcPts val="3480"/>
                        </a:lnSpc>
                        <a:defRPr/>
                      </a:pPr>
                      <a:r>
                        <a:rPr lang="en-US" sz="2900" u="sng" spc="-72">
                          <a:solidFill>
                            <a:srgbClr val="006FC0"/>
                          </a:solidFill>
                          <a:latin typeface="Canva Sans"/>
                          <a:ea typeface="Canva Sans"/>
                          <a:cs typeface="Canva Sans"/>
                          <a:sym typeface="Canva Sans"/>
                        </a:rPr>
                        <a:t>8</a:t>
                      </a:r>
                      <a:endParaRPr lang="en-US" sz="1100"/>
                    </a:p>
                  </a:txBody>
                  <a:tcPr marL="0" marR="0" marT="0" marB="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tcPr>
                </a:tc>
                <a:extLst>
                  <a:ext uri="{0D108BD9-81ED-4DB2-BD59-A6C34878D82A}">
                    <a16:rowId xmlns:a16="http://schemas.microsoft.com/office/drawing/2014/main" val="10004"/>
                  </a:ext>
                </a:extLst>
              </a:tr>
              <a:tr h="725013">
                <a:tc>
                  <a:txBody>
                    <a:bodyPr/>
                    <a:lstStyle/>
                    <a:p>
                      <a:pPr algn="ctr">
                        <a:lnSpc>
                          <a:spcPts val="3480"/>
                        </a:lnSpc>
                        <a:defRPr/>
                      </a:pPr>
                      <a:r>
                        <a:rPr lang="en-US" sz="2900" spc="-72">
                          <a:solidFill>
                            <a:srgbClr val="000000"/>
                          </a:solidFill>
                          <a:latin typeface="Canva Sans"/>
                          <a:ea typeface="Canva Sans"/>
                          <a:cs typeface="Canva Sans"/>
                          <a:sym typeface="Canva Sans"/>
                        </a:rPr>
                        <a:t>6</a:t>
                      </a:r>
                      <a:endParaRPr lang="en-US" sz="1100"/>
                    </a:p>
                  </a:txBody>
                  <a:tcPr marL="0" marR="0" marT="0" marB="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tcPr>
                </a:tc>
                <a:tc>
                  <a:txBody>
                    <a:bodyPr/>
                    <a:lstStyle/>
                    <a:p>
                      <a:pPr algn="ctr">
                        <a:lnSpc>
                          <a:spcPts val="3480"/>
                        </a:lnSpc>
                        <a:defRPr/>
                      </a:pPr>
                      <a:r>
                        <a:rPr lang="en-US" sz="2900" spc="-14">
                          <a:solidFill>
                            <a:srgbClr val="000000"/>
                          </a:solidFill>
                          <a:latin typeface="Canva Sans"/>
                          <a:ea typeface="Canva Sans"/>
                          <a:cs typeface="Canva Sans"/>
                          <a:sym typeface="Canva Sans"/>
                        </a:rPr>
                        <a:t>Results</a:t>
                      </a:r>
                      <a:endParaRPr lang="en-US" sz="1100"/>
                    </a:p>
                  </a:txBody>
                  <a:tcPr marL="0" marR="0" marT="0" marB="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tcPr>
                </a:tc>
                <a:tc>
                  <a:txBody>
                    <a:bodyPr/>
                    <a:lstStyle/>
                    <a:p>
                      <a:pPr algn="ctr">
                        <a:lnSpc>
                          <a:spcPts val="3480"/>
                        </a:lnSpc>
                        <a:defRPr/>
                      </a:pPr>
                      <a:r>
                        <a:rPr lang="en-US" sz="2900" u="sng" spc="-36">
                          <a:solidFill>
                            <a:srgbClr val="006FC0"/>
                          </a:solidFill>
                          <a:latin typeface="Canva Sans"/>
                          <a:ea typeface="Canva Sans"/>
                          <a:cs typeface="Canva Sans"/>
                          <a:sym typeface="Canva Sans"/>
                        </a:rPr>
                        <a:t>22</a:t>
                      </a:r>
                      <a:endParaRPr lang="en-US" sz="1100"/>
                    </a:p>
                  </a:txBody>
                  <a:tcPr marL="0" marR="0" marT="0" marB="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tcPr>
                </a:tc>
                <a:extLst>
                  <a:ext uri="{0D108BD9-81ED-4DB2-BD59-A6C34878D82A}">
                    <a16:rowId xmlns:a16="http://schemas.microsoft.com/office/drawing/2014/main" val="10005"/>
                  </a:ext>
                </a:extLst>
              </a:tr>
              <a:tr h="725013">
                <a:tc>
                  <a:txBody>
                    <a:bodyPr/>
                    <a:lstStyle/>
                    <a:p>
                      <a:pPr algn="ctr">
                        <a:lnSpc>
                          <a:spcPts val="3480"/>
                        </a:lnSpc>
                        <a:defRPr/>
                      </a:pPr>
                      <a:r>
                        <a:rPr lang="en-US" sz="2900" spc="-72">
                          <a:solidFill>
                            <a:srgbClr val="000000"/>
                          </a:solidFill>
                          <a:latin typeface="Canva Sans"/>
                          <a:ea typeface="Canva Sans"/>
                          <a:cs typeface="Canva Sans"/>
                          <a:sym typeface="Canva Sans"/>
                        </a:rPr>
                        <a:t>7</a:t>
                      </a:r>
                      <a:endParaRPr lang="en-US" sz="1100"/>
                    </a:p>
                  </a:txBody>
                  <a:tcPr marL="0" marR="0" marT="0" marB="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tcPr>
                </a:tc>
                <a:tc>
                  <a:txBody>
                    <a:bodyPr/>
                    <a:lstStyle/>
                    <a:p>
                      <a:pPr algn="ctr">
                        <a:lnSpc>
                          <a:spcPts val="3480"/>
                        </a:lnSpc>
                        <a:defRPr/>
                      </a:pPr>
                      <a:r>
                        <a:rPr lang="en-US" sz="2900" spc="-14">
                          <a:solidFill>
                            <a:srgbClr val="000000"/>
                          </a:solidFill>
                          <a:latin typeface="Canva Sans"/>
                          <a:ea typeface="Canva Sans"/>
                          <a:cs typeface="Canva Sans"/>
                          <a:sym typeface="Canva Sans"/>
                        </a:rPr>
                        <a:t>Limitations</a:t>
                      </a:r>
                      <a:endParaRPr lang="en-US" sz="1100"/>
                    </a:p>
                  </a:txBody>
                  <a:tcPr marL="0" marR="0" marT="0" marB="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tcPr>
                </a:tc>
                <a:tc>
                  <a:txBody>
                    <a:bodyPr/>
                    <a:lstStyle/>
                    <a:p>
                      <a:pPr algn="ctr">
                        <a:lnSpc>
                          <a:spcPts val="3480"/>
                        </a:lnSpc>
                        <a:defRPr/>
                      </a:pPr>
                      <a:r>
                        <a:rPr lang="en-US" sz="2900" u="sng" spc="-36">
                          <a:solidFill>
                            <a:srgbClr val="4F81BC"/>
                          </a:solidFill>
                          <a:latin typeface="Canva Sans"/>
                          <a:ea typeface="Canva Sans"/>
                          <a:cs typeface="Canva Sans"/>
                          <a:sym typeface="Canva Sans"/>
                        </a:rPr>
                        <a:t>23</a:t>
                      </a:r>
                      <a:endParaRPr lang="en-US" sz="1100"/>
                    </a:p>
                  </a:txBody>
                  <a:tcPr marL="0" marR="0" marT="0" marB="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tcPr>
                </a:tc>
                <a:extLst>
                  <a:ext uri="{0D108BD9-81ED-4DB2-BD59-A6C34878D82A}">
                    <a16:rowId xmlns:a16="http://schemas.microsoft.com/office/drawing/2014/main" val="10006"/>
                  </a:ext>
                </a:extLst>
              </a:tr>
              <a:tr h="610537">
                <a:tc>
                  <a:txBody>
                    <a:bodyPr/>
                    <a:lstStyle/>
                    <a:p>
                      <a:pPr algn="ctr">
                        <a:lnSpc>
                          <a:spcPts val="3480"/>
                        </a:lnSpc>
                        <a:defRPr/>
                      </a:pPr>
                      <a:r>
                        <a:rPr lang="en-US" sz="2900" spc="-72">
                          <a:solidFill>
                            <a:srgbClr val="000000"/>
                          </a:solidFill>
                          <a:latin typeface="Canva Sans"/>
                          <a:ea typeface="Canva Sans"/>
                          <a:cs typeface="Canva Sans"/>
                          <a:sym typeface="Canva Sans"/>
                        </a:rPr>
                        <a:t>8</a:t>
                      </a:r>
                      <a:endParaRPr lang="en-US" sz="1100"/>
                    </a:p>
                  </a:txBody>
                  <a:tcPr marL="0" marR="0" marT="0" marB="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tcPr>
                </a:tc>
                <a:tc>
                  <a:txBody>
                    <a:bodyPr/>
                    <a:lstStyle/>
                    <a:p>
                      <a:pPr algn="ctr">
                        <a:lnSpc>
                          <a:spcPts val="3480"/>
                        </a:lnSpc>
                        <a:defRPr/>
                      </a:pPr>
                      <a:r>
                        <a:rPr lang="en-US" sz="2900">
                          <a:solidFill>
                            <a:srgbClr val="000000"/>
                          </a:solidFill>
                          <a:latin typeface="Canva Sans"/>
                          <a:ea typeface="Canva Sans"/>
                          <a:cs typeface="Canva Sans"/>
                          <a:sym typeface="Canva Sans"/>
                        </a:rPr>
                        <a:t>Future Scope</a:t>
                      </a:r>
                      <a:endParaRPr lang="en-US" sz="1100"/>
                    </a:p>
                  </a:txBody>
                  <a:tcPr marL="0" marR="0" marT="0" marB="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tcPr>
                </a:tc>
                <a:tc>
                  <a:txBody>
                    <a:bodyPr/>
                    <a:lstStyle/>
                    <a:p>
                      <a:pPr algn="ctr">
                        <a:lnSpc>
                          <a:spcPts val="3480"/>
                        </a:lnSpc>
                        <a:defRPr/>
                      </a:pPr>
                      <a:r>
                        <a:rPr lang="en-US" sz="2900" u="sng" spc="-36">
                          <a:solidFill>
                            <a:srgbClr val="4F81BC"/>
                          </a:solidFill>
                          <a:latin typeface="Canva Sans"/>
                          <a:ea typeface="Canva Sans"/>
                          <a:cs typeface="Canva Sans"/>
                          <a:sym typeface="Canva Sans"/>
                        </a:rPr>
                        <a:t>24</a:t>
                      </a:r>
                      <a:endParaRPr lang="en-US" sz="1100"/>
                    </a:p>
                  </a:txBody>
                  <a:tcPr marL="0" marR="0" marT="0" marB="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tcPr>
                </a:tc>
                <a:extLst>
                  <a:ext uri="{0D108BD9-81ED-4DB2-BD59-A6C34878D82A}">
                    <a16:rowId xmlns:a16="http://schemas.microsoft.com/office/drawing/2014/main" val="10007"/>
                  </a:ext>
                </a:extLst>
              </a:tr>
              <a:tr h="610537">
                <a:tc>
                  <a:txBody>
                    <a:bodyPr/>
                    <a:lstStyle/>
                    <a:p>
                      <a:pPr algn="ctr">
                        <a:lnSpc>
                          <a:spcPts val="3480"/>
                        </a:lnSpc>
                        <a:defRPr/>
                      </a:pPr>
                      <a:r>
                        <a:rPr lang="en-US" sz="2900" spc="-72">
                          <a:solidFill>
                            <a:srgbClr val="000000"/>
                          </a:solidFill>
                          <a:latin typeface="Canva Sans"/>
                          <a:ea typeface="Canva Sans"/>
                          <a:cs typeface="Canva Sans"/>
                          <a:sym typeface="Canva Sans"/>
                        </a:rPr>
                        <a:t>9</a:t>
                      </a:r>
                      <a:endParaRPr lang="en-US" sz="1100"/>
                    </a:p>
                  </a:txBody>
                  <a:tcPr marL="0" marR="0" marT="0" marB="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tcPr>
                </a:tc>
                <a:tc>
                  <a:txBody>
                    <a:bodyPr/>
                    <a:lstStyle/>
                    <a:p>
                      <a:pPr algn="ctr">
                        <a:lnSpc>
                          <a:spcPts val="3480"/>
                        </a:lnSpc>
                        <a:defRPr/>
                      </a:pPr>
                      <a:r>
                        <a:rPr lang="en-US" sz="2900">
                          <a:solidFill>
                            <a:srgbClr val="000000"/>
                          </a:solidFill>
                          <a:latin typeface="Canva Sans"/>
                          <a:ea typeface="Canva Sans"/>
                          <a:cs typeface="Canva Sans"/>
                          <a:sym typeface="Canva Sans"/>
                        </a:rPr>
                        <a:t>Biblography</a:t>
                      </a:r>
                      <a:endParaRPr lang="en-US" sz="1100"/>
                    </a:p>
                  </a:txBody>
                  <a:tcPr marL="0" marR="0" marT="0" marB="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tcPr>
                </a:tc>
                <a:tc>
                  <a:txBody>
                    <a:bodyPr/>
                    <a:lstStyle/>
                    <a:p>
                      <a:pPr algn="ctr">
                        <a:lnSpc>
                          <a:spcPts val="3480"/>
                        </a:lnSpc>
                        <a:defRPr/>
                      </a:pPr>
                      <a:r>
                        <a:rPr lang="en-US" sz="2900" u="sng" spc="-36">
                          <a:solidFill>
                            <a:srgbClr val="4F81BC"/>
                          </a:solidFill>
                          <a:latin typeface="Canva Sans"/>
                          <a:ea typeface="Canva Sans"/>
                          <a:cs typeface="Canva Sans"/>
                          <a:sym typeface="Canva Sans"/>
                        </a:rPr>
                        <a:t>25</a:t>
                      </a:r>
                      <a:endParaRPr lang="en-US" sz="1100"/>
                    </a:p>
                  </a:txBody>
                  <a:tcPr marL="0" marR="0" marT="0" marB="0" anchor="ctr">
                    <a:lnL w="9525" cap="flat" cmpd="sng" algn="ctr">
                      <a:solidFill>
                        <a:srgbClr val="9E9E9E"/>
                      </a:solidFill>
                      <a:prstDash val="solid"/>
                      <a:round/>
                      <a:headEnd type="none" w="med" len="med"/>
                      <a:tailEnd type="none" w="med" len="med"/>
                    </a:lnL>
                    <a:lnR w="9525" cap="flat" cmpd="sng" algn="ctr">
                      <a:solidFill>
                        <a:srgbClr val="9E9E9E"/>
                      </a:solidFill>
                      <a:prstDash val="solid"/>
                      <a:round/>
                      <a:headEnd type="none" w="med" len="med"/>
                      <a:tailEnd type="none" w="med" len="me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grpSp>
        <p:nvGrpSpPr>
          <p:cNvPr id="10" name="Group 10"/>
          <p:cNvGrpSpPr/>
          <p:nvPr/>
        </p:nvGrpSpPr>
        <p:grpSpPr>
          <a:xfrm>
            <a:off x="7472361" y="1785841"/>
            <a:ext cx="2741078" cy="1358971"/>
            <a:chOff x="-802935" y="-123825"/>
            <a:chExt cx="3654771" cy="1811961"/>
          </a:xfrm>
        </p:grpSpPr>
        <p:sp>
          <p:nvSpPr>
            <p:cNvPr id="11" name="Freeform 11"/>
            <p:cNvSpPr/>
            <p:nvPr/>
          </p:nvSpPr>
          <p:spPr>
            <a:xfrm>
              <a:off x="-802935" y="-123825"/>
              <a:ext cx="2851836" cy="1688136"/>
            </a:xfrm>
            <a:custGeom>
              <a:avLst/>
              <a:gdLst/>
              <a:ahLst/>
              <a:cxnLst/>
              <a:rect l="l" t="t" r="r" b="b"/>
              <a:pathLst>
                <a:path w="2851836" h="1688136">
                  <a:moveTo>
                    <a:pt x="0" y="0"/>
                  </a:moveTo>
                  <a:lnTo>
                    <a:pt x="2851836" y="0"/>
                  </a:lnTo>
                  <a:lnTo>
                    <a:pt x="2851836" y="1688136"/>
                  </a:lnTo>
                  <a:lnTo>
                    <a:pt x="0" y="1688136"/>
                  </a:lnTo>
                  <a:close/>
                </a:path>
              </a:pathLst>
            </a:custGeom>
            <a:solidFill>
              <a:srgbClr val="000000">
                <a:alpha val="0"/>
              </a:srgbClr>
            </a:solidFill>
          </p:spPr>
        </p:sp>
        <p:sp>
          <p:nvSpPr>
            <p:cNvPr id="12" name="TextBox 12"/>
            <p:cNvSpPr txBox="1"/>
            <p:nvPr/>
          </p:nvSpPr>
          <p:spPr>
            <a:xfrm>
              <a:off x="0" y="-123825"/>
              <a:ext cx="2851836" cy="1811961"/>
            </a:xfrm>
            <a:prstGeom prst="rect">
              <a:avLst/>
            </a:prstGeom>
          </p:spPr>
          <p:txBody>
            <a:bodyPr lIns="0" tIns="0" rIns="0" bIns="0" rtlCol="0" anchor="t"/>
            <a:lstStyle/>
            <a:p>
              <a:pPr algn="l">
                <a:lnSpc>
                  <a:spcPts val="7679"/>
                </a:lnSpc>
              </a:pPr>
              <a:r>
                <a:rPr lang="en-US" sz="6399" b="1" spc="-16">
                  <a:solidFill>
                    <a:srgbClr val="000000"/>
                  </a:solidFill>
                  <a:latin typeface="Times New Roman Bold"/>
                  <a:ea typeface="Times New Roman Bold"/>
                  <a:cs typeface="Times New Roman Bold"/>
                  <a:sym typeface="Times New Roman Bold"/>
                </a:rPr>
                <a:t>Index</a:t>
              </a: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
            <a:chOff x="0" y="0"/>
            <a:chExt cx="24384000" cy="1371600"/>
          </a:xfrm>
        </p:grpSpPr>
        <p:sp>
          <p:nvSpPr>
            <p:cNvPr id="3" name="Freeform 3"/>
            <p:cNvSpPr/>
            <p:nvPr/>
          </p:nvSpPr>
          <p:spPr>
            <a:xfrm>
              <a:off x="0" y="0"/>
              <a:ext cx="24384000" cy="1371600"/>
            </a:xfrm>
            <a:custGeom>
              <a:avLst/>
              <a:gdLst/>
              <a:ahLst/>
              <a:cxnLst/>
              <a:rect l="l" t="t" r="r" b="b"/>
              <a:pathLst>
                <a:path w="24384000" h="1371600">
                  <a:moveTo>
                    <a:pt x="24384000" y="0"/>
                  </a:moveTo>
                  <a:lnTo>
                    <a:pt x="0" y="0"/>
                  </a:lnTo>
                  <a:lnTo>
                    <a:pt x="0" y="1371600"/>
                  </a:lnTo>
                  <a:lnTo>
                    <a:pt x="24384000" y="1371600"/>
                  </a:lnTo>
                  <a:lnTo>
                    <a:pt x="24384000" y="0"/>
                  </a:lnTo>
                  <a:close/>
                </a:path>
              </a:pathLst>
            </a:custGeom>
            <a:solidFill>
              <a:srgbClr val="D2222A"/>
            </a:solidFill>
          </p:spPr>
        </p:sp>
      </p:grpSp>
      <p:sp>
        <p:nvSpPr>
          <p:cNvPr id="4" name="Freeform 4"/>
          <p:cNvSpPr/>
          <p:nvPr/>
        </p:nvSpPr>
        <p:spPr>
          <a:xfrm>
            <a:off x="3600450" y="657225"/>
            <a:ext cx="3543300" cy="657225"/>
          </a:xfrm>
          <a:custGeom>
            <a:avLst/>
            <a:gdLst/>
            <a:ahLst/>
            <a:cxnLst/>
            <a:rect l="l" t="t" r="r" b="b"/>
            <a:pathLst>
              <a:path w="3543300" h="657225">
                <a:moveTo>
                  <a:pt x="0" y="0"/>
                </a:moveTo>
                <a:lnTo>
                  <a:pt x="3543300" y="0"/>
                </a:lnTo>
                <a:lnTo>
                  <a:pt x="3543300" y="657225"/>
                </a:lnTo>
                <a:lnTo>
                  <a:pt x="0" y="657225"/>
                </a:lnTo>
                <a:lnTo>
                  <a:pt x="0" y="0"/>
                </a:lnTo>
                <a:close/>
              </a:path>
            </a:pathLst>
          </a:custGeom>
          <a:blipFill>
            <a:blip r:embed="rId2"/>
            <a:stretch>
              <a:fillRect/>
            </a:stretch>
          </a:blipFill>
        </p:spPr>
      </p:sp>
      <p:sp>
        <p:nvSpPr>
          <p:cNvPr id="5" name="Freeform 5"/>
          <p:cNvSpPr/>
          <p:nvPr/>
        </p:nvSpPr>
        <p:spPr>
          <a:xfrm>
            <a:off x="0" y="171354"/>
            <a:ext cx="7551039" cy="1707356"/>
          </a:xfrm>
          <a:custGeom>
            <a:avLst/>
            <a:gdLst/>
            <a:ahLst/>
            <a:cxnLst/>
            <a:rect l="l" t="t" r="r" b="b"/>
            <a:pathLst>
              <a:path w="7551039" h="1707356">
                <a:moveTo>
                  <a:pt x="0" y="0"/>
                </a:moveTo>
                <a:lnTo>
                  <a:pt x="7551039" y="0"/>
                </a:lnTo>
                <a:lnTo>
                  <a:pt x="7551039" y="1707356"/>
                </a:lnTo>
                <a:lnTo>
                  <a:pt x="0" y="1707356"/>
                </a:lnTo>
                <a:lnTo>
                  <a:pt x="0" y="0"/>
                </a:lnTo>
                <a:close/>
              </a:path>
            </a:pathLst>
          </a:custGeom>
          <a:blipFill>
            <a:blip r:embed="rId3"/>
            <a:stretch>
              <a:fillRect t="-67" b="-67"/>
            </a:stretch>
          </a:blipFill>
        </p:spPr>
      </p:sp>
      <p:sp>
        <p:nvSpPr>
          <p:cNvPr id="6" name="Freeform 6"/>
          <p:cNvSpPr/>
          <p:nvPr/>
        </p:nvSpPr>
        <p:spPr>
          <a:xfrm>
            <a:off x="0" y="257175"/>
            <a:ext cx="7472361" cy="1457325"/>
          </a:xfrm>
          <a:custGeom>
            <a:avLst/>
            <a:gdLst/>
            <a:ahLst/>
            <a:cxnLst/>
            <a:rect l="l" t="t" r="r" b="b"/>
            <a:pathLst>
              <a:path w="7472361" h="1457325">
                <a:moveTo>
                  <a:pt x="0" y="0"/>
                </a:moveTo>
                <a:lnTo>
                  <a:pt x="7472361" y="0"/>
                </a:lnTo>
                <a:lnTo>
                  <a:pt x="7472361" y="1457325"/>
                </a:lnTo>
                <a:lnTo>
                  <a:pt x="0" y="1457325"/>
                </a:lnTo>
                <a:lnTo>
                  <a:pt x="0" y="0"/>
                </a:lnTo>
                <a:close/>
              </a:path>
            </a:pathLst>
          </a:custGeom>
          <a:blipFill>
            <a:blip r:embed="rId4"/>
            <a:stretch>
              <a:fillRect l="-31" r="-31"/>
            </a:stretch>
          </a:blipFill>
        </p:spPr>
      </p:sp>
      <p:grpSp>
        <p:nvGrpSpPr>
          <p:cNvPr id="7" name="Group 7"/>
          <p:cNvGrpSpPr/>
          <p:nvPr/>
        </p:nvGrpSpPr>
        <p:grpSpPr>
          <a:xfrm>
            <a:off x="0" y="10115550"/>
            <a:ext cx="18288000" cy="171450"/>
            <a:chOff x="0" y="0"/>
            <a:chExt cx="24384000" cy="228600"/>
          </a:xfrm>
        </p:grpSpPr>
        <p:sp>
          <p:nvSpPr>
            <p:cNvPr id="8" name="Freeform 8"/>
            <p:cNvSpPr/>
            <p:nvPr/>
          </p:nvSpPr>
          <p:spPr>
            <a:xfrm>
              <a:off x="0" y="0"/>
              <a:ext cx="24384000" cy="228600"/>
            </a:xfrm>
            <a:custGeom>
              <a:avLst/>
              <a:gdLst/>
              <a:ahLst/>
              <a:cxnLst/>
              <a:rect l="l" t="t" r="r" b="b"/>
              <a:pathLst>
                <a:path w="24384000" h="228600">
                  <a:moveTo>
                    <a:pt x="24384000" y="0"/>
                  </a:moveTo>
                  <a:lnTo>
                    <a:pt x="0" y="0"/>
                  </a:lnTo>
                  <a:lnTo>
                    <a:pt x="0" y="228600"/>
                  </a:lnTo>
                  <a:lnTo>
                    <a:pt x="24384000" y="228600"/>
                  </a:lnTo>
                  <a:lnTo>
                    <a:pt x="24384000" y="0"/>
                  </a:lnTo>
                  <a:close/>
                </a:path>
              </a:pathLst>
            </a:custGeom>
            <a:solidFill>
              <a:srgbClr val="AC0D09"/>
            </a:solidFill>
          </p:spPr>
        </p:sp>
      </p:grpSp>
      <p:sp>
        <p:nvSpPr>
          <p:cNvPr id="9" name="TextBox 9"/>
          <p:cNvSpPr txBox="1"/>
          <p:nvPr/>
        </p:nvSpPr>
        <p:spPr>
          <a:xfrm>
            <a:off x="2014535" y="4244530"/>
            <a:ext cx="15244765" cy="3352800"/>
          </a:xfrm>
          <a:prstGeom prst="rect">
            <a:avLst/>
          </a:prstGeom>
        </p:spPr>
        <p:txBody>
          <a:bodyPr lIns="0" tIns="0" rIns="0" bIns="0" rtlCol="0" anchor="t">
            <a:spAutoFit/>
          </a:bodyPr>
          <a:lstStyle/>
          <a:p>
            <a:pPr algn="ctr">
              <a:lnSpc>
                <a:spcPts val="3360"/>
              </a:lnSpc>
            </a:pPr>
            <a:r>
              <a:rPr lang="en-US" sz="2800" spc="-11" dirty="0">
                <a:solidFill>
                  <a:srgbClr val="000000"/>
                </a:solidFill>
                <a:latin typeface="Canva Sans"/>
                <a:ea typeface="Canva Sans"/>
                <a:cs typeface="Canva Sans"/>
                <a:sym typeface="Canva Sans"/>
              </a:rPr>
              <a:t>Actuarial science plays a critical role in assessing risks associated with life insurance policies by leveraging statistical models and mortality data. The concept of life expectancy estimation based on non-communicable diseases (NCDs) is well-documented in actuarial studies, as NCDs significantly impact mortality rates and, consequently, insurance premiums. Traditional actuarial models rely on mortality tables, which are refined using multipliers that adjust for individual risk factors such as age, sex, and pre-existing conditions.</a:t>
            </a:r>
          </a:p>
          <a:p>
            <a:pPr algn="ctr">
              <a:lnSpc>
                <a:spcPts val="3360"/>
              </a:lnSpc>
              <a:spcBef>
                <a:spcPct val="0"/>
              </a:spcBef>
            </a:pPr>
            <a:endParaRPr lang="en-US" sz="2800" spc="-11" dirty="0">
              <a:solidFill>
                <a:srgbClr val="000000"/>
              </a:solidFill>
              <a:latin typeface="Canva Sans"/>
              <a:ea typeface="Canva Sans"/>
              <a:cs typeface="Canva Sans"/>
              <a:sym typeface="Canva Sans"/>
            </a:endParaRPr>
          </a:p>
        </p:txBody>
      </p:sp>
      <p:sp>
        <p:nvSpPr>
          <p:cNvPr id="10" name="TextBox 10"/>
          <p:cNvSpPr txBox="1"/>
          <p:nvPr/>
        </p:nvSpPr>
        <p:spPr>
          <a:xfrm>
            <a:off x="6369564" y="2874835"/>
            <a:ext cx="5239856" cy="1187826"/>
          </a:xfrm>
          <a:prstGeom prst="rect">
            <a:avLst/>
          </a:prstGeom>
        </p:spPr>
        <p:txBody>
          <a:bodyPr lIns="0" tIns="0" rIns="0" bIns="0" rtlCol="0" anchor="t">
            <a:spAutoFit/>
          </a:bodyPr>
          <a:lstStyle/>
          <a:p>
            <a:pPr algn="ctr">
              <a:lnSpc>
                <a:spcPts val="10080"/>
              </a:lnSpc>
            </a:pPr>
            <a:r>
              <a:rPr lang="en-US" sz="7200" b="1" dirty="0">
                <a:latin typeface="Times New Roman Bold"/>
                <a:ea typeface="Times New Roman Bold"/>
                <a:cs typeface="Times New Roman Bold"/>
                <a:sym typeface="Times New Roman Bold"/>
              </a:rPr>
              <a:t>Introduction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
            <a:chOff x="0" y="0"/>
            <a:chExt cx="24384000" cy="1371600"/>
          </a:xfrm>
        </p:grpSpPr>
        <p:sp>
          <p:nvSpPr>
            <p:cNvPr id="3" name="Freeform 3"/>
            <p:cNvSpPr/>
            <p:nvPr/>
          </p:nvSpPr>
          <p:spPr>
            <a:xfrm>
              <a:off x="0" y="0"/>
              <a:ext cx="24384000" cy="1371600"/>
            </a:xfrm>
            <a:custGeom>
              <a:avLst/>
              <a:gdLst/>
              <a:ahLst/>
              <a:cxnLst/>
              <a:rect l="l" t="t" r="r" b="b"/>
              <a:pathLst>
                <a:path w="24384000" h="1371600">
                  <a:moveTo>
                    <a:pt x="24384000" y="0"/>
                  </a:moveTo>
                  <a:lnTo>
                    <a:pt x="0" y="0"/>
                  </a:lnTo>
                  <a:lnTo>
                    <a:pt x="0" y="1371600"/>
                  </a:lnTo>
                  <a:lnTo>
                    <a:pt x="24384000" y="1371600"/>
                  </a:lnTo>
                  <a:lnTo>
                    <a:pt x="24384000" y="0"/>
                  </a:lnTo>
                  <a:close/>
                </a:path>
              </a:pathLst>
            </a:custGeom>
            <a:solidFill>
              <a:srgbClr val="D2222A"/>
            </a:solidFill>
          </p:spPr>
        </p:sp>
      </p:grpSp>
      <p:sp>
        <p:nvSpPr>
          <p:cNvPr id="4" name="Freeform 4"/>
          <p:cNvSpPr/>
          <p:nvPr/>
        </p:nvSpPr>
        <p:spPr>
          <a:xfrm>
            <a:off x="3600450" y="657225"/>
            <a:ext cx="3543300" cy="657225"/>
          </a:xfrm>
          <a:custGeom>
            <a:avLst/>
            <a:gdLst/>
            <a:ahLst/>
            <a:cxnLst/>
            <a:rect l="l" t="t" r="r" b="b"/>
            <a:pathLst>
              <a:path w="3543300" h="657225">
                <a:moveTo>
                  <a:pt x="0" y="0"/>
                </a:moveTo>
                <a:lnTo>
                  <a:pt x="3543300" y="0"/>
                </a:lnTo>
                <a:lnTo>
                  <a:pt x="3543300" y="657225"/>
                </a:lnTo>
                <a:lnTo>
                  <a:pt x="0" y="657225"/>
                </a:lnTo>
                <a:lnTo>
                  <a:pt x="0" y="0"/>
                </a:lnTo>
                <a:close/>
              </a:path>
            </a:pathLst>
          </a:custGeom>
          <a:blipFill>
            <a:blip r:embed="rId2"/>
            <a:stretch>
              <a:fillRect/>
            </a:stretch>
          </a:blipFill>
        </p:spPr>
      </p:sp>
      <p:sp>
        <p:nvSpPr>
          <p:cNvPr id="5" name="Freeform 5"/>
          <p:cNvSpPr/>
          <p:nvPr/>
        </p:nvSpPr>
        <p:spPr>
          <a:xfrm>
            <a:off x="0" y="171354"/>
            <a:ext cx="7551039" cy="1707356"/>
          </a:xfrm>
          <a:custGeom>
            <a:avLst/>
            <a:gdLst/>
            <a:ahLst/>
            <a:cxnLst/>
            <a:rect l="l" t="t" r="r" b="b"/>
            <a:pathLst>
              <a:path w="7551039" h="1707356">
                <a:moveTo>
                  <a:pt x="0" y="0"/>
                </a:moveTo>
                <a:lnTo>
                  <a:pt x="7551039" y="0"/>
                </a:lnTo>
                <a:lnTo>
                  <a:pt x="7551039" y="1707356"/>
                </a:lnTo>
                <a:lnTo>
                  <a:pt x="0" y="1707356"/>
                </a:lnTo>
                <a:lnTo>
                  <a:pt x="0" y="0"/>
                </a:lnTo>
                <a:close/>
              </a:path>
            </a:pathLst>
          </a:custGeom>
          <a:blipFill>
            <a:blip r:embed="rId3"/>
            <a:stretch>
              <a:fillRect t="-67" b="-67"/>
            </a:stretch>
          </a:blipFill>
        </p:spPr>
      </p:sp>
      <p:sp>
        <p:nvSpPr>
          <p:cNvPr id="6" name="Freeform 6"/>
          <p:cNvSpPr/>
          <p:nvPr/>
        </p:nvSpPr>
        <p:spPr>
          <a:xfrm>
            <a:off x="0" y="257175"/>
            <a:ext cx="7472361" cy="1457325"/>
          </a:xfrm>
          <a:custGeom>
            <a:avLst/>
            <a:gdLst/>
            <a:ahLst/>
            <a:cxnLst/>
            <a:rect l="l" t="t" r="r" b="b"/>
            <a:pathLst>
              <a:path w="7472361" h="1457325">
                <a:moveTo>
                  <a:pt x="0" y="0"/>
                </a:moveTo>
                <a:lnTo>
                  <a:pt x="7472361" y="0"/>
                </a:lnTo>
                <a:lnTo>
                  <a:pt x="7472361" y="1457325"/>
                </a:lnTo>
                <a:lnTo>
                  <a:pt x="0" y="1457325"/>
                </a:lnTo>
                <a:lnTo>
                  <a:pt x="0" y="0"/>
                </a:lnTo>
                <a:close/>
              </a:path>
            </a:pathLst>
          </a:custGeom>
          <a:blipFill>
            <a:blip r:embed="rId4"/>
            <a:stretch>
              <a:fillRect l="-31" r="-31"/>
            </a:stretch>
          </a:blipFill>
        </p:spPr>
      </p:sp>
      <p:grpSp>
        <p:nvGrpSpPr>
          <p:cNvPr id="7" name="Group 7"/>
          <p:cNvGrpSpPr/>
          <p:nvPr/>
        </p:nvGrpSpPr>
        <p:grpSpPr>
          <a:xfrm>
            <a:off x="0" y="10115550"/>
            <a:ext cx="18288000" cy="171450"/>
            <a:chOff x="0" y="0"/>
            <a:chExt cx="24384000" cy="228600"/>
          </a:xfrm>
        </p:grpSpPr>
        <p:sp>
          <p:nvSpPr>
            <p:cNvPr id="8" name="Freeform 8"/>
            <p:cNvSpPr/>
            <p:nvPr/>
          </p:nvSpPr>
          <p:spPr>
            <a:xfrm>
              <a:off x="0" y="0"/>
              <a:ext cx="24384000" cy="228600"/>
            </a:xfrm>
            <a:custGeom>
              <a:avLst/>
              <a:gdLst/>
              <a:ahLst/>
              <a:cxnLst/>
              <a:rect l="l" t="t" r="r" b="b"/>
              <a:pathLst>
                <a:path w="24384000" h="228600">
                  <a:moveTo>
                    <a:pt x="24384000" y="0"/>
                  </a:moveTo>
                  <a:lnTo>
                    <a:pt x="0" y="0"/>
                  </a:lnTo>
                  <a:lnTo>
                    <a:pt x="0" y="228600"/>
                  </a:lnTo>
                  <a:lnTo>
                    <a:pt x="24384000" y="228600"/>
                  </a:lnTo>
                  <a:lnTo>
                    <a:pt x="24384000" y="0"/>
                  </a:lnTo>
                  <a:close/>
                </a:path>
              </a:pathLst>
            </a:custGeom>
            <a:solidFill>
              <a:srgbClr val="D2222A"/>
            </a:solidFill>
          </p:spPr>
        </p:sp>
      </p:grpSp>
      <p:grpSp>
        <p:nvGrpSpPr>
          <p:cNvPr id="9" name="Group 9"/>
          <p:cNvGrpSpPr/>
          <p:nvPr/>
        </p:nvGrpSpPr>
        <p:grpSpPr>
          <a:xfrm>
            <a:off x="1028700" y="3601971"/>
            <a:ext cx="16230600" cy="4880453"/>
            <a:chOff x="0" y="0"/>
            <a:chExt cx="21640800" cy="6507271"/>
          </a:xfrm>
        </p:grpSpPr>
        <p:sp>
          <p:nvSpPr>
            <p:cNvPr id="10" name="Freeform 10"/>
            <p:cNvSpPr/>
            <p:nvPr/>
          </p:nvSpPr>
          <p:spPr>
            <a:xfrm>
              <a:off x="0" y="0"/>
              <a:ext cx="21640800" cy="6507272"/>
            </a:xfrm>
            <a:custGeom>
              <a:avLst/>
              <a:gdLst/>
              <a:ahLst/>
              <a:cxnLst/>
              <a:rect l="l" t="t" r="r" b="b"/>
              <a:pathLst>
                <a:path w="21640800" h="6507272">
                  <a:moveTo>
                    <a:pt x="0" y="0"/>
                  </a:moveTo>
                  <a:lnTo>
                    <a:pt x="21640800" y="0"/>
                  </a:lnTo>
                  <a:lnTo>
                    <a:pt x="21640800" y="6507272"/>
                  </a:lnTo>
                  <a:lnTo>
                    <a:pt x="0" y="6507272"/>
                  </a:lnTo>
                  <a:close/>
                </a:path>
              </a:pathLst>
            </a:custGeom>
            <a:solidFill>
              <a:srgbClr val="000000">
                <a:alpha val="0"/>
              </a:srgbClr>
            </a:solidFill>
          </p:spPr>
        </p:sp>
        <p:sp>
          <p:nvSpPr>
            <p:cNvPr id="11" name="TextBox 11"/>
            <p:cNvSpPr txBox="1"/>
            <p:nvPr/>
          </p:nvSpPr>
          <p:spPr>
            <a:xfrm>
              <a:off x="0" y="0"/>
              <a:ext cx="21640800" cy="6507271"/>
            </a:xfrm>
            <a:prstGeom prst="rect">
              <a:avLst/>
            </a:prstGeom>
          </p:spPr>
          <p:txBody>
            <a:bodyPr lIns="0" tIns="0" rIns="0" bIns="0" rtlCol="0" anchor="t"/>
            <a:lstStyle/>
            <a:p>
              <a:pPr algn="ctr">
                <a:lnSpc>
                  <a:spcPts val="3359"/>
                </a:lnSpc>
              </a:pPr>
              <a:endParaRPr dirty="0"/>
            </a:p>
            <a:p>
              <a:pPr algn="ctr">
                <a:lnSpc>
                  <a:spcPts val="3359"/>
                </a:lnSpc>
              </a:pPr>
              <a:r>
                <a:rPr lang="en-US" sz="2799" dirty="0">
                  <a:solidFill>
                    <a:srgbClr val="000000"/>
                  </a:solidFill>
                  <a:latin typeface="Canva Sans"/>
                  <a:ea typeface="Canva Sans"/>
                  <a:cs typeface="Canva Sans"/>
                  <a:sym typeface="Canva Sans"/>
                </a:rPr>
                <a:t>NCDs significantly impact mortality risk, and incorporating them into actuarial models improves life expectancy predictions. Actuarial mortality rates serve as a baseline, refined by individual health risks for greater accuracy. Discounting techniques in insurance pricing help actuaries calculate fair premiums by balancing risk exposure and the time value of money.</a:t>
              </a:r>
            </a:p>
            <a:p>
              <a:pPr algn="ctr">
                <a:lnSpc>
                  <a:spcPts val="3359"/>
                </a:lnSpc>
              </a:pPr>
              <a:r>
                <a:rPr lang="en-US" sz="2799" dirty="0">
                  <a:solidFill>
                    <a:srgbClr val="000000"/>
                  </a:solidFill>
                  <a:latin typeface="Canva Sans"/>
                  <a:ea typeface="Canva Sans"/>
                  <a:cs typeface="Canva Sans"/>
                  <a:sym typeface="Canva Sans"/>
                </a:rPr>
                <a:t> </a:t>
              </a:r>
            </a:p>
            <a:p>
              <a:pPr algn="ctr">
                <a:lnSpc>
                  <a:spcPts val="3359"/>
                </a:lnSpc>
              </a:pPr>
              <a:r>
                <a:rPr lang="en-US" sz="2799" dirty="0">
                  <a:solidFill>
                    <a:srgbClr val="000000"/>
                  </a:solidFill>
                  <a:latin typeface="Canva Sans"/>
                  <a:ea typeface="Canva Sans"/>
                  <a:cs typeface="Canva Sans"/>
                  <a:sym typeface="Canva Sans"/>
                </a:rPr>
                <a:t>This project integrates these actuarial principles into a user-friendly calculator that allows for real-time premium estimations based on individual health conditions. By leveraging actuarial data and risk-free discounting, the model aims to improve the accuracy and transparency of insurance pricing, benefiting both insurers and policyholders.</a:t>
              </a:r>
            </a:p>
          </p:txBody>
        </p:sp>
      </p:grpSp>
      <p:sp>
        <p:nvSpPr>
          <p:cNvPr id="12" name="TextBox 12"/>
          <p:cNvSpPr txBox="1"/>
          <p:nvPr/>
        </p:nvSpPr>
        <p:spPr>
          <a:xfrm>
            <a:off x="2868007" y="2334895"/>
            <a:ext cx="12551985" cy="1102866"/>
          </a:xfrm>
          <a:prstGeom prst="rect">
            <a:avLst/>
          </a:prstGeom>
        </p:spPr>
        <p:txBody>
          <a:bodyPr wrap="square" lIns="0" tIns="0" rIns="0" bIns="0" rtlCol="0" anchor="t">
            <a:spAutoFit/>
          </a:bodyPr>
          <a:lstStyle/>
          <a:p>
            <a:pPr algn="ctr">
              <a:lnSpc>
                <a:spcPts val="8640"/>
              </a:lnSpc>
              <a:spcBef>
                <a:spcPct val="0"/>
              </a:spcBef>
            </a:pPr>
            <a:r>
              <a:rPr lang="en-US" sz="7200" b="1" spc="-18" dirty="0">
                <a:latin typeface="Times New Roman Bold"/>
                <a:ea typeface="Times New Roman Bold"/>
                <a:cs typeface="Times New Roman Bold"/>
                <a:sym typeface="Times New Roman Bold"/>
              </a:rPr>
              <a:t>Life Insurance &amp; Epidemiology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
            <a:chOff x="0" y="0"/>
            <a:chExt cx="24384000" cy="1371600"/>
          </a:xfrm>
        </p:grpSpPr>
        <p:sp>
          <p:nvSpPr>
            <p:cNvPr id="3" name="Freeform 3"/>
            <p:cNvSpPr/>
            <p:nvPr/>
          </p:nvSpPr>
          <p:spPr>
            <a:xfrm>
              <a:off x="0" y="0"/>
              <a:ext cx="24384000" cy="1371600"/>
            </a:xfrm>
            <a:custGeom>
              <a:avLst/>
              <a:gdLst/>
              <a:ahLst/>
              <a:cxnLst/>
              <a:rect l="l" t="t" r="r" b="b"/>
              <a:pathLst>
                <a:path w="24384000" h="1371600">
                  <a:moveTo>
                    <a:pt x="24384000" y="0"/>
                  </a:moveTo>
                  <a:lnTo>
                    <a:pt x="0" y="0"/>
                  </a:lnTo>
                  <a:lnTo>
                    <a:pt x="0" y="1371600"/>
                  </a:lnTo>
                  <a:lnTo>
                    <a:pt x="24384000" y="1371600"/>
                  </a:lnTo>
                  <a:lnTo>
                    <a:pt x="24384000" y="0"/>
                  </a:lnTo>
                  <a:close/>
                </a:path>
              </a:pathLst>
            </a:custGeom>
            <a:solidFill>
              <a:srgbClr val="D2222A"/>
            </a:solidFill>
          </p:spPr>
        </p:sp>
      </p:grpSp>
      <p:sp>
        <p:nvSpPr>
          <p:cNvPr id="4" name="Freeform 4"/>
          <p:cNvSpPr/>
          <p:nvPr/>
        </p:nvSpPr>
        <p:spPr>
          <a:xfrm>
            <a:off x="3600450" y="657225"/>
            <a:ext cx="3543300" cy="657225"/>
          </a:xfrm>
          <a:custGeom>
            <a:avLst/>
            <a:gdLst/>
            <a:ahLst/>
            <a:cxnLst/>
            <a:rect l="l" t="t" r="r" b="b"/>
            <a:pathLst>
              <a:path w="3543300" h="657225">
                <a:moveTo>
                  <a:pt x="0" y="0"/>
                </a:moveTo>
                <a:lnTo>
                  <a:pt x="3543300" y="0"/>
                </a:lnTo>
                <a:lnTo>
                  <a:pt x="3543300" y="657225"/>
                </a:lnTo>
                <a:lnTo>
                  <a:pt x="0" y="657225"/>
                </a:lnTo>
                <a:lnTo>
                  <a:pt x="0" y="0"/>
                </a:lnTo>
                <a:close/>
              </a:path>
            </a:pathLst>
          </a:custGeom>
          <a:blipFill>
            <a:blip r:embed="rId2"/>
            <a:stretch>
              <a:fillRect/>
            </a:stretch>
          </a:blipFill>
        </p:spPr>
      </p:sp>
      <p:sp>
        <p:nvSpPr>
          <p:cNvPr id="5" name="Freeform 5"/>
          <p:cNvSpPr/>
          <p:nvPr/>
        </p:nvSpPr>
        <p:spPr>
          <a:xfrm>
            <a:off x="0" y="171354"/>
            <a:ext cx="7551039" cy="1707356"/>
          </a:xfrm>
          <a:custGeom>
            <a:avLst/>
            <a:gdLst/>
            <a:ahLst/>
            <a:cxnLst/>
            <a:rect l="l" t="t" r="r" b="b"/>
            <a:pathLst>
              <a:path w="7551039" h="1707356">
                <a:moveTo>
                  <a:pt x="0" y="0"/>
                </a:moveTo>
                <a:lnTo>
                  <a:pt x="7551039" y="0"/>
                </a:lnTo>
                <a:lnTo>
                  <a:pt x="7551039" y="1707356"/>
                </a:lnTo>
                <a:lnTo>
                  <a:pt x="0" y="1707356"/>
                </a:lnTo>
                <a:lnTo>
                  <a:pt x="0" y="0"/>
                </a:lnTo>
                <a:close/>
              </a:path>
            </a:pathLst>
          </a:custGeom>
          <a:blipFill>
            <a:blip r:embed="rId3"/>
            <a:stretch>
              <a:fillRect t="-67" b="-67"/>
            </a:stretch>
          </a:blipFill>
        </p:spPr>
      </p:sp>
      <p:sp>
        <p:nvSpPr>
          <p:cNvPr id="6" name="Freeform 6"/>
          <p:cNvSpPr/>
          <p:nvPr/>
        </p:nvSpPr>
        <p:spPr>
          <a:xfrm>
            <a:off x="0" y="257175"/>
            <a:ext cx="7472361" cy="1457325"/>
          </a:xfrm>
          <a:custGeom>
            <a:avLst/>
            <a:gdLst/>
            <a:ahLst/>
            <a:cxnLst/>
            <a:rect l="l" t="t" r="r" b="b"/>
            <a:pathLst>
              <a:path w="7472361" h="1457325">
                <a:moveTo>
                  <a:pt x="0" y="0"/>
                </a:moveTo>
                <a:lnTo>
                  <a:pt x="7472361" y="0"/>
                </a:lnTo>
                <a:lnTo>
                  <a:pt x="7472361" y="1457325"/>
                </a:lnTo>
                <a:lnTo>
                  <a:pt x="0" y="1457325"/>
                </a:lnTo>
                <a:lnTo>
                  <a:pt x="0" y="0"/>
                </a:lnTo>
                <a:close/>
              </a:path>
            </a:pathLst>
          </a:custGeom>
          <a:blipFill>
            <a:blip r:embed="rId4"/>
            <a:stretch>
              <a:fillRect l="-31" r="-31"/>
            </a:stretch>
          </a:blipFill>
        </p:spPr>
      </p:sp>
      <p:grpSp>
        <p:nvGrpSpPr>
          <p:cNvPr id="7" name="Group 7"/>
          <p:cNvGrpSpPr/>
          <p:nvPr/>
        </p:nvGrpSpPr>
        <p:grpSpPr>
          <a:xfrm>
            <a:off x="0" y="10115550"/>
            <a:ext cx="18288000" cy="171450"/>
            <a:chOff x="0" y="0"/>
            <a:chExt cx="24384000" cy="228600"/>
          </a:xfrm>
        </p:grpSpPr>
        <p:sp>
          <p:nvSpPr>
            <p:cNvPr id="8" name="Freeform 8"/>
            <p:cNvSpPr/>
            <p:nvPr/>
          </p:nvSpPr>
          <p:spPr>
            <a:xfrm>
              <a:off x="0" y="0"/>
              <a:ext cx="24384000" cy="228600"/>
            </a:xfrm>
            <a:custGeom>
              <a:avLst/>
              <a:gdLst/>
              <a:ahLst/>
              <a:cxnLst/>
              <a:rect l="l" t="t" r="r" b="b"/>
              <a:pathLst>
                <a:path w="24384000" h="228600">
                  <a:moveTo>
                    <a:pt x="24384000" y="0"/>
                  </a:moveTo>
                  <a:lnTo>
                    <a:pt x="0" y="0"/>
                  </a:lnTo>
                  <a:lnTo>
                    <a:pt x="0" y="228600"/>
                  </a:lnTo>
                  <a:lnTo>
                    <a:pt x="24384000" y="228600"/>
                  </a:lnTo>
                  <a:lnTo>
                    <a:pt x="24384000" y="0"/>
                  </a:lnTo>
                  <a:close/>
                </a:path>
              </a:pathLst>
            </a:custGeom>
            <a:solidFill>
              <a:srgbClr val="D2222A"/>
            </a:solidFill>
          </p:spPr>
        </p:sp>
      </p:grpSp>
      <p:grpSp>
        <p:nvGrpSpPr>
          <p:cNvPr id="9" name="Group 9"/>
          <p:cNvGrpSpPr/>
          <p:nvPr/>
        </p:nvGrpSpPr>
        <p:grpSpPr>
          <a:xfrm>
            <a:off x="4917463" y="1878710"/>
            <a:ext cx="8453074" cy="1401699"/>
            <a:chOff x="0" y="0"/>
            <a:chExt cx="12095064" cy="2005618"/>
          </a:xfrm>
        </p:grpSpPr>
        <p:sp>
          <p:nvSpPr>
            <p:cNvPr id="10" name="Freeform 10"/>
            <p:cNvSpPr/>
            <p:nvPr/>
          </p:nvSpPr>
          <p:spPr>
            <a:xfrm>
              <a:off x="0" y="0"/>
              <a:ext cx="12095064" cy="2005618"/>
            </a:xfrm>
            <a:custGeom>
              <a:avLst/>
              <a:gdLst/>
              <a:ahLst/>
              <a:cxnLst/>
              <a:rect l="l" t="t" r="r" b="b"/>
              <a:pathLst>
                <a:path w="12095064" h="2005618">
                  <a:moveTo>
                    <a:pt x="0" y="0"/>
                  </a:moveTo>
                  <a:lnTo>
                    <a:pt x="12095064" y="0"/>
                  </a:lnTo>
                  <a:lnTo>
                    <a:pt x="12095064" y="2005618"/>
                  </a:lnTo>
                  <a:lnTo>
                    <a:pt x="0" y="2005618"/>
                  </a:lnTo>
                  <a:close/>
                </a:path>
              </a:pathLst>
            </a:custGeom>
            <a:solidFill>
              <a:srgbClr val="000000">
                <a:alpha val="0"/>
              </a:srgbClr>
            </a:solidFill>
          </p:spPr>
        </p:sp>
        <p:sp>
          <p:nvSpPr>
            <p:cNvPr id="11" name="TextBox 11"/>
            <p:cNvSpPr txBox="1"/>
            <p:nvPr/>
          </p:nvSpPr>
          <p:spPr>
            <a:xfrm>
              <a:off x="0" y="-142875"/>
              <a:ext cx="12095064" cy="2148493"/>
            </a:xfrm>
            <a:prstGeom prst="rect">
              <a:avLst/>
            </a:prstGeom>
          </p:spPr>
          <p:txBody>
            <a:bodyPr lIns="0" tIns="0" rIns="0" bIns="0" rtlCol="0" anchor="t"/>
            <a:lstStyle/>
            <a:p>
              <a:pPr algn="l">
                <a:lnSpc>
                  <a:spcPts val="8640"/>
                </a:lnSpc>
              </a:pPr>
              <a:r>
                <a:rPr lang="en-US" sz="7200" b="1" spc="-18" dirty="0">
                  <a:latin typeface="Times New Roman Bold"/>
                  <a:ea typeface="Times New Roman Bold"/>
                  <a:cs typeface="Times New Roman Bold"/>
                  <a:sym typeface="Times New Roman Bold"/>
                </a:rPr>
                <a:t> Literature Review</a:t>
              </a:r>
            </a:p>
          </p:txBody>
        </p:sp>
      </p:grpSp>
      <p:graphicFrame>
        <p:nvGraphicFramePr>
          <p:cNvPr id="12" name="Table 12"/>
          <p:cNvGraphicFramePr>
            <a:graphicFrameLocks noGrp="1"/>
          </p:cNvGraphicFramePr>
          <p:nvPr>
            <p:extLst>
              <p:ext uri="{D42A27DB-BD31-4B8C-83A1-F6EECF244321}">
                <p14:modId xmlns:p14="http://schemas.microsoft.com/office/powerpoint/2010/main" val="2130768278"/>
              </p:ext>
            </p:extLst>
          </p:nvPr>
        </p:nvGraphicFramePr>
        <p:xfrm>
          <a:off x="258542" y="3145552"/>
          <a:ext cx="17770916" cy="6540595"/>
        </p:xfrm>
        <a:graphic>
          <a:graphicData uri="http://schemas.openxmlformats.org/drawingml/2006/table">
            <a:tbl>
              <a:tblPr/>
              <a:tblGrid>
                <a:gridCol w="2879248">
                  <a:extLst>
                    <a:ext uri="{9D8B030D-6E8A-4147-A177-3AD203B41FA5}">
                      <a16:colId xmlns:a16="http://schemas.microsoft.com/office/drawing/2014/main" val="20000"/>
                    </a:ext>
                  </a:extLst>
                </a:gridCol>
                <a:gridCol w="1992442">
                  <a:extLst>
                    <a:ext uri="{9D8B030D-6E8A-4147-A177-3AD203B41FA5}">
                      <a16:colId xmlns:a16="http://schemas.microsoft.com/office/drawing/2014/main" val="20001"/>
                    </a:ext>
                  </a:extLst>
                </a:gridCol>
                <a:gridCol w="1124972">
                  <a:extLst>
                    <a:ext uri="{9D8B030D-6E8A-4147-A177-3AD203B41FA5}">
                      <a16:colId xmlns:a16="http://schemas.microsoft.com/office/drawing/2014/main" val="20002"/>
                    </a:ext>
                  </a:extLst>
                </a:gridCol>
                <a:gridCol w="5001630">
                  <a:extLst>
                    <a:ext uri="{9D8B030D-6E8A-4147-A177-3AD203B41FA5}">
                      <a16:colId xmlns:a16="http://schemas.microsoft.com/office/drawing/2014/main" val="20003"/>
                    </a:ext>
                  </a:extLst>
                </a:gridCol>
                <a:gridCol w="6772624">
                  <a:extLst>
                    <a:ext uri="{9D8B030D-6E8A-4147-A177-3AD203B41FA5}">
                      <a16:colId xmlns:a16="http://schemas.microsoft.com/office/drawing/2014/main" val="20004"/>
                    </a:ext>
                  </a:extLst>
                </a:gridCol>
              </a:tblGrid>
              <a:tr h="835232">
                <a:tc>
                  <a:txBody>
                    <a:bodyPr/>
                    <a:lstStyle/>
                    <a:p>
                      <a:pPr algn="ctr">
                        <a:lnSpc>
                          <a:spcPts val="4799"/>
                        </a:lnSpc>
                        <a:defRPr/>
                      </a:pPr>
                      <a:r>
                        <a:rPr lang="en-US" sz="3999" b="1" spc="-28">
                          <a:solidFill>
                            <a:srgbClr val="000000"/>
                          </a:solidFill>
                          <a:latin typeface="Times New Roman Bold"/>
                          <a:ea typeface="Times New Roman Bold"/>
                          <a:cs typeface="Times New Roman Bold"/>
                          <a:sym typeface="Times New Roman Bold"/>
                        </a:rPr>
                        <a:t>Title</a:t>
                      </a:r>
                      <a:endParaRPr lang="en-US" sz="1100"/>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4799"/>
                        </a:lnSpc>
                        <a:defRPr/>
                      </a:pPr>
                      <a:r>
                        <a:rPr lang="en-US" sz="3999" b="1" spc="-28">
                          <a:solidFill>
                            <a:srgbClr val="000000"/>
                          </a:solidFill>
                          <a:latin typeface="Times New Roman Bold"/>
                          <a:ea typeface="Times New Roman Bold"/>
                          <a:cs typeface="Times New Roman Bold"/>
                          <a:sym typeface="Times New Roman Bold"/>
                        </a:rPr>
                        <a:t>Author</a:t>
                      </a:r>
                      <a:endParaRPr lang="en-US" sz="1100"/>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4919"/>
                        </a:lnSpc>
                        <a:defRPr/>
                      </a:pPr>
                      <a:r>
                        <a:rPr lang="en-US" sz="4099" b="1" spc="-58">
                          <a:solidFill>
                            <a:srgbClr val="000000"/>
                          </a:solidFill>
                          <a:latin typeface="Times New Roman Bold"/>
                          <a:ea typeface="Times New Roman Bold"/>
                          <a:cs typeface="Times New Roman Bold"/>
                          <a:sym typeface="Times New Roman Bold"/>
                        </a:rPr>
                        <a:t>Year</a:t>
                      </a:r>
                      <a:endParaRPr lang="en-US" sz="1100"/>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4919"/>
                        </a:lnSpc>
                        <a:defRPr/>
                      </a:pPr>
                      <a:r>
                        <a:rPr lang="en-US" sz="4099" b="1" spc="-58">
                          <a:solidFill>
                            <a:srgbClr val="000000"/>
                          </a:solidFill>
                          <a:latin typeface="Times New Roman Bold"/>
                          <a:ea typeface="Times New Roman Bold"/>
                          <a:cs typeface="Times New Roman Bold"/>
                          <a:sym typeface="Times New Roman Bold"/>
                        </a:rPr>
                        <a:t>Citation</a:t>
                      </a:r>
                      <a:endParaRPr lang="en-US" sz="1100"/>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4799"/>
                        </a:lnSpc>
                        <a:defRPr/>
                      </a:pPr>
                      <a:r>
                        <a:rPr lang="en-US" sz="3999" b="1" spc="-28">
                          <a:solidFill>
                            <a:srgbClr val="000000"/>
                          </a:solidFill>
                          <a:latin typeface="Times New Roman Bold"/>
                          <a:ea typeface="Times New Roman Bold"/>
                          <a:cs typeface="Times New Roman Bold"/>
                          <a:sym typeface="Times New Roman Bold"/>
                        </a:rPr>
                        <a:t> Key findings</a:t>
                      </a:r>
                      <a:endParaRPr lang="en-US" sz="1100"/>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033547">
                <a:tc>
                  <a:txBody>
                    <a:bodyPr/>
                    <a:lstStyle/>
                    <a:p>
                      <a:pPr algn="ctr">
                        <a:lnSpc>
                          <a:spcPts val="2940"/>
                        </a:lnSpc>
                        <a:defRPr/>
                      </a:pPr>
                      <a:r>
                        <a:rPr lang="en-US" sz="2100" dirty="0">
                          <a:solidFill>
                            <a:srgbClr val="000000"/>
                          </a:solidFill>
                          <a:latin typeface="Canva Sans"/>
                          <a:ea typeface="Canva Sans"/>
                          <a:cs typeface="Canva Sans"/>
                          <a:sym typeface="Canva Sans"/>
                        </a:rPr>
                        <a:t>Premiums calculation of terminal illness insurance</a:t>
                      </a:r>
                      <a:endParaRPr lang="en-US" sz="1100" dirty="0"/>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2940"/>
                        </a:lnSpc>
                        <a:defRPr/>
                      </a:pPr>
                      <a:r>
                        <a:rPr lang="en-US" sz="2100">
                          <a:solidFill>
                            <a:srgbClr val="000000"/>
                          </a:solidFill>
                          <a:latin typeface="Canva Sans"/>
                          <a:ea typeface="Canva Sans"/>
                          <a:cs typeface="Canva Sans"/>
                          <a:sym typeface="Canva Sans"/>
                        </a:rPr>
                        <a:t>Neva Satyahadewi  , Hani Dwi Retnani , Hendra Perdana , Ray Tamtama</a:t>
                      </a:r>
                      <a:endParaRPr lang="en-US" sz="1100"/>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2520"/>
                        </a:lnSpc>
                        <a:defRPr/>
                      </a:pPr>
                      <a:r>
                        <a:rPr lang="en-US" sz="2100" spc="-29">
                          <a:solidFill>
                            <a:srgbClr val="000000"/>
                          </a:solidFill>
                          <a:latin typeface="Canva Sans"/>
                          <a:ea typeface="Canva Sans"/>
                          <a:cs typeface="Canva Sans"/>
                          <a:sym typeface="Canva Sans"/>
                        </a:rPr>
                        <a:t>2023</a:t>
                      </a:r>
                      <a:endParaRPr lang="en-US" sz="1100"/>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2940"/>
                        </a:lnSpc>
                        <a:defRPr/>
                      </a:pPr>
                      <a:r>
                        <a:rPr lang="en-US" sz="2100" dirty="0" err="1">
                          <a:solidFill>
                            <a:srgbClr val="000000"/>
                          </a:solidFill>
                          <a:latin typeface="Canva Sans"/>
                          <a:ea typeface="Canva Sans"/>
                          <a:cs typeface="Canva Sans"/>
                          <a:sym typeface="Canva Sans"/>
                        </a:rPr>
                        <a:t>Satyahedewi</a:t>
                      </a:r>
                      <a:r>
                        <a:rPr lang="en-US" sz="2100" dirty="0">
                          <a:solidFill>
                            <a:srgbClr val="000000"/>
                          </a:solidFill>
                          <a:latin typeface="Canva Sans"/>
                          <a:ea typeface="Canva Sans"/>
                          <a:cs typeface="Canva Sans"/>
                          <a:sym typeface="Canva Sans"/>
                        </a:rPr>
                        <a:t>, N., </a:t>
                      </a:r>
                      <a:r>
                        <a:rPr lang="en-US" sz="2100" dirty="0" err="1">
                          <a:solidFill>
                            <a:srgbClr val="000000"/>
                          </a:solidFill>
                          <a:latin typeface="Canva Sans"/>
                          <a:ea typeface="Canva Sans"/>
                          <a:cs typeface="Canva Sans"/>
                          <a:sym typeface="Canva Sans"/>
                        </a:rPr>
                        <a:t>Retnani</a:t>
                      </a:r>
                      <a:r>
                        <a:rPr lang="en-US" sz="2100" dirty="0">
                          <a:solidFill>
                            <a:srgbClr val="000000"/>
                          </a:solidFill>
                          <a:latin typeface="Canva Sans"/>
                          <a:ea typeface="Canva Sans"/>
                          <a:cs typeface="Canva Sans"/>
                          <a:sym typeface="Canva Sans"/>
                        </a:rPr>
                        <a:t>, H. D., Perdana, H., </a:t>
                      </a:r>
                      <a:r>
                        <a:rPr lang="en-US" sz="2100" dirty="0" err="1">
                          <a:solidFill>
                            <a:srgbClr val="000000"/>
                          </a:solidFill>
                          <a:latin typeface="Canva Sans"/>
                          <a:ea typeface="Canva Sans"/>
                          <a:cs typeface="Canva Sans"/>
                          <a:sym typeface="Canva Sans"/>
                        </a:rPr>
                        <a:t>Tamtama</a:t>
                      </a:r>
                      <a:r>
                        <a:rPr lang="en-US" sz="2100" dirty="0">
                          <a:solidFill>
                            <a:srgbClr val="000000"/>
                          </a:solidFill>
                          <a:latin typeface="Canva Sans"/>
                          <a:ea typeface="Canva Sans"/>
                          <a:cs typeface="Canva Sans"/>
                          <a:sym typeface="Canva Sans"/>
                        </a:rPr>
                        <a:t>, R., &amp; </a:t>
                      </a:r>
                      <a:r>
                        <a:rPr lang="en-US" sz="2100" dirty="0" err="1">
                          <a:solidFill>
                            <a:srgbClr val="000000"/>
                          </a:solidFill>
                          <a:latin typeface="Canva Sans"/>
                          <a:ea typeface="Canva Sans"/>
                          <a:cs typeface="Canva Sans"/>
                          <a:sym typeface="Canva Sans"/>
                        </a:rPr>
                        <a:t>Aprizkiyandari</a:t>
                      </a:r>
                      <a:r>
                        <a:rPr lang="en-US" sz="2100" dirty="0">
                          <a:solidFill>
                            <a:srgbClr val="000000"/>
                          </a:solidFill>
                          <a:latin typeface="Canva Sans"/>
                          <a:ea typeface="Canva Sans"/>
                          <a:cs typeface="Canva Sans"/>
                          <a:sym typeface="Canva Sans"/>
                        </a:rPr>
                        <a:t>, S. (2023). </a:t>
                      </a:r>
                      <a:r>
                        <a:rPr lang="en-US" sz="2100" b="0" dirty="0">
                          <a:solidFill>
                            <a:srgbClr val="000000"/>
                          </a:solidFill>
                          <a:latin typeface="Canva Sans Bold"/>
                          <a:ea typeface="Canva Sans Bold"/>
                          <a:cs typeface="Canva Sans Bold"/>
                          <a:sym typeface="Canva Sans Bold"/>
                        </a:rPr>
                        <a:t>Premiums Calculation of Terminal Illness Insurance</a:t>
                      </a:r>
                      <a:r>
                        <a:rPr lang="en-US" sz="2100" b="0" dirty="0">
                          <a:solidFill>
                            <a:srgbClr val="000000"/>
                          </a:solidFill>
                          <a:latin typeface="Canva Sans"/>
                          <a:ea typeface="Canva Sans"/>
                          <a:cs typeface="Canva Sans"/>
                          <a:sym typeface="Canva Sans"/>
                        </a:rPr>
                        <a:t>.</a:t>
                      </a:r>
                      <a:r>
                        <a:rPr lang="en-US" sz="2100" dirty="0">
                          <a:solidFill>
                            <a:srgbClr val="000000"/>
                          </a:solidFill>
                          <a:latin typeface="Canva Sans"/>
                          <a:ea typeface="Canva Sans"/>
                          <a:cs typeface="Canva Sans"/>
                          <a:sym typeface="Canva Sans"/>
                        </a:rPr>
                        <a:t> </a:t>
                      </a:r>
                      <a:r>
                        <a:rPr lang="en-US" sz="2100" i="1" dirty="0">
                          <a:solidFill>
                            <a:srgbClr val="000000"/>
                          </a:solidFill>
                          <a:latin typeface="Canva Sans Italics"/>
                          <a:ea typeface="Canva Sans Italics"/>
                          <a:cs typeface="Canva Sans Italics"/>
                          <a:sym typeface="Canva Sans Italics"/>
                        </a:rPr>
                        <a:t>BAREKENG: Journal of Mathematics and Its Applications, 17</a:t>
                      </a:r>
                      <a:r>
                        <a:rPr lang="en-US" sz="2100" dirty="0">
                          <a:solidFill>
                            <a:srgbClr val="000000"/>
                          </a:solidFill>
                          <a:latin typeface="Canva Sans"/>
                          <a:ea typeface="Canva Sans"/>
                          <a:cs typeface="Canva Sans"/>
                          <a:sym typeface="Canva Sans"/>
                        </a:rPr>
                        <a:t>(2), 0913-0918. OJS</a:t>
                      </a:r>
                      <a:endParaRPr lang="en-US" sz="1100" dirty="0"/>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2940"/>
                        </a:lnSpc>
                        <a:defRPr/>
                      </a:pPr>
                      <a:r>
                        <a:rPr lang="en-US" sz="2100" dirty="0" err="1">
                          <a:solidFill>
                            <a:srgbClr val="000000"/>
                          </a:solidFill>
                          <a:latin typeface="Canva Sans"/>
                          <a:ea typeface="Canva Sans"/>
                          <a:cs typeface="Canva Sans"/>
                          <a:sym typeface="Canva Sans"/>
                        </a:rPr>
                        <a:t>Satyahedewi</a:t>
                      </a:r>
                      <a:r>
                        <a:rPr lang="en-US" sz="2100" dirty="0">
                          <a:solidFill>
                            <a:srgbClr val="000000"/>
                          </a:solidFill>
                          <a:latin typeface="Canva Sans"/>
                          <a:ea typeface="Canva Sans"/>
                          <a:cs typeface="Canva Sans"/>
                          <a:sym typeface="Canva Sans"/>
                        </a:rPr>
                        <a:t> et al. (2023) examine LTC insurance premium calculations with annuity riders, emphasizing actuarial modeling for accurate pricing. The study highlights mortality risk adjustments, discounting techniques, and epidemiological factors to refine terminal illness insurance premiums.</a:t>
                      </a:r>
                      <a:endParaRPr lang="en-US" sz="1100" dirty="0"/>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2671816">
                <a:tc>
                  <a:txBody>
                    <a:bodyPr/>
                    <a:lstStyle/>
                    <a:p>
                      <a:pPr algn="ctr">
                        <a:lnSpc>
                          <a:spcPts val="2520"/>
                        </a:lnSpc>
                        <a:defRPr/>
                      </a:pPr>
                      <a:r>
                        <a:rPr lang="en-US" sz="2100">
                          <a:solidFill>
                            <a:srgbClr val="000000"/>
                          </a:solidFill>
                          <a:latin typeface="Canva Sans"/>
                          <a:ea typeface="Canva Sans"/>
                          <a:cs typeface="Canva Sans"/>
                          <a:sym typeface="Canva Sans"/>
                        </a:rPr>
                        <a:t>Premium calculation in insurance activity</a:t>
                      </a:r>
                      <a:endParaRPr lang="en-US" sz="1100"/>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2940"/>
                        </a:lnSpc>
                        <a:defRPr/>
                      </a:pPr>
                      <a:r>
                        <a:rPr lang="en-US" sz="2100">
                          <a:solidFill>
                            <a:srgbClr val="000000"/>
                          </a:solidFill>
                          <a:latin typeface="Canva Sans"/>
                          <a:ea typeface="Canva Sans"/>
                          <a:cs typeface="Canva Sans"/>
                          <a:sym typeface="Canva Sans"/>
                        </a:rPr>
                        <a:t>Pedro Lima Ramos </a:t>
                      </a:r>
                      <a:endParaRPr lang="en-US" sz="1100"/>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2520"/>
                        </a:lnSpc>
                        <a:defRPr/>
                      </a:pPr>
                      <a:r>
                        <a:rPr lang="en-US" sz="2100" spc="-29">
                          <a:solidFill>
                            <a:srgbClr val="000000"/>
                          </a:solidFill>
                          <a:latin typeface="Canva Sans"/>
                          <a:ea typeface="Canva Sans"/>
                          <a:cs typeface="Canva Sans"/>
                          <a:sym typeface="Canva Sans"/>
                        </a:rPr>
                        <a:t>2017</a:t>
                      </a:r>
                      <a:endParaRPr lang="en-US" sz="1100"/>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2940"/>
                        </a:lnSpc>
                        <a:defRPr/>
                      </a:pPr>
                      <a:r>
                        <a:rPr lang="en-US" sz="2100" b="0" dirty="0">
                          <a:solidFill>
                            <a:srgbClr val="000000"/>
                          </a:solidFill>
                          <a:latin typeface="Canva Sans Bold"/>
                          <a:ea typeface="Canva Sans Bold"/>
                          <a:cs typeface="Canva Sans Bold"/>
                          <a:sym typeface="Canva Sans Bold"/>
                        </a:rPr>
                        <a:t>Ramos, P. L.</a:t>
                      </a:r>
                      <a:r>
                        <a:rPr lang="en-US" sz="2100" dirty="0">
                          <a:solidFill>
                            <a:srgbClr val="000000"/>
                          </a:solidFill>
                          <a:latin typeface="Canva Sans"/>
                          <a:ea typeface="Canva Sans"/>
                          <a:cs typeface="Canva Sans"/>
                          <a:sym typeface="Canva Sans"/>
                        </a:rPr>
                        <a:t> (2017). Premium calculation in insurance activity. Journal of Statistics and Management Systems. ResearchGate</a:t>
                      </a:r>
                      <a:endParaRPr lang="en-US" sz="1100" dirty="0"/>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2940"/>
                        </a:lnSpc>
                        <a:defRPr/>
                      </a:pPr>
                      <a:r>
                        <a:rPr lang="en-US" sz="2100" dirty="0">
                          <a:solidFill>
                            <a:srgbClr val="000000"/>
                          </a:solidFill>
                          <a:latin typeface="Canva Sans"/>
                          <a:ea typeface="Canva Sans"/>
                          <a:cs typeface="Canva Sans"/>
                          <a:sym typeface="Canva Sans"/>
                        </a:rPr>
                        <a:t>The paper covers premium calculation methods, emphasizing risk assessment, statistical modeling, and regulatory influences. It highlights the role of credibility theory and experience rating in refining premiums. While focused on general insurance, its insights are useful for health-based life insurance modeling.</a:t>
                      </a:r>
                      <a:endParaRPr lang="en-US" sz="1100" dirty="0"/>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
            <a:chOff x="0" y="0"/>
            <a:chExt cx="24384000" cy="1371600"/>
          </a:xfrm>
        </p:grpSpPr>
        <p:sp>
          <p:nvSpPr>
            <p:cNvPr id="3" name="Freeform 3"/>
            <p:cNvSpPr/>
            <p:nvPr/>
          </p:nvSpPr>
          <p:spPr>
            <a:xfrm>
              <a:off x="0" y="0"/>
              <a:ext cx="24384000" cy="1371600"/>
            </a:xfrm>
            <a:custGeom>
              <a:avLst/>
              <a:gdLst/>
              <a:ahLst/>
              <a:cxnLst/>
              <a:rect l="l" t="t" r="r" b="b"/>
              <a:pathLst>
                <a:path w="24384000" h="1371600">
                  <a:moveTo>
                    <a:pt x="24384000" y="0"/>
                  </a:moveTo>
                  <a:lnTo>
                    <a:pt x="0" y="0"/>
                  </a:lnTo>
                  <a:lnTo>
                    <a:pt x="0" y="1371600"/>
                  </a:lnTo>
                  <a:lnTo>
                    <a:pt x="24384000" y="1371600"/>
                  </a:lnTo>
                  <a:lnTo>
                    <a:pt x="24384000" y="0"/>
                  </a:lnTo>
                  <a:close/>
                </a:path>
              </a:pathLst>
            </a:custGeom>
            <a:solidFill>
              <a:srgbClr val="D2222A"/>
            </a:solidFill>
          </p:spPr>
        </p:sp>
      </p:grpSp>
      <p:sp>
        <p:nvSpPr>
          <p:cNvPr id="4" name="Freeform 4"/>
          <p:cNvSpPr/>
          <p:nvPr/>
        </p:nvSpPr>
        <p:spPr>
          <a:xfrm>
            <a:off x="3600450" y="657225"/>
            <a:ext cx="3543300" cy="657225"/>
          </a:xfrm>
          <a:custGeom>
            <a:avLst/>
            <a:gdLst/>
            <a:ahLst/>
            <a:cxnLst/>
            <a:rect l="l" t="t" r="r" b="b"/>
            <a:pathLst>
              <a:path w="3543300" h="657225">
                <a:moveTo>
                  <a:pt x="0" y="0"/>
                </a:moveTo>
                <a:lnTo>
                  <a:pt x="3543300" y="0"/>
                </a:lnTo>
                <a:lnTo>
                  <a:pt x="3543300" y="657225"/>
                </a:lnTo>
                <a:lnTo>
                  <a:pt x="0" y="657225"/>
                </a:lnTo>
                <a:lnTo>
                  <a:pt x="0" y="0"/>
                </a:lnTo>
                <a:close/>
              </a:path>
            </a:pathLst>
          </a:custGeom>
          <a:blipFill>
            <a:blip r:embed="rId2"/>
            <a:stretch>
              <a:fillRect/>
            </a:stretch>
          </a:blipFill>
        </p:spPr>
      </p:sp>
      <p:sp>
        <p:nvSpPr>
          <p:cNvPr id="5" name="Freeform 5"/>
          <p:cNvSpPr/>
          <p:nvPr/>
        </p:nvSpPr>
        <p:spPr>
          <a:xfrm>
            <a:off x="0" y="171354"/>
            <a:ext cx="7551039" cy="1707356"/>
          </a:xfrm>
          <a:custGeom>
            <a:avLst/>
            <a:gdLst/>
            <a:ahLst/>
            <a:cxnLst/>
            <a:rect l="l" t="t" r="r" b="b"/>
            <a:pathLst>
              <a:path w="7551039" h="1707356">
                <a:moveTo>
                  <a:pt x="0" y="0"/>
                </a:moveTo>
                <a:lnTo>
                  <a:pt x="7551039" y="0"/>
                </a:lnTo>
                <a:lnTo>
                  <a:pt x="7551039" y="1707356"/>
                </a:lnTo>
                <a:lnTo>
                  <a:pt x="0" y="1707356"/>
                </a:lnTo>
                <a:lnTo>
                  <a:pt x="0" y="0"/>
                </a:lnTo>
                <a:close/>
              </a:path>
            </a:pathLst>
          </a:custGeom>
          <a:blipFill>
            <a:blip r:embed="rId3"/>
            <a:stretch>
              <a:fillRect t="-67" b="-67"/>
            </a:stretch>
          </a:blipFill>
        </p:spPr>
      </p:sp>
      <p:sp>
        <p:nvSpPr>
          <p:cNvPr id="6" name="Freeform 6"/>
          <p:cNvSpPr/>
          <p:nvPr/>
        </p:nvSpPr>
        <p:spPr>
          <a:xfrm>
            <a:off x="0" y="257175"/>
            <a:ext cx="7472361" cy="1457325"/>
          </a:xfrm>
          <a:custGeom>
            <a:avLst/>
            <a:gdLst/>
            <a:ahLst/>
            <a:cxnLst/>
            <a:rect l="l" t="t" r="r" b="b"/>
            <a:pathLst>
              <a:path w="7472361" h="1457325">
                <a:moveTo>
                  <a:pt x="0" y="0"/>
                </a:moveTo>
                <a:lnTo>
                  <a:pt x="7472361" y="0"/>
                </a:lnTo>
                <a:lnTo>
                  <a:pt x="7472361" y="1457325"/>
                </a:lnTo>
                <a:lnTo>
                  <a:pt x="0" y="1457325"/>
                </a:lnTo>
                <a:lnTo>
                  <a:pt x="0" y="0"/>
                </a:lnTo>
                <a:close/>
              </a:path>
            </a:pathLst>
          </a:custGeom>
          <a:blipFill>
            <a:blip r:embed="rId4"/>
            <a:stretch>
              <a:fillRect l="-31" r="-31"/>
            </a:stretch>
          </a:blipFill>
        </p:spPr>
      </p:sp>
      <p:grpSp>
        <p:nvGrpSpPr>
          <p:cNvPr id="7" name="Group 7"/>
          <p:cNvGrpSpPr/>
          <p:nvPr/>
        </p:nvGrpSpPr>
        <p:grpSpPr>
          <a:xfrm>
            <a:off x="0" y="10115550"/>
            <a:ext cx="18288000" cy="171450"/>
            <a:chOff x="0" y="0"/>
            <a:chExt cx="24384000" cy="228600"/>
          </a:xfrm>
        </p:grpSpPr>
        <p:sp>
          <p:nvSpPr>
            <p:cNvPr id="8" name="Freeform 8"/>
            <p:cNvSpPr/>
            <p:nvPr/>
          </p:nvSpPr>
          <p:spPr>
            <a:xfrm>
              <a:off x="0" y="0"/>
              <a:ext cx="24384000" cy="228600"/>
            </a:xfrm>
            <a:custGeom>
              <a:avLst/>
              <a:gdLst/>
              <a:ahLst/>
              <a:cxnLst/>
              <a:rect l="l" t="t" r="r" b="b"/>
              <a:pathLst>
                <a:path w="24384000" h="228600">
                  <a:moveTo>
                    <a:pt x="24384000" y="0"/>
                  </a:moveTo>
                  <a:lnTo>
                    <a:pt x="0" y="0"/>
                  </a:lnTo>
                  <a:lnTo>
                    <a:pt x="0" y="228600"/>
                  </a:lnTo>
                  <a:lnTo>
                    <a:pt x="24384000" y="228600"/>
                  </a:lnTo>
                  <a:lnTo>
                    <a:pt x="24384000" y="0"/>
                  </a:lnTo>
                  <a:close/>
                </a:path>
              </a:pathLst>
            </a:custGeom>
            <a:solidFill>
              <a:srgbClr val="D2222A"/>
            </a:solidFill>
          </p:spPr>
        </p:sp>
      </p:grpSp>
      <p:graphicFrame>
        <p:nvGraphicFramePr>
          <p:cNvPr id="9" name="Table 9"/>
          <p:cNvGraphicFramePr>
            <a:graphicFrameLocks noGrp="1"/>
          </p:cNvGraphicFramePr>
          <p:nvPr/>
        </p:nvGraphicFramePr>
        <p:xfrm>
          <a:off x="285233" y="2435302"/>
          <a:ext cx="17717534" cy="7123656"/>
        </p:xfrm>
        <a:graphic>
          <a:graphicData uri="http://schemas.openxmlformats.org/drawingml/2006/table">
            <a:tbl>
              <a:tblPr/>
              <a:tblGrid>
                <a:gridCol w="2712617">
                  <a:extLst>
                    <a:ext uri="{9D8B030D-6E8A-4147-A177-3AD203B41FA5}">
                      <a16:colId xmlns:a16="http://schemas.microsoft.com/office/drawing/2014/main" val="20000"/>
                    </a:ext>
                  </a:extLst>
                </a:gridCol>
                <a:gridCol w="2791807">
                  <a:extLst>
                    <a:ext uri="{9D8B030D-6E8A-4147-A177-3AD203B41FA5}">
                      <a16:colId xmlns:a16="http://schemas.microsoft.com/office/drawing/2014/main" val="20001"/>
                    </a:ext>
                  </a:extLst>
                </a:gridCol>
                <a:gridCol w="1595102">
                  <a:extLst>
                    <a:ext uri="{9D8B030D-6E8A-4147-A177-3AD203B41FA5}">
                      <a16:colId xmlns:a16="http://schemas.microsoft.com/office/drawing/2014/main" val="20002"/>
                    </a:ext>
                  </a:extLst>
                </a:gridCol>
                <a:gridCol w="3898468">
                  <a:extLst>
                    <a:ext uri="{9D8B030D-6E8A-4147-A177-3AD203B41FA5}">
                      <a16:colId xmlns:a16="http://schemas.microsoft.com/office/drawing/2014/main" val="20003"/>
                    </a:ext>
                  </a:extLst>
                </a:gridCol>
                <a:gridCol w="6719540">
                  <a:extLst>
                    <a:ext uri="{9D8B030D-6E8A-4147-A177-3AD203B41FA5}">
                      <a16:colId xmlns:a16="http://schemas.microsoft.com/office/drawing/2014/main" val="20004"/>
                    </a:ext>
                  </a:extLst>
                </a:gridCol>
              </a:tblGrid>
              <a:tr h="801350">
                <a:tc>
                  <a:txBody>
                    <a:bodyPr/>
                    <a:lstStyle/>
                    <a:p>
                      <a:pPr algn="ctr">
                        <a:lnSpc>
                          <a:spcPts val="4799"/>
                        </a:lnSpc>
                        <a:defRPr/>
                      </a:pPr>
                      <a:r>
                        <a:rPr lang="en-US" sz="3999" b="1" spc="-28">
                          <a:solidFill>
                            <a:srgbClr val="000000"/>
                          </a:solidFill>
                          <a:latin typeface="Times New Roman Bold"/>
                          <a:ea typeface="Times New Roman Bold"/>
                          <a:cs typeface="Times New Roman Bold"/>
                          <a:sym typeface="Times New Roman Bold"/>
                        </a:rPr>
                        <a:t>Title</a:t>
                      </a:r>
                      <a:endParaRPr lang="en-US" sz="1100"/>
                    </a:p>
                  </a:txBody>
                  <a:tcPr marL="0" marR="0" marT="0" marB="0" anchor="ctr">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4800"/>
                        </a:lnSpc>
                        <a:defRPr/>
                      </a:pPr>
                      <a:r>
                        <a:rPr lang="en-US" sz="4000" b="1" spc="-28">
                          <a:solidFill>
                            <a:srgbClr val="000000"/>
                          </a:solidFill>
                          <a:latin typeface="Times New Roman Bold"/>
                          <a:ea typeface="Times New Roman Bold"/>
                          <a:cs typeface="Times New Roman Bold"/>
                          <a:sym typeface="Times New Roman Bold"/>
                        </a:rPr>
                        <a:t>Authors</a:t>
                      </a:r>
                      <a:endParaRPr lang="en-US" sz="1100"/>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4799"/>
                        </a:lnSpc>
                        <a:defRPr/>
                      </a:pPr>
                      <a:r>
                        <a:rPr lang="en-US" sz="3999" b="1" spc="-57">
                          <a:solidFill>
                            <a:srgbClr val="000000"/>
                          </a:solidFill>
                          <a:latin typeface="Times New Roman Bold"/>
                          <a:ea typeface="Times New Roman Bold"/>
                          <a:cs typeface="Times New Roman Bold"/>
                          <a:sym typeface="Times New Roman Bold"/>
                        </a:rPr>
                        <a:t>Year</a:t>
                      </a:r>
                      <a:endParaRPr lang="en-US" sz="1100"/>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4799"/>
                        </a:lnSpc>
                        <a:defRPr/>
                      </a:pPr>
                      <a:r>
                        <a:rPr lang="en-US" sz="3999" b="1" spc="-57">
                          <a:solidFill>
                            <a:srgbClr val="000000"/>
                          </a:solidFill>
                          <a:latin typeface="Times New Roman Bold"/>
                          <a:ea typeface="Times New Roman Bold"/>
                          <a:cs typeface="Times New Roman Bold"/>
                          <a:sym typeface="Times New Roman Bold"/>
                        </a:rPr>
                        <a:t>Citations</a:t>
                      </a:r>
                      <a:endParaRPr lang="en-US" sz="1100"/>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4799"/>
                        </a:lnSpc>
                        <a:defRPr/>
                      </a:pPr>
                      <a:r>
                        <a:rPr lang="en-US" sz="3999" b="1" spc="-28">
                          <a:solidFill>
                            <a:srgbClr val="000000"/>
                          </a:solidFill>
                          <a:latin typeface="Times New Roman Bold"/>
                          <a:ea typeface="Times New Roman Bold"/>
                          <a:cs typeface="Times New Roman Bold"/>
                          <a:sym typeface="Times New Roman Bold"/>
                        </a:rPr>
                        <a:t>  Key findings</a:t>
                      </a:r>
                      <a:endParaRPr lang="en-US" sz="1100"/>
                    </a:p>
                  </a:txBody>
                  <a:tcPr marL="0" marR="0" marT="0" marB="0" anchor="ctr">
                    <a:lnL w="127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062400">
                <a:tc>
                  <a:txBody>
                    <a:bodyPr/>
                    <a:lstStyle/>
                    <a:p>
                      <a:pPr algn="ctr">
                        <a:lnSpc>
                          <a:spcPts val="2940"/>
                        </a:lnSpc>
                        <a:defRPr/>
                      </a:pPr>
                      <a:r>
                        <a:rPr lang="en-US" sz="2100">
                          <a:solidFill>
                            <a:srgbClr val="000000"/>
                          </a:solidFill>
                          <a:latin typeface="Canva Sans"/>
                          <a:ea typeface="Canva Sans"/>
                          <a:cs typeface="Canva Sans"/>
                          <a:sym typeface="Canva Sans"/>
                        </a:rPr>
                        <a:t>Automated Health Insurance Processing Framework with Intelligent Fraud Detection, Risk Classifcation and Premium Prediction</a:t>
                      </a:r>
                      <a:endParaRPr lang="en-US" sz="1100"/>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2940"/>
                        </a:lnSpc>
                        <a:defRPr/>
                      </a:pPr>
                      <a:r>
                        <a:rPr lang="en-US" sz="2100">
                          <a:solidFill>
                            <a:srgbClr val="000000"/>
                          </a:solidFill>
                          <a:latin typeface="Canva Sans"/>
                          <a:ea typeface="Canva Sans"/>
                          <a:cs typeface="Canva Sans"/>
                          <a:sym typeface="Canva Sans"/>
                        </a:rPr>
                        <a:t>Sreegeethi Devaguptam</a:t>
                      </a:r>
                      <a:endParaRPr lang="en-US" sz="1100"/>
                    </a:p>
                    <a:p>
                      <a:pPr algn="ctr">
                        <a:lnSpc>
                          <a:spcPts val="2940"/>
                        </a:lnSpc>
                      </a:pPr>
                      <a:r>
                        <a:rPr lang="en-US" sz="2100">
                          <a:solidFill>
                            <a:srgbClr val="000000"/>
                          </a:solidFill>
                          <a:latin typeface="Canva Sans"/>
                          <a:ea typeface="Canva Sans"/>
                          <a:cs typeface="Canva Sans"/>
                          <a:sym typeface="Canva Sans"/>
                        </a:rPr>
                        <a:t>Sai Srivatsa Gorti</a:t>
                      </a:r>
                    </a:p>
                    <a:p>
                      <a:pPr algn="ctr">
                        <a:lnSpc>
                          <a:spcPts val="2940"/>
                        </a:lnSpc>
                      </a:pPr>
                      <a:r>
                        <a:rPr lang="en-US" sz="2100">
                          <a:solidFill>
                            <a:srgbClr val="000000"/>
                          </a:solidFill>
                          <a:latin typeface="Canva Sans"/>
                          <a:ea typeface="Canva Sans"/>
                          <a:cs typeface="Canva Sans"/>
                          <a:sym typeface="Canva Sans"/>
                        </a:rPr>
                        <a:t>T. Leela Akshaya</a:t>
                      </a:r>
                    </a:p>
                    <a:p>
                      <a:pPr algn="ctr">
                        <a:lnSpc>
                          <a:spcPts val="2940"/>
                        </a:lnSpc>
                      </a:pPr>
                      <a:r>
                        <a:rPr lang="en-US" sz="2100">
                          <a:solidFill>
                            <a:srgbClr val="000000"/>
                          </a:solidFill>
                          <a:latin typeface="Canva Sans"/>
                          <a:ea typeface="Canva Sans"/>
                          <a:cs typeface="Canva Sans"/>
                          <a:sym typeface="Canva Sans"/>
                        </a:rPr>
                        <a:t>S. Sowmya Kamath </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2520"/>
                        </a:lnSpc>
                        <a:defRPr/>
                      </a:pPr>
                      <a:r>
                        <a:rPr lang="en-US" sz="2100" spc="-29">
                          <a:solidFill>
                            <a:srgbClr val="000000"/>
                          </a:solidFill>
                          <a:latin typeface="Canva Sans"/>
                          <a:ea typeface="Canva Sans"/>
                          <a:cs typeface="Canva Sans"/>
                          <a:sym typeface="Canva Sans"/>
                        </a:rPr>
                        <a:t>2024</a:t>
                      </a:r>
                      <a:endParaRPr lang="en-US" sz="1100"/>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2940"/>
                        </a:lnSpc>
                        <a:defRPr/>
                      </a:pPr>
                      <a:r>
                        <a:rPr lang="en-US" sz="2100">
                          <a:solidFill>
                            <a:srgbClr val="000000"/>
                          </a:solidFill>
                          <a:latin typeface="Canva Sans"/>
                          <a:ea typeface="Canva Sans"/>
                          <a:cs typeface="Canva Sans"/>
                          <a:sym typeface="Canva Sans"/>
                        </a:rPr>
                        <a:t>Devaguptam, S., Gorti, S. S., Akshaya, T. L., &amp; Kamath, S. S. (2024). Automated health insurance processing framework with intelligent fraud detection, risk classification, and premium prediction. Springer</a:t>
                      </a:r>
                      <a:endParaRPr lang="en-US" sz="1100"/>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2940"/>
                        </a:lnSpc>
                        <a:defRPr/>
                      </a:pPr>
                      <a:r>
                        <a:rPr lang="en-US" sz="2100">
                          <a:solidFill>
                            <a:srgbClr val="000000"/>
                          </a:solidFill>
                          <a:latin typeface="Canva Sans"/>
                          <a:ea typeface="Canva Sans"/>
                          <a:cs typeface="Canva Sans"/>
                          <a:sym typeface="Canva Sans"/>
                        </a:rPr>
                        <a:t>This paper presents an AI-driven framework for automated health insurance processing, utilizing machine learning for fraud detection, risk classification, and premium prediction. The findings emphasize AI's role in enhancing risk management, claims processing, and premium accuracy, highlighting its impact on modernizing the health insurance industry.</a:t>
                      </a:r>
                      <a:endParaRPr lang="en-US" sz="1100"/>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259906">
                <a:tc>
                  <a:txBody>
                    <a:bodyPr/>
                    <a:lstStyle/>
                    <a:p>
                      <a:pPr algn="ctr">
                        <a:lnSpc>
                          <a:spcPts val="2940"/>
                        </a:lnSpc>
                        <a:defRPr/>
                      </a:pPr>
                      <a:r>
                        <a:rPr lang="en-US" sz="2100">
                          <a:solidFill>
                            <a:srgbClr val="000000"/>
                          </a:solidFill>
                          <a:latin typeface="Canva Sans"/>
                          <a:ea typeface="Canva Sans"/>
                          <a:cs typeface="Canva Sans"/>
                          <a:sym typeface="Canva Sans"/>
                        </a:rPr>
                        <a:t>Risk classification in life and health insurance: Extension to continuous covariates</a:t>
                      </a:r>
                      <a:endParaRPr lang="en-US" sz="1100"/>
                    </a:p>
                  </a:txBody>
                  <a:tcPr marL="0" marR="0" marT="0" marB="0" anchor="ctr">
                    <a:lnL w="952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2940"/>
                        </a:lnSpc>
                        <a:defRPr/>
                      </a:pPr>
                      <a:r>
                        <a:rPr lang="en-US" sz="2100">
                          <a:solidFill>
                            <a:srgbClr val="000000"/>
                          </a:solidFill>
                          <a:latin typeface="Canva Sans"/>
                          <a:ea typeface="Canva Sans"/>
                          <a:cs typeface="Canva Sans"/>
                          <a:sym typeface="Canva Sans"/>
                        </a:rPr>
                        <a:t>Michel Denuit Catherine Legrand</a:t>
                      </a:r>
                      <a:endParaRPr lang="en-US" sz="1100"/>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2520"/>
                        </a:lnSpc>
                        <a:defRPr/>
                      </a:pPr>
                      <a:r>
                        <a:rPr lang="en-US" sz="2100" spc="-29">
                          <a:solidFill>
                            <a:srgbClr val="000000"/>
                          </a:solidFill>
                          <a:latin typeface="Canva Sans"/>
                          <a:ea typeface="Canva Sans"/>
                          <a:cs typeface="Canva Sans"/>
                          <a:sym typeface="Canva Sans"/>
                        </a:rPr>
                        <a:t>2018</a:t>
                      </a:r>
                      <a:endParaRPr lang="en-US" sz="1100"/>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2940"/>
                        </a:lnSpc>
                        <a:defRPr/>
                      </a:pPr>
                      <a:r>
                        <a:rPr lang="en-US" sz="2100">
                          <a:solidFill>
                            <a:srgbClr val="000000"/>
                          </a:solidFill>
                          <a:latin typeface="Canva Sans"/>
                          <a:ea typeface="Canva Sans"/>
                          <a:cs typeface="Canva Sans"/>
                          <a:sym typeface="Canva Sans"/>
                        </a:rPr>
                        <a:t>Denuit, M., &amp; Legrand, C. (2018). Risk classification in life and health insurance: Extension to continuous covariates. Springer.</a:t>
                      </a:r>
                      <a:endParaRPr lang="en-US" sz="1100"/>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ts val="2940"/>
                        </a:lnSpc>
                        <a:defRPr/>
                      </a:pPr>
                      <a:r>
                        <a:rPr lang="en-US" sz="2100">
                          <a:solidFill>
                            <a:srgbClr val="000000"/>
                          </a:solidFill>
                          <a:latin typeface="Canva Sans"/>
                          <a:ea typeface="Canva Sans"/>
                          <a:cs typeface="Canva Sans"/>
                          <a:sym typeface="Canva Sans"/>
                        </a:rPr>
                        <a:t>This study examines risk classification in life and health insurance using continuous covariates, improving mortality modeling with individual risk factors. By leveraging policyholder data, it enhances mortality estimations, refines pricing models, and strengthens risk assessment strategies.</a:t>
                      </a:r>
                      <a:endParaRPr lang="en-US" sz="1100"/>
                    </a:p>
                    <a:p>
                      <a:pPr algn="ctr">
                        <a:lnSpc>
                          <a:spcPts val="2940"/>
                        </a:lnSpc>
                      </a:pPr>
                      <a:endParaRPr lang="en-US" sz="1100"/>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
            <a:chOff x="0" y="0"/>
            <a:chExt cx="24384000" cy="1371600"/>
          </a:xfrm>
        </p:grpSpPr>
        <p:sp>
          <p:nvSpPr>
            <p:cNvPr id="3" name="Freeform 3"/>
            <p:cNvSpPr/>
            <p:nvPr/>
          </p:nvSpPr>
          <p:spPr>
            <a:xfrm>
              <a:off x="0" y="0"/>
              <a:ext cx="24384000" cy="1371600"/>
            </a:xfrm>
            <a:custGeom>
              <a:avLst/>
              <a:gdLst/>
              <a:ahLst/>
              <a:cxnLst/>
              <a:rect l="l" t="t" r="r" b="b"/>
              <a:pathLst>
                <a:path w="24384000" h="1371600">
                  <a:moveTo>
                    <a:pt x="24384000" y="0"/>
                  </a:moveTo>
                  <a:lnTo>
                    <a:pt x="0" y="0"/>
                  </a:lnTo>
                  <a:lnTo>
                    <a:pt x="0" y="1371600"/>
                  </a:lnTo>
                  <a:lnTo>
                    <a:pt x="24384000" y="1371600"/>
                  </a:lnTo>
                  <a:lnTo>
                    <a:pt x="24384000" y="0"/>
                  </a:lnTo>
                  <a:close/>
                </a:path>
              </a:pathLst>
            </a:custGeom>
            <a:solidFill>
              <a:srgbClr val="D2222A"/>
            </a:solidFill>
          </p:spPr>
        </p:sp>
      </p:grpSp>
      <p:sp>
        <p:nvSpPr>
          <p:cNvPr id="4" name="Freeform 4"/>
          <p:cNvSpPr/>
          <p:nvPr/>
        </p:nvSpPr>
        <p:spPr>
          <a:xfrm>
            <a:off x="3600450" y="657225"/>
            <a:ext cx="3543300" cy="657225"/>
          </a:xfrm>
          <a:custGeom>
            <a:avLst/>
            <a:gdLst/>
            <a:ahLst/>
            <a:cxnLst/>
            <a:rect l="l" t="t" r="r" b="b"/>
            <a:pathLst>
              <a:path w="3543300" h="657225">
                <a:moveTo>
                  <a:pt x="0" y="0"/>
                </a:moveTo>
                <a:lnTo>
                  <a:pt x="3543300" y="0"/>
                </a:lnTo>
                <a:lnTo>
                  <a:pt x="3543300" y="657225"/>
                </a:lnTo>
                <a:lnTo>
                  <a:pt x="0" y="657225"/>
                </a:lnTo>
                <a:lnTo>
                  <a:pt x="0" y="0"/>
                </a:lnTo>
                <a:close/>
              </a:path>
            </a:pathLst>
          </a:custGeom>
          <a:blipFill>
            <a:blip r:embed="rId2"/>
            <a:stretch>
              <a:fillRect/>
            </a:stretch>
          </a:blipFill>
        </p:spPr>
      </p:sp>
      <p:sp>
        <p:nvSpPr>
          <p:cNvPr id="5" name="Freeform 5"/>
          <p:cNvSpPr/>
          <p:nvPr/>
        </p:nvSpPr>
        <p:spPr>
          <a:xfrm>
            <a:off x="0" y="171354"/>
            <a:ext cx="7551039" cy="1707356"/>
          </a:xfrm>
          <a:custGeom>
            <a:avLst/>
            <a:gdLst/>
            <a:ahLst/>
            <a:cxnLst/>
            <a:rect l="l" t="t" r="r" b="b"/>
            <a:pathLst>
              <a:path w="7551039" h="1707356">
                <a:moveTo>
                  <a:pt x="0" y="0"/>
                </a:moveTo>
                <a:lnTo>
                  <a:pt x="7551039" y="0"/>
                </a:lnTo>
                <a:lnTo>
                  <a:pt x="7551039" y="1707356"/>
                </a:lnTo>
                <a:lnTo>
                  <a:pt x="0" y="1707356"/>
                </a:lnTo>
                <a:lnTo>
                  <a:pt x="0" y="0"/>
                </a:lnTo>
                <a:close/>
              </a:path>
            </a:pathLst>
          </a:custGeom>
          <a:blipFill>
            <a:blip r:embed="rId3"/>
            <a:stretch>
              <a:fillRect t="-67" b="-67"/>
            </a:stretch>
          </a:blipFill>
        </p:spPr>
      </p:sp>
      <p:sp>
        <p:nvSpPr>
          <p:cNvPr id="6" name="Freeform 6"/>
          <p:cNvSpPr/>
          <p:nvPr/>
        </p:nvSpPr>
        <p:spPr>
          <a:xfrm>
            <a:off x="0" y="257175"/>
            <a:ext cx="7472361" cy="1457325"/>
          </a:xfrm>
          <a:custGeom>
            <a:avLst/>
            <a:gdLst/>
            <a:ahLst/>
            <a:cxnLst/>
            <a:rect l="l" t="t" r="r" b="b"/>
            <a:pathLst>
              <a:path w="7472361" h="1457325">
                <a:moveTo>
                  <a:pt x="0" y="0"/>
                </a:moveTo>
                <a:lnTo>
                  <a:pt x="7472361" y="0"/>
                </a:lnTo>
                <a:lnTo>
                  <a:pt x="7472361" y="1457325"/>
                </a:lnTo>
                <a:lnTo>
                  <a:pt x="0" y="1457325"/>
                </a:lnTo>
                <a:lnTo>
                  <a:pt x="0" y="0"/>
                </a:lnTo>
                <a:close/>
              </a:path>
            </a:pathLst>
          </a:custGeom>
          <a:blipFill>
            <a:blip r:embed="rId4"/>
            <a:stretch>
              <a:fillRect l="-31" r="-31"/>
            </a:stretch>
          </a:blipFill>
        </p:spPr>
      </p:sp>
      <p:sp>
        <p:nvSpPr>
          <p:cNvPr id="7" name="Freeform 7"/>
          <p:cNvSpPr/>
          <p:nvPr/>
        </p:nvSpPr>
        <p:spPr>
          <a:xfrm>
            <a:off x="2586038" y="614362"/>
            <a:ext cx="4829175" cy="742950"/>
          </a:xfrm>
          <a:custGeom>
            <a:avLst/>
            <a:gdLst/>
            <a:ahLst/>
            <a:cxnLst/>
            <a:rect l="l" t="t" r="r" b="b"/>
            <a:pathLst>
              <a:path w="4829175" h="742950">
                <a:moveTo>
                  <a:pt x="0" y="0"/>
                </a:moveTo>
                <a:lnTo>
                  <a:pt x="4829174" y="0"/>
                </a:lnTo>
                <a:lnTo>
                  <a:pt x="4829174" y="742950"/>
                </a:lnTo>
                <a:lnTo>
                  <a:pt x="0" y="742950"/>
                </a:lnTo>
                <a:lnTo>
                  <a:pt x="0" y="0"/>
                </a:lnTo>
                <a:close/>
              </a:path>
            </a:pathLst>
          </a:custGeom>
          <a:blipFill>
            <a:blip r:embed="rId5"/>
            <a:stretch>
              <a:fillRect l="-126" r="-126"/>
            </a:stretch>
          </a:blipFill>
        </p:spPr>
      </p:sp>
      <p:grpSp>
        <p:nvGrpSpPr>
          <p:cNvPr id="8" name="Group 8"/>
          <p:cNvGrpSpPr/>
          <p:nvPr/>
        </p:nvGrpSpPr>
        <p:grpSpPr>
          <a:xfrm>
            <a:off x="0" y="10115550"/>
            <a:ext cx="18288000" cy="171450"/>
            <a:chOff x="0" y="0"/>
            <a:chExt cx="24384000" cy="228600"/>
          </a:xfrm>
        </p:grpSpPr>
        <p:sp>
          <p:nvSpPr>
            <p:cNvPr id="9" name="Freeform 9"/>
            <p:cNvSpPr/>
            <p:nvPr/>
          </p:nvSpPr>
          <p:spPr>
            <a:xfrm>
              <a:off x="0" y="0"/>
              <a:ext cx="24384000" cy="228600"/>
            </a:xfrm>
            <a:custGeom>
              <a:avLst/>
              <a:gdLst/>
              <a:ahLst/>
              <a:cxnLst/>
              <a:rect l="l" t="t" r="r" b="b"/>
              <a:pathLst>
                <a:path w="24384000" h="228600">
                  <a:moveTo>
                    <a:pt x="24384000" y="0"/>
                  </a:moveTo>
                  <a:lnTo>
                    <a:pt x="0" y="0"/>
                  </a:lnTo>
                  <a:lnTo>
                    <a:pt x="0" y="228600"/>
                  </a:lnTo>
                  <a:lnTo>
                    <a:pt x="24384000" y="228600"/>
                  </a:lnTo>
                  <a:lnTo>
                    <a:pt x="24384000" y="0"/>
                  </a:lnTo>
                  <a:close/>
                </a:path>
              </a:pathLst>
            </a:custGeom>
            <a:solidFill>
              <a:srgbClr val="D2222A"/>
            </a:solidFill>
          </p:spPr>
        </p:sp>
      </p:grpSp>
      <p:grpSp>
        <p:nvGrpSpPr>
          <p:cNvPr id="10" name="Group 10"/>
          <p:cNvGrpSpPr/>
          <p:nvPr/>
        </p:nvGrpSpPr>
        <p:grpSpPr>
          <a:xfrm>
            <a:off x="6867324" y="2147759"/>
            <a:ext cx="4315628" cy="1564578"/>
            <a:chOff x="0" y="0"/>
            <a:chExt cx="6997275" cy="2536775"/>
          </a:xfrm>
        </p:grpSpPr>
        <p:sp>
          <p:nvSpPr>
            <p:cNvPr id="11" name="Freeform 11"/>
            <p:cNvSpPr/>
            <p:nvPr/>
          </p:nvSpPr>
          <p:spPr>
            <a:xfrm>
              <a:off x="0" y="0"/>
              <a:ext cx="6804556" cy="2272687"/>
            </a:xfrm>
            <a:custGeom>
              <a:avLst/>
              <a:gdLst/>
              <a:ahLst/>
              <a:cxnLst/>
              <a:rect l="l" t="t" r="r" b="b"/>
              <a:pathLst>
                <a:path w="6804556" h="2272687">
                  <a:moveTo>
                    <a:pt x="0" y="0"/>
                  </a:moveTo>
                  <a:lnTo>
                    <a:pt x="6804556" y="0"/>
                  </a:lnTo>
                  <a:lnTo>
                    <a:pt x="6804556" y="2272687"/>
                  </a:lnTo>
                  <a:lnTo>
                    <a:pt x="0" y="2272687"/>
                  </a:lnTo>
                  <a:close/>
                </a:path>
              </a:pathLst>
            </a:custGeom>
            <a:solidFill>
              <a:srgbClr val="000000">
                <a:alpha val="0"/>
              </a:srgbClr>
            </a:solidFill>
          </p:spPr>
        </p:sp>
        <p:sp>
          <p:nvSpPr>
            <p:cNvPr id="12" name="TextBox 12"/>
            <p:cNvSpPr txBox="1"/>
            <p:nvPr/>
          </p:nvSpPr>
          <p:spPr>
            <a:xfrm>
              <a:off x="192719" y="121214"/>
              <a:ext cx="6804556" cy="2415561"/>
            </a:xfrm>
            <a:prstGeom prst="rect">
              <a:avLst/>
            </a:prstGeom>
          </p:spPr>
          <p:txBody>
            <a:bodyPr lIns="0" tIns="0" rIns="0" bIns="0" rtlCol="0" anchor="t"/>
            <a:lstStyle/>
            <a:p>
              <a:pPr algn="l">
                <a:lnSpc>
                  <a:spcPts val="8640"/>
                </a:lnSpc>
              </a:pPr>
              <a:r>
                <a:rPr lang="en-US" sz="7200" b="1" spc="-18" dirty="0">
                  <a:latin typeface="Times New Roman Bold"/>
                  <a:ea typeface="Times New Roman Bold"/>
                  <a:cs typeface="Times New Roman Bold"/>
                  <a:sym typeface="Times New Roman Bold"/>
                </a:rPr>
                <a:t>Objectives</a:t>
              </a:r>
            </a:p>
          </p:txBody>
        </p:sp>
      </p:grpSp>
      <p:grpSp>
        <p:nvGrpSpPr>
          <p:cNvPr id="13" name="Group 13"/>
          <p:cNvGrpSpPr/>
          <p:nvPr/>
        </p:nvGrpSpPr>
        <p:grpSpPr>
          <a:xfrm>
            <a:off x="17115852" y="9628346"/>
            <a:ext cx="189546" cy="364806"/>
            <a:chOff x="0" y="0"/>
            <a:chExt cx="252728" cy="486408"/>
          </a:xfrm>
        </p:grpSpPr>
        <p:sp>
          <p:nvSpPr>
            <p:cNvPr id="14" name="Freeform 14"/>
            <p:cNvSpPr/>
            <p:nvPr/>
          </p:nvSpPr>
          <p:spPr>
            <a:xfrm>
              <a:off x="0" y="0"/>
              <a:ext cx="252728" cy="486408"/>
            </a:xfrm>
            <a:custGeom>
              <a:avLst/>
              <a:gdLst/>
              <a:ahLst/>
              <a:cxnLst/>
              <a:rect l="l" t="t" r="r" b="b"/>
              <a:pathLst>
                <a:path w="252728" h="486408">
                  <a:moveTo>
                    <a:pt x="0" y="0"/>
                  </a:moveTo>
                  <a:lnTo>
                    <a:pt x="252728" y="0"/>
                  </a:lnTo>
                  <a:lnTo>
                    <a:pt x="252728" y="486408"/>
                  </a:lnTo>
                  <a:lnTo>
                    <a:pt x="0" y="486408"/>
                  </a:lnTo>
                  <a:close/>
                </a:path>
              </a:pathLst>
            </a:custGeom>
            <a:solidFill>
              <a:srgbClr val="000000">
                <a:alpha val="0"/>
              </a:srgbClr>
            </a:solidFill>
          </p:spPr>
        </p:sp>
        <p:sp>
          <p:nvSpPr>
            <p:cNvPr id="15" name="TextBox 15"/>
            <p:cNvSpPr txBox="1"/>
            <p:nvPr/>
          </p:nvSpPr>
          <p:spPr>
            <a:xfrm>
              <a:off x="0" y="-47625"/>
              <a:ext cx="252728" cy="534033"/>
            </a:xfrm>
            <a:prstGeom prst="rect">
              <a:avLst/>
            </a:prstGeom>
          </p:spPr>
          <p:txBody>
            <a:bodyPr lIns="0" tIns="0" rIns="0" bIns="0" rtlCol="0" anchor="t"/>
            <a:lstStyle/>
            <a:p>
              <a:pPr algn="l">
                <a:lnSpc>
                  <a:spcPts val="2520"/>
                </a:lnSpc>
              </a:pPr>
              <a:r>
                <a:rPr lang="en-US" sz="2100" spc="-75">
                  <a:solidFill>
                    <a:srgbClr val="000000"/>
                  </a:solidFill>
                  <a:latin typeface="Arial"/>
                  <a:ea typeface="Arial"/>
                  <a:cs typeface="Arial"/>
                  <a:sym typeface="Arial"/>
                </a:rPr>
                <a:t>8</a:t>
              </a:r>
            </a:p>
          </p:txBody>
        </p:sp>
      </p:grpSp>
      <p:sp>
        <p:nvSpPr>
          <p:cNvPr id="16" name="TextBox 16"/>
          <p:cNvSpPr txBox="1"/>
          <p:nvPr/>
        </p:nvSpPr>
        <p:spPr>
          <a:xfrm>
            <a:off x="934425" y="4176585"/>
            <a:ext cx="16181427" cy="3583940"/>
          </a:xfrm>
          <a:prstGeom prst="rect">
            <a:avLst/>
          </a:prstGeom>
        </p:spPr>
        <p:txBody>
          <a:bodyPr lIns="0" tIns="0" rIns="0" bIns="0" rtlCol="0" anchor="t">
            <a:spAutoFit/>
          </a:bodyPr>
          <a:lstStyle/>
          <a:p>
            <a:pPr marL="626109" lvl="1" indent="-313054" algn="just">
              <a:lnSpc>
                <a:spcPts val="4059"/>
              </a:lnSpc>
              <a:buFont typeface="Arial"/>
              <a:buChar char="•"/>
            </a:pPr>
            <a:r>
              <a:rPr lang="en-US" sz="2899">
                <a:solidFill>
                  <a:srgbClr val="000000"/>
                </a:solidFill>
                <a:latin typeface="Canva Sans"/>
                <a:ea typeface="Canva Sans"/>
                <a:cs typeface="Canva Sans"/>
                <a:sym typeface="Canva Sans"/>
              </a:rPr>
              <a:t>To develop a risk classification model for life insurance based on health factors.</a:t>
            </a:r>
          </a:p>
          <a:p>
            <a:pPr algn="just">
              <a:lnSpc>
                <a:spcPts val="4059"/>
              </a:lnSpc>
            </a:pPr>
            <a:endParaRPr lang="en-US" sz="2899">
              <a:solidFill>
                <a:srgbClr val="000000"/>
              </a:solidFill>
              <a:latin typeface="Canva Sans"/>
              <a:ea typeface="Canva Sans"/>
              <a:cs typeface="Canva Sans"/>
              <a:sym typeface="Canva Sans"/>
            </a:endParaRPr>
          </a:p>
          <a:p>
            <a:pPr marL="626109" lvl="1" indent="-313054" algn="just">
              <a:lnSpc>
                <a:spcPts val="4059"/>
              </a:lnSpc>
              <a:buFont typeface="Arial"/>
              <a:buChar char="•"/>
            </a:pPr>
            <a:r>
              <a:rPr lang="en-US" sz="2899">
                <a:solidFill>
                  <a:srgbClr val="000000"/>
                </a:solidFill>
                <a:latin typeface="Canva Sans"/>
                <a:ea typeface="Canva Sans"/>
                <a:cs typeface="Canva Sans"/>
                <a:sym typeface="Canva Sans"/>
              </a:rPr>
              <a:t>To analyze the impact of medical conditions on life expectancy and insurance premiums</a:t>
            </a:r>
          </a:p>
          <a:p>
            <a:pPr algn="just">
              <a:lnSpc>
                <a:spcPts val="4059"/>
              </a:lnSpc>
            </a:pPr>
            <a:endParaRPr lang="en-US" sz="2899">
              <a:solidFill>
                <a:srgbClr val="000000"/>
              </a:solidFill>
              <a:latin typeface="Canva Sans"/>
              <a:ea typeface="Canva Sans"/>
              <a:cs typeface="Canva Sans"/>
              <a:sym typeface="Canva Sans"/>
            </a:endParaRPr>
          </a:p>
          <a:p>
            <a:pPr marL="626109" lvl="1" indent="-313054" algn="just">
              <a:lnSpc>
                <a:spcPts val="4059"/>
              </a:lnSpc>
              <a:buFont typeface="Arial"/>
              <a:buChar char="•"/>
            </a:pPr>
            <a:r>
              <a:rPr lang="en-US" sz="2899">
                <a:solidFill>
                  <a:srgbClr val="000000"/>
                </a:solidFill>
                <a:latin typeface="Canva Sans"/>
                <a:ea typeface="Canva Sans"/>
                <a:cs typeface="Canva Sans"/>
                <a:sym typeface="Canva Sans"/>
              </a:rPr>
              <a:t>To enhance risk assessment accuracy using data-driven methods and AI.</a:t>
            </a:r>
          </a:p>
          <a:p>
            <a:pPr algn="just">
              <a:lnSpc>
                <a:spcPts val="4059"/>
              </a:lnSpc>
            </a:pPr>
            <a:endParaRPr lang="en-US" sz="2899">
              <a:solidFill>
                <a:srgbClr val="000000"/>
              </a:solidFill>
              <a:latin typeface="Canva Sans"/>
              <a:ea typeface="Canva Sans"/>
              <a:cs typeface="Canva Sans"/>
              <a:sym typeface="Canva Sans"/>
            </a:endParaRPr>
          </a:p>
          <a:p>
            <a:pPr marL="626109" lvl="1" indent="-313054" algn="just">
              <a:lnSpc>
                <a:spcPts val="4059"/>
              </a:lnSpc>
              <a:buFont typeface="Arial"/>
              <a:buChar char="•"/>
            </a:pPr>
            <a:r>
              <a:rPr lang="en-US" sz="2899">
                <a:solidFill>
                  <a:srgbClr val="000000"/>
                </a:solidFill>
                <a:latin typeface="Canva Sans"/>
                <a:ea typeface="Canva Sans"/>
                <a:cs typeface="Canva Sans"/>
                <a:sym typeface="Canva Sans"/>
              </a:rPr>
              <a:t>To ensure ethical and regulatory compliance in insurance pricing.</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
            <a:chOff x="0" y="0"/>
            <a:chExt cx="24384000" cy="1371600"/>
          </a:xfrm>
        </p:grpSpPr>
        <p:sp>
          <p:nvSpPr>
            <p:cNvPr id="3" name="Freeform 3"/>
            <p:cNvSpPr/>
            <p:nvPr/>
          </p:nvSpPr>
          <p:spPr>
            <a:xfrm>
              <a:off x="0" y="0"/>
              <a:ext cx="24384000" cy="1371600"/>
            </a:xfrm>
            <a:custGeom>
              <a:avLst/>
              <a:gdLst/>
              <a:ahLst/>
              <a:cxnLst/>
              <a:rect l="l" t="t" r="r" b="b"/>
              <a:pathLst>
                <a:path w="24384000" h="1371600">
                  <a:moveTo>
                    <a:pt x="24384000" y="0"/>
                  </a:moveTo>
                  <a:lnTo>
                    <a:pt x="0" y="0"/>
                  </a:lnTo>
                  <a:lnTo>
                    <a:pt x="0" y="1371600"/>
                  </a:lnTo>
                  <a:lnTo>
                    <a:pt x="24384000" y="1371600"/>
                  </a:lnTo>
                  <a:lnTo>
                    <a:pt x="24384000" y="0"/>
                  </a:lnTo>
                  <a:close/>
                </a:path>
              </a:pathLst>
            </a:custGeom>
            <a:solidFill>
              <a:srgbClr val="D2222A"/>
            </a:solidFill>
          </p:spPr>
        </p:sp>
      </p:grpSp>
      <p:sp>
        <p:nvSpPr>
          <p:cNvPr id="4" name="Freeform 4"/>
          <p:cNvSpPr/>
          <p:nvPr/>
        </p:nvSpPr>
        <p:spPr>
          <a:xfrm>
            <a:off x="3600450" y="657225"/>
            <a:ext cx="3543300" cy="657225"/>
          </a:xfrm>
          <a:custGeom>
            <a:avLst/>
            <a:gdLst/>
            <a:ahLst/>
            <a:cxnLst/>
            <a:rect l="l" t="t" r="r" b="b"/>
            <a:pathLst>
              <a:path w="3543300" h="657225">
                <a:moveTo>
                  <a:pt x="0" y="0"/>
                </a:moveTo>
                <a:lnTo>
                  <a:pt x="3543300" y="0"/>
                </a:lnTo>
                <a:lnTo>
                  <a:pt x="3543300" y="657225"/>
                </a:lnTo>
                <a:lnTo>
                  <a:pt x="0" y="657225"/>
                </a:lnTo>
                <a:lnTo>
                  <a:pt x="0" y="0"/>
                </a:lnTo>
                <a:close/>
              </a:path>
            </a:pathLst>
          </a:custGeom>
          <a:blipFill>
            <a:blip r:embed="rId2"/>
            <a:stretch>
              <a:fillRect/>
            </a:stretch>
          </a:blipFill>
        </p:spPr>
      </p:sp>
      <p:sp>
        <p:nvSpPr>
          <p:cNvPr id="5" name="Freeform 5"/>
          <p:cNvSpPr/>
          <p:nvPr/>
        </p:nvSpPr>
        <p:spPr>
          <a:xfrm>
            <a:off x="0" y="171354"/>
            <a:ext cx="7551039" cy="1707356"/>
          </a:xfrm>
          <a:custGeom>
            <a:avLst/>
            <a:gdLst/>
            <a:ahLst/>
            <a:cxnLst/>
            <a:rect l="l" t="t" r="r" b="b"/>
            <a:pathLst>
              <a:path w="7551039" h="1707356">
                <a:moveTo>
                  <a:pt x="0" y="0"/>
                </a:moveTo>
                <a:lnTo>
                  <a:pt x="7551039" y="0"/>
                </a:lnTo>
                <a:lnTo>
                  <a:pt x="7551039" y="1707356"/>
                </a:lnTo>
                <a:lnTo>
                  <a:pt x="0" y="1707356"/>
                </a:lnTo>
                <a:lnTo>
                  <a:pt x="0" y="0"/>
                </a:lnTo>
                <a:close/>
              </a:path>
            </a:pathLst>
          </a:custGeom>
          <a:blipFill>
            <a:blip r:embed="rId3"/>
            <a:stretch>
              <a:fillRect t="-67" b="-67"/>
            </a:stretch>
          </a:blipFill>
        </p:spPr>
      </p:sp>
      <p:sp>
        <p:nvSpPr>
          <p:cNvPr id="6" name="Freeform 6"/>
          <p:cNvSpPr/>
          <p:nvPr/>
        </p:nvSpPr>
        <p:spPr>
          <a:xfrm>
            <a:off x="0" y="257175"/>
            <a:ext cx="7472361" cy="1457325"/>
          </a:xfrm>
          <a:custGeom>
            <a:avLst/>
            <a:gdLst/>
            <a:ahLst/>
            <a:cxnLst/>
            <a:rect l="l" t="t" r="r" b="b"/>
            <a:pathLst>
              <a:path w="7472361" h="1457325">
                <a:moveTo>
                  <a:pt x="0" y="0"/>
                </a:moveTo>
                <a:lnTo>
                  <a:pt x="7472361" y="0"/>
                </a:lnTo>
                <a:lnTo>
                  <a:pt x="7472361" y="1457325"/>
                </a:lnTo>
                <a:lnTo>
                  <a:pt x="0" y="1457325"/>
                </a:lnTo>
                <a:lnTo>
                  <a:pt x="0" y="0"/>
                </a:lnTo>
                <a:close/>
              </a:path>
            </a:pathLst>
          </a:custGeom>
          <a:blipFill>
            <a:blip r:embed="rId4"/>
            <a:stretch>
              <a:fillRect l="-31" r="-31"/>
            </a:stretch>
          </a:blipFill>
        </p:spPr>
      </p:sp>
      <p:sp>
        <p:nvSpPr>
          <p:cNvPr id="7" name="Freeform 7"/>
          <p:cNvSpPr/>
          <p:nvPr/>
        </p:nvSpPr>
        <p:spPr>
          <a:xfrm>
            <a:off x="2586038" y="614362"/>
            <a:ext cx="4829175" cy="742950"/>
          </a:xfrm>
          <a:custGeom>
            <a:avLst/>
            <a:gdLst/>
            <a:ahLst/>
            <a:cxnLst/>
            <a:rect l="l" t="t" r="r" b="b"/>
            <a:pathLst>
              <a:path w="4829175" h="742950">
                <a:moveTo>
                  <a:pt x="0" y="0"/>
                </a:moveTo>
                <a:lnTo>
                  <a:pt x="4829174" y="0"/>
                </a:lnTo>
                <a:lnTo>
                  <a:pt x="4829174" y="742950"/>
                </a:lnTo>
                <a:lnTo>
                  <a:pt x="0" y="742950"/>
                </a:lnTo>
                <a:lnTo>
                  <a:pt x="0" y="0"/>
                </a:lnTo>
                <a:close/>
              </a:path>
            </a:pathLst>
          </a:custGeom>
          <a:blipFill>
            <a:blip r:embed="rId5"/>
            <a:stretch>
              <a:fillRect l="-126" r="-126"/>
            </a:stretch>
          </a:blipFill>
        </p:spPr>
      </p:sp>
      <p:grpSp>
        <p:nvGrpSpPr>
          <p:cNvPr id="8" name="Group 8"/>
          <p:cNvGrpSpPr/>
          <p:nvPr/>
        </p:nvGrpSpPr>
        <p:grpSpPr>
          <a:xfrm>
            <a:off x="0" y="10115550"/>
            <a:ext cx="18288000" cy="171450"/>
            <a:chOff x="0" y="0"/>
            <a:chExt cx="24384000" cy="228600"/>
          </a:xfrm>
        </p:grpSpPr>
        <p:sp>
          <p:nvSpPr>
            <p:cNvPr id="9" name="Freeform 9"/>
            <p:cNvSpPr/>
            <p:nvPr/>
          </p:nvSpPr>
          <p:spPr>
            <a:xfrm>
              <a:off x="0" y="0"/>
              <a:ext cx="24384000" cy="228600"/>
            </a:xfrm>
            <a:custGeom>
              <a:avLst/>
              <a:gdLst/>
              <a:ahLst/>
              <a:cxnLst/>
              <a:rect l="l" t="t" r="r" b="b"/>
              <a:pathLst>
                <a:path w="24384000" h="228600">
                  <a:moveTo>
                    <a:pt x="24384000" y="0"/>
                  </a:moveTo>
                  <a:lnTo>
                    <a:pt x="0" y="0"/>
                  </a:lnTo>
                  <a:lnTo>
                    <a:pt x="0" y="228600"/>
                  </a:lnTo>
                  <a:lnTo>
                    <a:pt x="24384000" y="228600"/>
                  </a:lnTo>
                  <a:lnTo>
                    <a:pt x="24384000" y="0"/>
                  </a:lnTo>
                  <a:close/>
                </a:path>
              </a:pathLst>
            </a:custGeom>
            <a:solidFill>
              <a:srgbClr val="D2222A"/>
            </a:solidFill>
          </p:spPr>
        </p:sp>
      </p:grpSp>
      <p:sp>
        <p:nvSpPr>
          <p:cNvPr id="11" name="Freeform 11"/>
          <p:cNvSpPr/>
          <p:nvPr/>
        </p:nvSpPr>
        <p:spPr>
          <a:xfrm>
            <a:off x="5912424" y="1836801"/>
            <a:ext cx="6463152" cy="1401699"/>
          </a:xfrm>
          <a:custGeom>
            <a:avLst/>
            <a:gdLst/>
            <a:ahLst/>
            <a:cxnLst/>
            <a:rect l="l" t="t" r="r" b="b"/>
            <a:pathLst>
              <a:path w="11090710" h="1868932">
                <a:moveTo>
                  <a:pt x="0" y="0"/>
                </a:moveTo>
                <a:lnTo>
                  <a:pt x="11090710" y="0"/>
                </a:lnTo>
                <a:lnTo>
                  <a:pt x="11090710" y="1868932"/>
                </a:lnTo>
                <a:lnTo>
                  <a:pt x="0" y="1868932"/>
                </a:lnTo>
                <a:close/>
              </a:path>
            </a:pathLst>
          </a:custGeom>
          <a:solidFill>
            <a:srgbClr val="000000">
              <a:alpha val="0"/>
            </a:srgbClr>
          </a:solidFill>
        </p:spPr>
        <p:txBody>
          <a:bodyPr/>
          <a:lstStyle/>
          <a:p>
            <a:r>
              <a:rPr lang="en-US" sz="7200" b="1" dirty="0">
                <a:latin typeface="Times New Roman Bold"/>
                <a:ea typeface="Times New Roman Bold"/>
                <a:cs typeface="Times New Roman Bold"/>
                <a:sym typeface="Times New Roman Bold"/>
              </a:rPr>
              <a:t>Data Collection</a:t>
            </a:r>
          </a:p>
          <a:p>
            <a:endParaRPr lang="en-IN" sz="7200" dirty="0"/>
          </a:p>
        </p:txBody>
      </p:sp>
      <p:grpSp>
        <p:nvGrpSpPr>
          <p:cNvPr id="13" name="Group 13"/>
          <p:cNvGrpSpPr/>
          <p:nvPr/>
        </p:nvGrpSpPr>
        <p:grpSpPr>
          <a:xfrm>
            <a:off x="17115852" y="9628346"/>
            <a:ext cx="189546" cy="364806"/>
            <a:chOff x="0" y="0"/>
            <a:chExt cx="252728" cy="486408"/>
          </a:xfrm>
        </p:grpSpPr>
        <p:sp>
          <p:nvSpPr>
            <p:cNvPr id="14" name="Freeform 14"/>
            <p:cNvSpPr/>
            <p:nvPr/>
          </p:nvSpPr>
          <p:spPr>
            <a:xfrm>
              <a:off x="0" y="0"/>
              <a:ext cx="252728" cy="486408"/>
            </a:xfrm>
            <a:custGeom>
              <a:avLst/>
              <a:gdLst/>
              <a:ahLst/>
              <a:cxnLst/>
              <a:rect l="l" t="t" r="r" b="b"/>
              <a:pathLst>
                <a:path w="252728" h="486408">
                  <a:moveTo>
                    <a:pt x="0" y="0"/>
                  </a:moveTo>
                  <a:lnTo>
                    <a:pt x="252728" y="0"/>
                  </a:lnTo>
                  <a:lnTo>
                    <a:pt x="252728" y="486408"/>
                  </a:lnTo>
                  <a:lnTo>
                    <a:pt x="0" y="486408"/>
                  </a:lnTo>
                  <a:close/>
                </a:path>
              </a:pathLst>
            </a:custGeom>
            <a:solidFill>
              <a:srgbClr val="000000">
                <a:alpha val="0"/>
              </a:srgbClr>
            </a:solidFill>
          </p:spPr>
        </p:sp>
        <p:sp>
          <p:nvSpPr>
            <p:cNvPr id="15" name="TextBox 15"/>
            <p:cNvSpPr txBox="1"/>
            <p:nvPr/>
          </p:nvSpPr>
          <p:spPr>
            <a:xfrm>
              <a:off x="0" y="-47625"/>
              <a:ext cx="252728" cy="534033"/>
            </a:xfrm>
            <a:prstGeom prst="rect">
              <a:avLst/>
            </a:prstGeom>
          </p:spPr>
          <p:txBody>
            <a:bodyPr lIns="0" tIns="0" rIns="0" bIns="0" rtlCol="0" anchor="t"/>
            <a:lstStyle/>
            <a:p>
              <a:pPr algn="l">
                <a:lnSpc>
                  <a:spcPts val="2520"/>
                </a:lnSpc>
              </a:pPr>
              <a:r>
                <a:rPr lang="en-US" sz="2100" spc="-75">
                  <a:solidFill>
                    <a:srgbClr val="000000"/>
                  </a:solidFill>
                  <a:latin typeface="Arial"/>
                  <a:ea typeface="Arial"/>
                  <a:cs typeface="Arial"/>
                  <a:sym typeface="Arial"/>
                </a:rPr>
                <a:t>9</a:t>
              </a:r>
            </a:p>
          </p:txBody>
        </p:sp>
      </p:grpSp>
      <p:sp>
        <p:nvSpPr>
          <p:cNvPr id="16" name="Freeform 16"/>
          <p:cNvSpPr/>
          <p:nvPr/>
        </p:nvSpPr>
        <p:spPr>
          <a:xfrm>
            <a:off x="10939940" y="3280409"/>
            <a:ext cx="5764845" cy="6095966"/>
          </a:xfrm>
          <a:custGeom>
            <a:avLst/>
            <a:gdLst/>
            <a:ahLst/>
            <a:cxnLst/>
            <a:rect l="l" t="t" r="r" b="b"/>
            <a:pathLst>
              <a:path w="5764845" h="6095966">
                <a:moveTo>
                  <a:pt x="0" y="0"/>
                </a:moveTo>
                <a:lnTo>
                  <a:pt x="5764845" y="0"/>
                </a:lnTo>
                <a:lnTo>
                  <a:pt x="5764845" y="6095965"/>
                </a:lnTo>
                <a:lnTo>
                  <a:pt x="0" y="6095965"/>
                </a:lnTo>
                <a:lnTo>
                  <a:pt x="0" y="0"/>
                </a:lnTo>
                <a:close/>
              </a:path>
            </a:pathLst>
          </a:custGeom>
          <a:blipFill>
            <a:blip r:embed="rId6"/>
            <a:stretch>
              <a:fillRect l="-486" r="-2585" b="-500"/>
            </a:stretch>
          </a:blipFill>
          <a:ln w="38100" cap="sq">
            <a:solidFill>
              <a:srgbClr val="000000"/>
            </a:solidFill>
            <a:prstDash val="solid"/>
            <a:miter/>
          </a:ln>
        </p:spPr>
      </p:sp>
      <p:sp>
        <p:nvSpPr>
          <p:cNvPr id="17" name="Freeform 17"/>
          <p:cNvSpPr/>
          <p:nvPr/>
        </p:nvSpPr>
        <p:spPr>
          <a:xfrm>
            <a:off x="1461898" y="5804004"/>
            <a:ext cx="7820405" cy="3245468"/>
          </a:xfrm>
          <a:custGeom>
            <a:avLst/>
            <a:gdLst/>
            <a:ahLst/>
            <a:cxnLst/>
            <a:rect l="l" t="t" r="r" b="b"/>
            <a:pathLst>
              <a:path w="7820405" h="3245468">
                <a:moveTo>
                  <a:pt x="0" y="0"/>
                </a:moveTo>
                <a:lnTo>
                  <a:pt x="7820404" y="0"/>
                </a:lnTo>
                <a:lnTo>
                  <a:pt x="7820404" y="3245468"/>
                </a:lnTo>
                <a:lnTo>
                  <a:pt x="0" y="3245468"/>
                </a:lnTo>
                <a:lnTo>
                  <a:pt x="0" y="0"/>
                </a:lnTo>
                <a:close/>
              </a:path>
            </a:pathLst>
          </a:custGeom>
          <a:blipFill>
            <a:blip r:embed="rId7"/>
            <a:stretch>
              <a:fillRect/>
            </a:stretch>
          </a:blipFill>
          <a:ln w="38100" cap="sq">
            <a:solidFill>
              <a:srgbClr val="000000"/>
            </a:solidFill>
            <a:prstDash val="solid"/>
            <a:miter/>
          </a:ln>
        </p:spPr>
      </p:sp>
      <p:sp>
        <p:nvSpPr>
          <p:cNvPr id="18" name="Freeform 18"/>
          <p:cNvSpPr/>
          <p:nvPr/>
        </p:nvSpPr>
        <p:spPr>
          <a:xfrm>
            <a:off x="1461898" y="3804283"/>
            <a:ext cx="7820405" cy="1837795"/>
          </a:xfrm>
          <a:custGeom>
            <a:avLst/>
            <a:gdLst/>
            <a:ahLst/>
            <a:cxnLst/>
            <a:rect l="l" t="t" r="r" b="b"/>
            <a:pathLst>
              <a:path w="7820405" h="1837795">
                <a:moveTo>
                  <a:pt x="0" y="0"/>
                </a:moveTo>
                <a:lnTo>
                  <a:pt x="7820404" y="0"/>
                </a:lnTo>
                <a:lnTo>
                  <a:pt x="7820404" y="1837796"/>
                </a:lnTo>
                <a:lnTo>
                  <a:pt x="0" y="1837796"/>
                </a:lnTo>
                <a:lnTo>
                  <a:pt x="0" y="0"/>
                </a:lnTo>
                <a:close/>
              </a:path>
            </a:pathLst>
          </a:custGeom>
          <a:blipFill>
            <a:blip r:embed="rId8"/>
            <a:stretch>
              <a:fillRect/>
            </a:stretch>
          </a:blipFill>
          <a:ln w="38100" cap="sq">
            <a:solidFill>
              <a:srgbClr val="000000"/>
            </a:solidFill>
            <a:prstDash val="solid"/>
            <a:miter/>
          </a:ln>
        </p:spPr>
      </p:sp>
      <p:sp>
        <p:nvSpPr>
          <p:cNvPr id="19" name="AutoShape 19"/>
          <p:cNvSpPr/>
          <p:nvPr/>
        </p:nvSpPr>
        <p:spPr>
          <a:xfrm flipV="1">
            <a:off x="10111121" y="4295087"/>
            <a:ext cx="0" cy="4292281"/>
          </a:xfrm>
          <a:prstGeom prst="line">
            <a:avLst/>
          </a:prstGeom>
          <a:ln w="38100" cap="flat">
            <a:solidFill>
              <a:srgbClr val="737373"/>
            </a:solidFill>
            <a:prstDash val="lgDash"/>
            <a:headEnd type="none" w="sm" len="sm"/>
            <a:tailEnd type="none" w="sm" len="sm"/>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
            <a:chOff x="0" y="0"/>
            <a:chExt cx="24384000" cy="1371600"/>
          </a:xfrm>
        </p:grpSpPr>
        <p:sp>
          <p:nvSpPr>
            <p:cNvPr id="3" name="Freeform 3"/>
            <p:cNvSpPr/>
            <p:nvPr/>
          </p:nvSpPr>
          <p:spPr>
            <a:xfrm>
              <a:off x="0" y="0"/>
              <a:ext cx="24384000" cy="1371600"/>
            </a:xfrm>
            <a:custGeom>
              <a:avLst/>
              <a:gdLst/>
              <a:ahLst/>
              <a:cxnLst/>
              <a:rect l="l" t="t" r="r" b="b"/>
              <a:pathLst>
                <a:path w="24384000" h="1371600">
                  <a:moveTo>
                    <a:pt x="24384000" y="0"/>
                  </a:moveTo>
                  <a:lnTo>
                    <a:pt x="0" y="0"/>
                  </a:lnTo>
                  <a:lnTo>
                    <a:pt x="0" y="1371600"/>
                  </a:lnTo>
                  <a:lnTo>
                    <a:pt x="24384000" y="1371600"/>
                  </a:lnTo>
                  <a:lnTo>
                    <a:pt x="24384000" y="0"/>
                  </a:lnTo>
                  <a:close/>
                </a:path>
              </a:pathLst>
            </a:custGeom>
            <a:solidFill>
              <a:srgbClr val="D2222A"/>
            </a:solidFill>
          </p:spPr>
        </p:sp>
      </p:grpSp>
      <p:sp>
        <p:nvSpPr>
          <p:cNvPr id="4" name="Freeform 4"/>
          <p:cNvSpPr/>
          <p:nvPr/>
        </p:nvSpPr>
        <p:spPr>
          <a:xfrm>
            <a:off x="3600450" y="657225"/>
            <a:ext cx="3543300" cy="657225"/>
          </a:xfrm>
          <a:custGeom>
            <a:avLst/>
            <a:gdLst/>
            <a:ahLst/>
            <a:cxnLst/>
            <a:rect l="l" t="t" r="r" b="b"/>
            <a:pathLst>
              <a:path w="3543300" h="657225">
                <a:moveTo>
                  <a:pt x="0" y="0"/>
                </a:moveTo>
                <a:lnTo>
                  <a:pt x="3543300" y="0"/>
                </a:lnTo>
                <a:lnTo>
                  <a:pt x="3543300" y="657225"/>
                </a:lnTo>
                <a:lnTo>
                  <a:pt x="0" y="657225"/>
                </a:lnTo>
                <a:lnTo>
                  <a:pt x="0" y="0"/>
                </a:lnTo>
                <a:close/>
              </a:path>
            </a:pathLst>
          </a:custGeom>
          <a:blipFill>
            <a:blip r:embed="rId2"/>
            <a:stretch>
              <a:fillRect/>
            </a:stretch>
          </a:blipFill>
        </p:spPr>
      </p:sp>
      <p:sp>
        <p:nvSpPr>
          <p:cNvPr id="5" name="Freeform 5"/>
          <p:cNvSpPr/>
          <p:nvPr/>
        </p:nvSpPr>
        <p:spPr>
          <a:xfrm>
            <a:off x="0" y="171354"/>
            <a:ext cx="7551039" cy="1707356"/>
          </a:xfrm>
          <a:custGeom>
            <a:avLst/>
            <a:gdLst/>
            <a:ahLst/>
            <a:cxnLst/>
            <a:rect l="l" t="t" r="r" b="b"/>
            <a:pathLst>
              <a:path w="7551039" h="1707356">
                <a:moveTo>
                  <a:pt x="0" y="0"/>
                </a:moveTo>
                <a:lnTo>
                  <a:pt x="7551039" y="0"/>
                </a:lnTo>
                <a:lnTo>
                  <a:pt x="7551039" y="1707356"/>
                </a:lnTo>
                <a:lnTo>
                  <a:pt x="0" y="1707356"/>
                </a:lnTo>
                <a:lnTo>
                  <a:pt x="0" y="0"/>
                </a:lnTo>
                <a:close/>
              </a:path>
            </a:pathLst>
          </a:custGeom>
          <a:blipFill>
            <a:blip r:embed="rId3"/>
            <a:stretch>
              <a:fillRect t="-67" b="-67"/>
            </a:stretch>
          </a:blipFill>
        </p:spPr>
      </p:sp>
      <p:sp>
        <p:nvSpPr>
          <p:cNvPr id="6" name="Freeform 6"/>
          <p:cNvSpPr/>
          <p:nvPr/>
        </p:nvSpPr>
        <p:spPr>
          <a:xfrm>
            <a:off x="0" y="257175"/>
            <a:ext cx="7472361" cy="1457325"/>
          </a:xfrm>
          <a:custGeom>
            <a:avLst/>
            <a:gdLst/>
            <a:ahLst/>
            <a:cxnLst/>
            <a:rect l="l" t="t" r="r" b="b"/>
            <a:pathLst>
              <a:path w="7472361" h="1457325">
                <a:moveTo>
                  <a:pt x="0" y="0"/>
                </a:moveTo>
                <a:lnTo>
                  <a:pt x="7472361" y="0"/>
                </a:lnTo>
                <a:lnTo>
                  <a:pt x="7472361" y="1457325"/>
                </a:lnTo>
                <a:lnTo>
                  <a:pt x="0" y="1457325"/>
                </a:lnTo>
                <a:lnTo>
                  <a:pt x="0" y="0"/>
                </a:lnTo>
                <a:close/>
              </a:path>
            </a:pathLst>
          </a:custGeom>
          <a:blipFill>
            <a:blip r:embed="rId4"/>
            <a:stretch>
              <a:fillRect l="-31" r="-31"/>
            </a:stretch>
          </a:blipFill>
        </p:spPr>
      </p:sp>
      <p:sp>
        <p:nvSpPr>
          <p:cNvPr id="7" name="Freeform 7"/>
          <p:cNvSpPr/>
          <p:nvPr/>
        </p:nvSpPr>
        <p:spPr>
          <a:xfrm>
            <a:off x="2586038" y="614362"/>
            <a:ext cx="4829175" cy="742950"/>
          </a:xfrm>
          <a:custGeom>
            <a:avLst/>
            <a:gdLst/>
            <a:ahLst/>
            <a:cxnLst/>
            <a:rect l="l" t="t" r="r" b="b"/>
            <a:pathLst>
              <a:path w="4829175" h="742950">
                <a:moveTo>
                  <a:pt x="0" y="0"/>
                </a:moveTo>
                <a:lnTo>
                  <a:pt x="4829174" y="0"/>
                </a:lnTo>
                <a:lnTo>
                  <a:pt x="4829174" y="742950"/>
                </a:lnTo>
                <a:lnTo>
                  <a:pt x="0" y="742950"/>
                </a:lnTo>
                <a:lnTo>
                  <a:pt x="0" y="0"/>
                </a:lnTo>
                <a:close/>
              </a:path>
            </a:pathLst>
          </a:custGeom>
          <a:blipFill>
            <a:blip r:embed="rId5"/>
            <a:stretch>
              <a:fillRect l="-126" r="-126"/>
            </a:stretch>
          </a:blipFill>
        </p:spPr>
      </p:sp>
      <p:grpSp>
        <p:nvGrpSpPr>
          <p:cNvPr id="8" name="Group 8"/>
          <p:cNvGrpSpPr/>
          <p:nvPr/>
        </p:nvGrpSpPr>
        <p:grpSpPr>
          <a:xfrm>
            <a:off x="0" y="10115550"/>
            <a:ext cx="18288000" cy="171450"/>
            <a:chOff x="0" y="0"/>
            <a:chExt cx="24384000" cy="228600"/>
          </a:xfrm>
        </p:grpSpPr>
        <p:sp>
          <p:nvSpPr>
            <p:cNvPr id="9" name="Freeform 9"/>
            <p:cNvSpPr/>
            <p:nvPr/>
          </p:nvSpPr>
          <p:spPr>
            <a:xfrm>
              <a:off x="0" y="0"/>
              <a:ext cx="24384000" cy="228600"/>
            </a:xfrm>
            <a:custGeom>
              <a:avLst/>
              <a:gdLst/>
              <a:ahLst/>
              <a:cxnLst/>
              <a:rect l="l" t="t" r="r" b="b"/>
              <a:pathLst>
                <a:path w="24384000" h="228600">
                  <a:moveTo>
                    <a:pt x="24384000" y="0"/>
                  </a:moveTo>
                  <a:lnTo>
                    <a:pt x="0" y="0"/>
                  </a:lnTo>
                  <a:lnTo>
                    <a:pt x="0" y="228600"/>
                  </a:lnTo>
                  <a:lnTo>
                    <a:pt x="24384000" y="228600"/>
                  </a:lnTo>
                  <a:lnTo>
                    <a:pt x="24384000" y="0"/>
                  </a:lnTo>
                  <a:close/>
                </a:path>
              </a:pathLst>
            </a:custGeom>
            <a:solidFill>
              <a:srgbClr val="D2222A"/>
            </a:solidFill>
          </p:spPr>
        </p:sp>
      </p:grpSp>
      <p:grpSp>
        <p:nvGrpSpPr>
          <p:cNvPr id="10" name="Group 10"/>
          <p:cNvGrpSpPr/>
          <p:nvPr/>
        </p:nvGrpSpPr>
        <p:grpSpPr>
          <a:xfrm>
            <a:off x="16967835" y="9628346"/>
            <a:ext cx="324802" cy="364806"/>
            <a:chOff x="0" y="0"/>
            <a:chExt cx="433070" cy="486408"/>
          </a:xfrm>
        </p:grpSpPr>
        <p:sp>
          <p:nvSpPr>
            <p:cNvPr id="11" name="Freeform 11"/>
            <p:cNvSpPr/>
            <p:nvPr/>
          </p:nvSpPr>
          <p:spPr>
            <a:xfrm>
              <a:off x="0" y="0"/>
              <a:ext cx="433070" cy="486408"/>
            </a:xfrm>
            <a:custGeom>
              <a:avLst/>
              <a:gdLst/>
              <a:ahLst/>
              <a:cxnLst/>
              <a:rect l="l" t="t" r="r" b="b"/>
              <a:pathLst>
                <a:path w="433070" h="486408">
                  <a:moveTo>
                    <a:pt x="0" y="0"/>
                  </a:moveTo>
                  <a:lnTo>
                    <a:pt x="433070" y="0"/>
                  </a:lnTo>
                  <a:lnTo>
                    <a:pt x="433070" y="486408"/>
                  </a:lnTo>
                  <a:lnTo>
                    <a:pt x="0" y="486408"/>
                  </a:lnTo>
                  <a:close/>
                </a:path>
              </a:pathLst>
            </a:custGeom>
            <a:solidFill>
              <a:srgbClr val="000000">
                <a:alpha val="0"/>
              </a:srgbClr>
            </a:solidFill>
          </p:spPr>
        </p:sp>
        <p:sp>
          <p:nvSpPr>
            <p:cNvPr id="12" name="TextBox 12"/>
            <p:cNvSpPr txBox="1"/>
            <p:nvPr/>
          </p:nvSpPr>
          <p:spPr>
            <a:xfrm>
              <a:off x="0" y="-47625"/>
              <a:ext cx="433070" cy="534033"/>
            </a:xfrm>
            <a:prstGeom prst="rect">
              <a:avLst/>
            </a:prstGeom>
          </p:spPr>
          <p:txBody>
            <a:bodyPr lIns="0" tIns="0" rIns="0" bIns="0" rtlCol="0" anchor="t"/>
            <a:lstStyle/>
            <a:p>
              <a:pPr algn="l">
                <a:lnSpc>
                  <a:spcPts val="2520"/>
                </a:lnSpc>
              </a:pPr>
              <a:r>
                <a:rPr lang="en-US" sz="2100" spc="-37">
                  <a:solidFill>
                    <a:srgbClr val="000000"/>
                  </a:solidFill>
                  <a:latin typeface="Arial"/>
                  <a:ea typeface="Arial"/>
                  <a:cs typeface="Arial"/>
                  <a:sym typeface="Arial"/>
                </a:rPr>
                <a:t>10</a:t>
              </a:r>
            </a:p>
          </p:txBody>
        </p:sp>
      </p:grpSp>
      <p:sp>
        <p:nvSpPr>
          <p:cNvPr id="13" name="Freeform 13"/>
          <p:cNvSpPr/>
          <p:nvPr/>
        </p:nvSpPr>
        <p:spPr>
          <a:xfrm>
            <a:off x="769724" y="3433197"/>
            <a:ext cx="5081932" cy="4806908"/>
          </a:xfrm>
          <a:custGeom>
            <a:avLst/>
            <a:gdLst/>
            <a:ahLst/>
            <a:cxnLst/>
            <a:rect l="l" t="t" r="r" b="b"/>
            <a:pathLst>
              <a:path w="5081932" h="4806908">
                <a:moveTo>
                  <a:pt x="0" y="0"/>
                </a:moveTo>
                <a:lnTo>
                  <a:pt x="5081932" y="0"/>
                </a:lnTo>
                <a:lnTo>
                  <a:pt x="5081932" y="4806908"/>
                </a:lnTo>
                <a:lnTo>
                  <a:pt x="0" y="4806908"/>
                </a:lnTo>
                <a:lnTo>
                  <a:pt x="0" y="0"/>
                </a:lnTo>
                <a:close/>
              </a:path>
            </a:pathLst>
          </a:custGeom>
          <a:blipFill>
            <a:blip r:embed="rId6"/>
            <a:stretch>
              <a:fillRect l="-4644" t="-15433" b="-1094"/>
            </a:stretch>
          </a:blipFill>
        </p:spPr>
      </p:sp>
      <p:sp>
        <p:nvSpPr>
          <p:cNvPr id="14" name="Freeform 14"/>
          <p:cNvSpPr/>
          <p:nvPr/>
        </p:nvSpPr>
        <p:spPr>
          <a:xfrm>
            <a:off x="5184692" y="5143500"/>
            <a:ext cx="4228079" cy="4085995"/>
          </a:xfrm>
          <a:custGeom>
            <a:avLst/>
            <a:gdLst/>
            <a:ahLst/>
            <a:cxnLst/>
            <a:rect l="l" t="t" r="r" b="b"/>
            <a:pathLst>
              <a:path w="4228079" h="4085995">
                <a:moveTo>
                  <a:pt x="0" y="0"/>
                </a:moveTo>
                <a:lnTo>
                  <a:pt x="4228079" y="0"/>
                </a:lnTo>
                <a:lnTo>
                  <a:pt x="4228079" y="4085995"/>
                </a:lnTo>
                <a:lnTo>
                  <a:pt x="0" y="4085995"/>
                </a:lnTo>
                <a:lnTo>
                  <a:pt x="0" y="0"/>
                </a:lnTo>
                <a:close/>
              </a:path>
            </a:pathLst>
          </a:custGeom>
          <a:blipFill>
            <a:blip r:embed="rId7"/>
            <a:stretch>
              <a:fillRect t="-25588" r="-8250" b="-734"/>
            </a:stretch>
          </a:blipFill>
        </p:spPr>
      </p:sp>
      <p:sp>
        <p:nvSpPr>
          <p:cNvPr id="15" name="Freeform 15"/>
          <p:cNvSpPr/>
          <p:nvPr/>
        </p:nvSpPr>
        <p:spPr>
          <a:xfrm>
            <a:off x="10916406" y="4378851"/>
            <a:ext cx="5882174" cy="4025914"/>
          </a:xfrm>
          <a:custGeom>
            <a:avLst/>
            <a:gdLst/>
            <a:ahLst/>
            <a:cxnLst/>
            <a:rect l="l" t="t" r="r" b="b"/>
            <a:pathLst>
              <a:path w="5882174" h="4025914">
                <a:moveTo>
                  <a:pt x="0" y="0"/>
                </a:moveTo>
                <a:lnTo>
                  <a:pt x="5882174" y="0"/>
                </a:lnTo>
                <a:lnTo>
                  <a:pt x="5882174" y="4025914"/>
                </a:lnTo>
                <a:lnTo>
                  <a:pt x="0" y="4025914"/>
                </a:lnTo>
                <a:lnTo>
                  <a:pt x="0" y="0"/>
                </a:lnTo>
                <a:close/>
              </a:path>
            </a:pathLst>
          </a:custGeom>
          <a:blipFill>
            <a:blip r:embed="rId8"/>
            <a:stretch>
              <a:fillRect/>
            </a:stretch>
          </a:blipFill>
        </p:spPr>
      </p:sp>
      <p:sp>
        <p:nvSpPr>
          <p:cNvPr id="16" name="TextBox 16"/>
          <p:cNvSpPr txBox="1"/>
          <p:nvPr/>
        </p:nvSpPr>
        <p:spPr>
          <a:xfrm>
            <a:off x="5685889" y="1822074"/>
            <a:ext cx="6916222" cy="1187826"/>
          </a:xfrm>
          <a:prstGeom prst="rect">
            <a:avLst/>
          </a:prstGeom>
        </p:spPr>
        <p:txBody>
          <a:bodyPr wrap="square" lIns="0" tIns="0" rIns="0" bIns="0" rtlCol="0" anchor="t">
            <a:spAutoFit/>
          </a:bodyPr>
          <a:lstStyle/>
          <a:p>
            <a:pPr algn="ctr">
              <a:lnSpc>
                <a:spcPts val="10080"/>
              </a:lnSpc>
            </a:pPr>
            <a:r>
              <a:rPr lang="en-US" sz="7200" b="1" dirty="0">
                <a:latin typeface="Times New Roman Bold"/>
                <a:ea typeface="Times New Roman Bold"/>
                <a:cs typeface="Times New Roman Bold"/>
                <a:sym typeface="Times New Roman Bold"/>
              </a:rPr>
              <a:t>Data Processing</a:t>
            </a:r>
          </a:p>
        </p:txBody>
      </p:sp>
      <p:sp>
        <p:nvSpPr>
          <p:cNvPr id="17" name="TextBox 17"/>
          <p:cNvSpPr txBox="1"/>
          <p:nvPr/>
        </p:nvSpPr>
        <p:spPr>
          <a:xfrm>
            <a:off x="12684728" y="3759726"/>
            <a:ext cx="2345531" cy="619125"/>
          </a:xfrm>
          <a:prstGeom prst="rect">
            <a:avLst/>
          </a:prstGeom>
        </p:spPr>
        <p:txBody>
          <a:bodyPr lIns="0" tIns="0" rIns="0" bIns="0" rtlCol="0" anchor="t">
            <a:spAutoFit/>
          </a:bodyPr>
          <a:lstStyle/>
          <a:p>
            <a:pPr algn="ctr">
              <a:lnSpc>
                <a:spcPts val="4320"/>
              </a:lnSpc>
              <a:spcBef>
                <a:spcPct val="0"/>
              </a:spcBef>
            </a:pPr>
            <a:r>
              <a:rPr lang="en-US" sz="3600" b="1">
                <a:solidFill>
                  <a:srgbClr val="006FC0"/>
                </a:solidFill>
                <a:latin typeface="Times New Roman Bold"/>
                <a:ea typeface="Times New Roman Bold"/>
                <a:cs typeface="Times New Roman Bold"/>
                <a:sym typeface="Times New Roman Bold"/>
              </a:rPr>
              <a:t>Risk Factor </a:t>
            </a:r>
          </a:p>
        </p:txBody>
      </p:sp>
      <p:sp>
        <p:nvSpPr>
          <p:cNvPr id="18" name="TextBox 18"/>
          <p:cNvSpPr txBox="1"/>
          <p:nvPr/>
        </p:nvSpPr>
        <p:spPr>
          <a:xfrm>
            <a:off x="5298482" y="3759726"/>
            <a:ext cx="3690537" cy="1162050"/>
          </a:xfrm>
          <a:prstGeom prst="rect">
            <a:avLst/>
          </a:prstGeom>
        </p:spPr>
        <p:txBody>
          <a:bodyPr lIns="0" tIns="0" rIns="0" bIns="0" rtlCol="0" anchor="t">
            <a:spAutoFit/>
          </a:bodyPr>
          <a:lstStyle/>
          <a:p>
            <a:pPr algn="ctr">
              <a:lnSpc>
                <a:spcPts val="4320"/>
              </a:lnSpc>
              <a:spcBef>
                <a:spcPct val="0"/>
              </a:spcBef>
            </a:pPr>
            <a:r>
              <a:rPr lang="en-US" sz="3600" b="1">
                <a:solidFill>
                  <a:srgbClr val="006FC0"/>
                </a:solidFill>
                <a:latin typeface="Times New Roman Bold"/>
                <a:ea typeface="Times New Roman Bold"/>
                <a:cs typeface="Times New Roman Bold"/>
                <a:sym typeface="Times New Roman Bold"/>
              </a:rPr>
              <a:t>Combined Mortality Rates</a:t>
            </a:r>
          </a:p>
        </p:txBody>
      </p:sp>
      <p:sp>
        <p:nvSpPr>
          <p:cNvPr id="19" name="AutoShape 19"/>
          <p:cNvSpPr/>
          <p:nvPr/>
        </p:nvSpPr>
        <p:spPr>
          <a:xfrm flipH="1" flipV="1">
            <a:off x="10065857" y="3433197"/>
            <a:ext cx="0" cy="5504625"/>
          </a:xfrm>
          <a:prstGeom prst="line">
            <a:avLst/>
          </a:prstGeom>
          <a:ln w="38100" cap="flat">
            <a:solidFill>
              <a:srgbClr val="737373"/>
            </a:solidFill>
            <a:prstDash val="solid"/>
            <a:headEnd type="none" w="sm" len="sm"/>
            <a:tailEnd type="none" w="sm" len="sm"/>
          </a:ln>
        </p:spPr>
      </p:sp>
      <p:sp>
        <p:nvSpPr>
          <p:cNvPr id="20" name="Rectangle 19">
            <a:extLst>
              <a:ext uri="{FF2B5EF4-FFF2-40B4-BE49-F238E27FC236}">
                <a16:creationId xmlns:a16="http://schemas.microsoft.com/office/drawing/2014/main" id="{53C9D93B-1C7F-46A9-29A3-314D31B19C08}"/>
              </a:ext>
            </a:extLst>
          </p:cNvPr>
          <p:cNvSpPr/>
          <p:nvPr/>
        </p:nvSpPr>
        <p:spPr>
          <a:xfrm>
            <a:off x="1064728" y="8965866"/>
            <a:ext cx="4648200" cy="692933"/>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1800" spc="-49" dirty="0">
                <a:solidFill>
                  <a:srgbClr val="000000"/>
                </a:solidFill>
                <a:latin typeface="Arial"/>
                <a:ea typeface="Arial"/>
                <a:cs typeface="Arial"/>
                <a:sym typeface="Arial"/>
              </a:rPr>
              <a:t>actuariesindia.org/mortality-table</a:t>
            </a:r>
            <a:endParaRPr lang="en-IN"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
            <a:chOff x="0" y="0"/>
            <a:chExt cx="24384000" cy="1371600"/>
          </a:xfrm>
        </p:grpSpPr>
        <p:sp>
          <p:nvSpPr>
            <p:cNvPr id="3" name="Freeform 3"/>
            <p:cNvSpPr/>
            <p:nvPr/>
          </p:nvSpPr>
          <p:spPr>
            <a:xfrm>
              <a:off x="0" y="0"/>
              <a:ext cx="24384000" cy="1371600"/>
            </a:xfrm>
            <a:custGeom>
              <a:avLst/>
              <a:gdLst/>
              <a:ahLst/>
              <a:cxnLst/>
              <a:rect l="l" t="t" r="r" b="b"/>
              <a:pathLst>
                <a:path w="24384000" h="1371600">
                  <a:moveTo>
                    <a:pt x="24384000" y="0"/>
                  </a:moveTo>
                  <a:lnTo>
                    <a:pt x="0" y="0"/>
                  </a:lnTo>
                  <a:lnTo>
                    <a:pt x="0" y="1371600"/>
                  </a:lnTo>
                  <a:lnTo>
                    <a:pt x="24384000" y="1371600"/>
                  </a:lnTo>
                  <a:lnTo>
                    <a:pt x="24384000" y="0"/>
                  </a:lnTo>
                  <a:close/>
                </a:path>
              </a:pathLst>
            </a:custGeom>
            <a:solidFill>
              <a:srgbClr val="D2222A"/>
            </a:solidFill>
          </p:spPr>
        </p:sp>
      </p:grpSp>
      <p:sp>
        <p:nvSpPr>
          <p:cNvPr id="4" name="Freeform 4"/>
          <p:cNvSpPr/>
          <p:nvPr/>
        </p:nvSpPr>
        <p:spPr>
          <a:xfrm>
            <a:off x="3600450" y="657225"/>
            <a:ext cx="3543300" cy="657225"/>
          </a:xfrm>
          <a:custGeom>
            <a:avLst/>
            <a:gdLst/>
            <a:ahLst/>
            <a:cxnLst/>
            <a:rect l="l" t="t" r="r" b="b"/>
            <a:pathLst>
              <a:path w="3543300" h="657225">
                <a:moveTo>
                  <a:pt x="0" y="0"/>
                </a:moveTo>
                <a:lnTo>
                  <a:pt x="3543300" y="0"/>
                </a:lnTo>
                <a:lnTo>
                  <a:pt x="3543300" y="657225"/>
                </a:lnTo>
                <a:lnTo>
                  <a:pt x="0" y="657225"/>
                </a:lnTo>
                <a:lnTo>
                  <a:pt x="0" y="0"/>
                </a:lnTo>
                <a:close/>
              </a:path>
            </a:pathLst>
          </a:custGeom>
          <a:blipFill>
            <a:blip r:embed="rId2"/>
            <a:stretch>
              <a:fillRect/>
            </a:stretch>
          </a:blipFill>
        </p:spPr>
      </p:sp>
      <p:sp>
        <p:nvSpPr>
          <p:cNvPr id="5" name="Freeform 5"/>
          <p:cNvSpPr/>
          <p:nvPr/>
        </p:nvSpPr>
        <p:spPr>
          <a:xfrm>
            <a:off x="0" y="171354"/>
            <a:ext cx="7551039" cy="1707356"/>
          </a:xfrm>
          <a:custGeom>
            <a:avLst/>
            <a:gdLst/>
            <a:ahLst/>
            <a:cxnLst/>
            <a:rect l="l" t="t" r="r" b="b"/>
            <a:pathLst>
              <a:path w="7551039" h="1707356">
                <a:moveTo>
                  <a:pt x="0" y="0"/>
                </a:moveTo>
                <a:lnTo>
                  <a:pt x="7551039" y="0"/>
                </a:lnTo>
                <a:lnTo>
                  <a:pt x="7551039" y="1707356"/>
                </a:lnTo>
                <a:lnTo>
                  <a:pt x="0" y="1707356"/>
                </a:lnTo>
                <a:lnTo>
                  <a:pt x="0" y="0"/>
                </a:lnTo>
                <a:close/>
              </a:path>
            </a:pathLst>
          </a:custGeom>
          <a:blipFill>
            <a:blip r:embed="rId3"/>
            <a:stretch>
              <a:fillRect t="-67" b="-67"/>
            </a:stretch>
          </a:blipFill>
        </p:spPr>
      </p:sp>
      <p:sp>
        <p:nvSpPr>
          <p:cNvPr id="6" name="Freeform 6"/>
          <p:cNvSpPr/>
          <p:nvPr/>
        </p:nvSpPr>
        <p:spPr>
          <a:xfrm>
            <a:off x="0" y="257175"/>
            <a:ext cx="7472361" cy="1457325"/>
          </a:xfrm>
          <a:custGeom>
            <a:avLst/>
            <a:gdLst/>
            <a:ahLst/>
            <a:cxnLst/>
            <a:rect l="l" t="t" r="r" b="b"/>
            <a:pathLst>
              <a:path w="7472361" h="1457325">
                <a:moveTo>
                  <a:pt x="0" y="0"/>
                </a:moveTo>
                <a:lnTo>
                  <a:pt x="7472361" y="0"/>
                </a:lnTo>
                <a:lnTo>
                  <a:pt x="7472361" y="1457325"/>
                </a:lnTo>
                <a:lnTo>
                  <a:pt x="0" y="1457325"/>
                </a:lnTo>
                <a:lnTo>
                  <a:pt x="0" y="0"/>
                </a:lnTo>
                <a:close/>
              </a:path>
            </a:pathLst>
          </a:custGeom>
          <a:blipFill>
            <a:blip r:embed="rId4"/>
            <a:stretch>
              <a:fillRect l="-31" r="-31"/>
            </a:stretch>
          </a:blipFill>
        </p:spPr>
      </p:sp>
      <p:grpSp>
        <p:nvGrpSpPr>
          <p:cNvPr id="7" name="Group 7"/>
          <p:cNvGrpSpPr/>
          <p:nvPr/>
        </p:nvGrpSpPr>
        <p:grpSpPr>
          <a:xfrm>
            <a:off x="0" y="10115550"/>
            <a:ext cx="18288000" cy="171450"/>
            <a:chOff x="0" y="0"/>
            <a:chExt cx="24384000" cy="228600"/>
          </a:xfrm>
        </p:grpSpPr>
        <p:sp>
          <p:nvSpPr>
            <p:cNvPr id="8" name="Freeform 8"/>
            <p:cNvSpPr/>
            <p:nvPr/>
          </p:nvSpPr>
          <p:spPr>
            <a:xfrm>
              <a:off x="0" y="0"/>
              <a:ext cx="24384000" cy="228600"/>
            </a:xfrm>
            <a:custGeom>
              <a:avLst/>
              <a:gdLst/>
              <a:ahLst/>
              <a:cxnLst/>
              <a:rect l="l" t="t" r="r" b="b"/>
              <a:pathLst>
                <a:path w="24384000" h="228600">
                  <a:moveTo>
                    <a:pt x="24384000" y="0"/>
                  </a:moveTo>
                  <a:lnTo>
                    <a:pt x="0" y="0"/>
                  </a:lnTo>
                  <a:lnTo>
                    <a:pt x="0" y="228600"/>
                  </a:lnTo>
                  <a:lnTo>
                    <a:pt x="24384000" y="228600"/>
                  </a:lnTo>
                  <a:lnTo>
                    <a:pt x="24384000" y="0"/>
                  </a:lnTo>
                  <a:close/>
                </a:path>
              </a:pathLst>
            </a:custGeom>
            <a:solidFill>
              <a:srgbClr val="D2222A"/>
            </a:solidFill>
          </p:spPr>
        </p:sp>
      </p:grpSp>
      <p:sp>
        <p:nvSpPr>
          <p:cNvPr id="9" name="Freeform 9"/>
          <p:cNvSpPr/>
          <p:nvPr/>
        </p:nvSpPr>
        <p:spPr>
          <a:xfrm>
            <a:off x="11156621" y="4165417"/>
            <a:ext cx="6102679" cy="4634340"/>
          </a:xfrm>
          <a:custGeom>
            <a:avLst/>
            <a:gdLst/>
            <a:ahLst/>
            <a:cxnLst/>
            <a:rect l="l" t="t" r="r" b="b"/>
            <a:pathLst>
              <a:path w="6102679" h="4634340">
                <a:moveTo>
                  <a:pt x="0" y="0"/>
                </a:moveTo>
                <a:lnTo>
                  <a:pt x="6102679" y="0"/>
                </a:lnTo>
                <a:lnTo>
                  <a:pt x="6102679" y="4634340"/>
                </a:lnTo>
                <a:lnTo>
                  <a:pt x="0" y="4634340"/>
                </a:lnTo>
                <a:lnTo>
                  <a:pt x="0" y="0"/>
                </a:lnTo>
                <a:close/>
              </a:path>
            </a:pathLst>
          </a:custGeom>
          <a:blipFill>
            <a:blip r:embed="rId5"/>
            <a:stretch>
              <a:fillRect l="-540" t="-1141" b="-6264"/>
            </a:stretch>
          </a:blipFill>
          <a:ln w="38100" cap="sq">
            <a:solidFill>
              <a:srgbClr val="737373"/>
            </a:solidFill>
            <a:prstDash val="solid"/>
            <a:miter/>
          </a:ln>
        </p:spPr>
      </p:sp>
      <p:sp>
        <p:nvSpPr>
          <p:cNvPr id="10" name="TextBox 10"/>
          <p:cNvSpPr txBox="1"/>
          <p:nvPr/>
        </p:nvSpPr>
        <p:spPr>
          <a:xfrm>
            <a:off x="1323508" y="1669674"/>
            <a:ext cx="15640984" cy="1187826"/>
          </a:xfrm>
          <a:prstGeom prst="rect">
            <a:avLst/>
          </a:prstGeom>
        </p:spPr>
        <p:txBody>
          <a:bodyPr wrap="square" lIns="0" tIns="0" rIns="0" bIns="0" rtlCol="0" anchor="t">
            <a:spAutoFit/>
          </a:bodyPr>
          <a:lstStyle/>
          <a:p>
            <a:pPr algn="ctr">
              <a:lnSpc>
                <a:spcPts val="10080"/>
              </a:lnSpc>
            </a:pPr>
            <a:r>
              <a:rPr lang="en-US" sz="7200" b="1" dirty="0">
                <a:latin typeface="Times New Roman Bold"/>
                <a:ea typeface="Times New Roman Bold"/>
                <a:cs typeface="Times New Roman Bold"/>
                <a:sym typeface="Times New Roman Bold"/>
              </a:rPr>
              <a:t>Binary Regression on Dataset</a:t>
            </a:r>
          </a:p>
        </p:txBody>
      </p:sp>
      <p:sp>
        <p:nvSpPr>
          <p:cNvPr id="11" name="TextBox 11"/>
          <p:cNvSpPr txBox="1"/>
          <p:nvPr/>
        </p:nvSpPr>
        <p:spPr>
          <a:xfrm>
            <a:off x="366719" y="2916300"/>
            <a:ext cx="17146463" cy="5946521"/>
          </a:xfrm>
          <a:prstGeom prst="rect">
            <a:avLst/>
          </a:prstGeom>
        </p:spPr>
        <p:txBody>
          <a:bodyPr lIns="0" tIns="0" rIns="0" bIns="0" rtlCol="0" anchor="t">
            <a:spAutoFit/>
          </a:bodyPr>
          <a:lstStyle/>
          <a:p>
            <a:pPr marL="604519" lvl="1" indent="-302260" algn="l">
              <a:lnSpc>
                <a:spcPts val="4311"/>
              </a:lnSpc>
              <a:buFont typeface="Arial"/>
              <a:buChar char="•"/>
            </a:pPr>
            <a:r>
              <a:rPr lang="en-US" sz="2799" dirty="0">
                <a:solidFill>
                  <a:srgbClr val="000000"/>
                </a:solidFill>
                <a:latin typeface="Canva Sans"/>
                <a:ea typeface="Canva Sans"/>
                <a:cs typeface="Canva Sans"/>
                <a:sym typeface="Canva Sans"/>
              </a:rPr>
              <a:t>Binary Logistic Regression: Models relationships between variables, specifically for dichotomous dependent variables.</a:t>
            </a:r>
          </a:p>
          <a:p>
            <a:pPr marL="604519" lvl="1" indent="-302260" algn="l">
              <a:lnSpc>
                <a:spcPts val="4311"/>
              </a:lnSpc>
              <a:buFont typeface="Arial"/>
              <a:buChar char="•"/>
            </a:pPr>
            <a:r>
              <a:rPr lang="en-US" sz="2799" dirty="0">
                <a:solidFill>
                  <a:srgbClr val="000000"/>
                </a:solidFill>
                <a:latin typeface="Canva Sans"/>
                <a:ea typeface="Canva Sans"/>
                <a:cs typeface="Canva Sans"/>
                <a:sym typeface="Canva Sans"/>
              </a:rPr>
              <a:t>Interpretation: Results are analyzed using coefficients, </a:t>
            </a:r>
          </a:p>
          <a:p>
            <a:pPr algn="l">
              <a:lnSpc>
                <a:spcPts val="4311"/>
              </a:lnSpc>
            </a:pPr>
            <a:r>
              <a:rPr lang="en-US" sz="2799" dirty="0">
                <a:solidFill>
                  <a:srgbClr val="000000"/>
                </a:solidFill>
                <a:latin typeface="Canva Sans"/>
                <a:ea typeface="Canva Sans"/>
                <a:cs typeface="Canva Sans"/>
                <a:sym typeface="Canva Sans"/>
              </a:rPr>
              <a:t>       p-values, and odds ratios.</a:t>
            </a:r>
          </a:p>
          <a:p>
            <a:pPr marL="604519" lvl="1" indent="-302260" algn="l">
              <a:lnSpc>
                <a:spcPts val="4311"/>
              </a:lnSpc>
              <a:buFont typeface="Arial"/>
              <a:buChar char="•"/>
            </a:pPr>
            <a:r>
              <a:rPr lang="en-US" sz="2799" dirty="0">
                <a:solidFill>
                  <a:srgbClr val="000000"/>
                </a:solidFill>
                <a:latin typeface="Canva Sans"/>
                <a:ea typeface="Canva Sans"/>
                <a:cs typeface="Canva Sans"/>
                <a:sym typeface="Canva Sans"/>
              </a:rPr>
              <a:t>Purpose: Identifies significant variables contributing</a:t>
            </a:r>
          </a:p>
          <a:p>
            <a:pPr algn="l">
              <a:lnSpc>
                <a:spcPts val="4311"/>
              </a:lnSpc>
            </a:pPr>
            <a:r>
              <a:rPr lang="en-US" sz="2799" dirty="0">
                <a:solidFill>
                  <a:srgbClr val="000000"/>
                </a:solidFill>
                <a:latin typeface="Canva Sans"/>
                <a:ea typeface="Canva Sans"/>
                <a:cs typeface="Canva Sans"/>
                <a:sym typeface="Canva Sans"/>
              </a:rPr>
              <a:t>       to an individual's mortality risk.</a:t>
            </a:r>
          </a:p>
          <a:p>
            <a:pPr marL="604519" lvl="1" indent="-302260" algn="l">
              <a:lnSpc>
                <a:spcPts val="4311"/>
              </a:lnSpc>
              <a:buFont typeface="Arial"/>
              <a:buChar char="•"/>
            </a:pPr>
            <a:r>
              <a:rPr lang="en-US" sz="2799" dirty="0">
                <a:solidFill>
                  <a:srgbClr val="000000"/>
                </a:solidFill>
                <a:latin typeface="Canva Sans"/>
                <a:ea typeface="Canva Sans"/>
                <a:cs typeface="Canva Sans"/>
                <a:sym typeface="Canva Sans"/>
              </a:rPr>
              <a:t>Independent Variables (Risk Factors)</a:t>
            </a:r>
          </a:p>
          <a:p>
            <a:pPr marL="604519" lvl="1" indent="-302260" algn="l">
              <a:lnSpc>
                <a:spcPts val="4311"/>
              </a:lnSpc>
              <a:buFont typeface="Arial"/>
              <a:buChar char="•"/>
            </a:pPr>
            <a:r>
              <a:rPr lang="en-US" sz="2799" dirty="0">
                <a:solidFill>
                  <a:srgbClr val="000000"/>
                </a:solidFill>
                <a:latin typeface="Canva Sans"/>
                <a:ea typeface="Canva Sans"/>
                <a:cs typeface="Canva Sans"/>
                <a:sym typeface="Canva Sans"/>
              </a:rPr>
              <a:t>Treated as binary (0 = absence, 1 = presence).</a:t>
            </a:r>
          </a:p>
          <a:p>
            <a:pPr marL="604519" lvl="1" indent="-302260" algn="l">
              <a:lnSpc>
                <a:spcPts val="4311"/>
              </a:lnSpc>
              <a:buFont typeface="Arial"/>
              <a:buChar char="•"/>
            </a:pPr>
            <a:r>
              <a:rPr lang="en-US" sz="2799" dirty="0">
                <a:solidFill>
                  <a:srgbClr val="000000"/>
                </a:solidFill>
                <a:latin typeface="Canva Sans"/>
                <a:ea typeface="Canva Sans"/>
                <a:cs typeface="Canva Sans"/>
                <a:sym typeface="Canva Sans"/>
              </a:rPr>
              <a:t>Dependent Variable (Outcome - Disease/Death):</a:t>
            </a:r>
          </a:p>
          <a:p>
            <a:pPr marL="604519" lvl="1" indent="-302260" algn="l">
              <a:lnSpc>
                <a:spcPts val="4311"/>
              </a:lnSpc>
              <a:buFont typeface="Arial"/>
              <a:buChar char="•"/>
            </a:pPr>
            <a:r>
              <a:rPr lang="en-US" sz="2799" dirty="0">
                <a:solidFill>
                  <a:srgbClr val="000000"/>
                </a:solidFill>
                <a:latin typeface="Canva Sans"/>
                <a:ea typeface="Canva Sans"/>
                <a:cs typeface="Canva Sans"/>
                <a:sym typeface="Canva Sans"/>
              </a:rPr>
              <a:t>Represents disease occurrence or mortality.</a:t>
            </a:r>
          </a:p>
          <a:p>
            <a:pPr marL="604519" lvl="1" indent="-302260" algn="l">
              <a:lnSpc>
                <a:spcPts val="4311"/>
              </a:lnSpc>
              <a:buFont typeface="Arial"/>
              <a:buChar char="•"/>
            </a:pPr>
            <a:r>
              <a:rPr lang="en-US" sz="2799" dirty="0">
                <a:solidFill>
                  <a:srgbClr val="000000"/>
                </a:solidFill>
                <a:latin typeface="Canva Sans"/>
                <a:ea typeface="Canva Sans"/>
                <a:cs typeface="Canva Sans"/>
                <a:sym typeface="Canva Sans"/>
              </a:rPr>
              <a:t>0 = No disease/death, 1 = Disease/mortality occurs.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
            <a:chOff x="0" y="0"/>
            <a:chExt cx="24384000" cy="1371600"/>
          </a:xfrm>
        </p:grpSpPr>
        <p:sp>
          <p:nvSpPr>
            <p:cNvPr id="3" name="Freeform 3"/>
            <p:cNvSpPr/>
            <p:nvPr/>
          </p:nvSpPr>
          <p:spPr>
            <a:xfrm>
              <a:off x="0" y="0"/>
              <a:ext cx="24384000" cy="1371600"/>
            </a:xfrm>
            <a:custGeom>
              <a:avLst/>
              <a:gdLst/>
              <a:ahLst/>
              <a:cxnLst/>
              <a:rect l="l" t="t" r="r" b="b"/>
              <a:pathLst>
                <a:path w="24384000" h="1371600">
                  <a:moveTo>
                    <a:pt x="24384000" y="0"/>
                  </a:moveTo>
                  <a:lnTo>
                    <a:pt x="0" y="0"/>
                  </a:lnTo>
                  <a:lnTo>
                    <a:pt x="0" y="1371600"/>
                  </a:lnTo>
                  <a:lnTo>
                    <a:pt x="24384000" y="1371600"/>
                  </a:lnTo>
                  <a:lnTo>
                    <a:pt x="24384000" y="0"/>
                  </a:lnTo>
                  <a:close/>
                </a:path>
              </a:pathLst>
            </a:custGeom>
            <a:solidFill>
              <a:srgbClr val="D2222A"/>
            </a:solidFill>
          </p:spPr>
        </p:sp>
      </p:grpSp>
      <p:sp>
        <p:nvSpPr>
          <p:cNvPr id="4" name="Freeform 4"/>
          <p:cNvSpPr/>
          <p:nvPr/>
        </p:nvSpPr>
        <p:spPr>
          <a:xfrm>
            <a:off x="3600450" y="657225"/>
            <a:ext cx="3543300" cy="657225"/>
          </a:xfrm>
          <a:custGeom>
            <a:avLst/>
            <a:gdLst/>
            <a:ahLst/>
            <a:cxnLst/>
            <a:rect l="l" t="t" r="r" b="b"/>
            <a:pathLst>
              <a:path w="3543300" h="657225">
                <a:moveTo>
                  <a:pt x="0" y="0"/>
                </a:moveTo>
                <a:lnTo>
                  <a:pt x="3543300" y="0"/>
                </a:lnTo>
                <a:lnTo>
                  <a:pt x="3543300" y="657225"/>
                </a:lnTo>
                <a:lnTo>
                  <a:pt x="0" y="657225"/>
                </a:lnTo>
                <a:lnTo>
                  <a:pt x="0" y="0"/>
                </a:lnTo>
                <a:close/>
              </a:path>
            </a:pathLst>
          </a:custGeom>
          <a:blipFill>
            <a:blip r:embed="rId2"/>
            <a:stretch>
              <a:fillRect/>
            </a:stretch>
          </a:blipFill>
        </p:spPr>
      </p:sp>
      <p:sp>
        <p:nvSpPr>
          <p:cNvPr id="5" name="Freeform 5"/>
          <p:cNvSpPr/>
          <p:nvPr/>
        </p:nvSpPr>
        <p:spPr>
          <a:xfrm>
            <a:off x="0" y="171354"/>
            <a:ext cx="7551039" cy="1707356"/>
          </a:xfrm>
          <a:custGeom>
            <a:avLst/>
            <a:gdLst/>
            <a:ahLst/>
            <a:cxnLst/>
            <a:rect l="l" t="t" r="r" b="b"/>
            <a:pathLst>
              <a:path w="7551039" h="1707356">
                <a:moveTo>
                  <a:pt x="0" y="0"/>
                </a:moveTo>
                <a:lnTo>
                  <a:pt x="7551039" y="0"/>
                </a:lnTo>
                <a:lnTo>
                  <a:pt x="7551039" y="1707356"/>
                </a:lnTo>
                <a:lnTo>
                  <a:pt x="0" y="1707356"/>
                </a:lnTo>
                <a:lnTo>
                  <a:pt x="0" y="0"/>
                </a:lnTo>
                <a:close/>
              </a:path>
            </a:pathLst>
          </a:custGeom>
          <a:blipFill>
            <a:blip r:embed="rId3"/>
            <a:stretch>
              <a:fillRect t="-67" b="-67"/>
            </a:stretch>
          </a:blipFill>
        </p:spPr>
      </p:sp>
      <p:sp>
        <p:nvSpPr>
          <p:cNvPr id="6" name="Freeform 6"/>
          <p:cNvSpPr/>
          <p:nvPr/>
        </p:nvSpPr>
        <p:spPr>
          <a:xfrm>
            <a:off x="0" y="257175"/>
            <a:ext cx="7472361" cy="1457325"/>
          </a:xfrm>
          <a:custGeom>
            <a:avLst/>
            <a:gdLst/>
            <a:ahLst/>
            <a:cxnLst/>
            <a:rect l="l" t="t" r="r" b="b"/>
            <a:pathLst>
              <a:path w="7472361" h="1457325">
                <a:moveTo>
                  <a:pt x="0" y="0"/>
                </a:moveTo>
                <a:lnTo>
                  <a:pt x="7472361" y="0"/>
                </a:lnTo>
                <a:lnTo>
                  <a:pt x="7472361" y="1457325"/>
                </a:lnTo>
                <a:lnTo>
                  <a:pt x="0" y="1457325"/>
                </a:lnTo>
                <a:lnTo>
                  <a:pt x="0" y="0"/>
                </a:lnTo>
                <a:close/>
              </a:path>
            </a:pathLst>
          </a:custGeom>
          <a:blipFill>
            <a:blip r:embed="rId4"/>
            <a:stretch>
              <a:fillRect l="-31" r="-31"/>
            </a:stretch>
          </a:blipFill>
        </p:spPr>
      </p:sp>
      <p:grpSp>
        <p:nvGrpSpPr>
          <p:cNvPr id="7" name="Group 7"/>
          <p:cNvGrpSpPr/>
          <p:nvPr/>
        </p:nvGrpSpPr>
        <p:grpSpPr>
          <a:xfrm>
            <a:off x="0" y="10115550"/>
            <a:ext cx="18288000" cy="171450"/>
            <a:chOff x="0" y="0"/>
            <a:chExt cx="24384000" cy="228600"/>
          </a:xfrm>
        </p:grpSpPr>
        <p:sp>
          <p:nvSpPr>
            <p:cNvPr id="8" name="Freeform 8"/>
            <p:cNvSpPr/>
            <p:nvPr/>
          </p:nvSpPr>
          <p:spPr>
            <a:xfrm>
              <a:off x="0" y="0"/>
              <a:ext cx="24384000" cy="228600"/>
            </a:xfrm>
            <a:custGeom>
              <a:avLst/>
              <a:gdLst/>
              <a:ahLst/>
              <a:cxnLst/>
              <a:rect l="l" t="t" r="r" b="b"/>
              <a:pathLst>
                <a:path w="24384000" h="228600">
                  <a:moveTo>
                    <a:pt x="24384000" y="0"/>
                  </a:moveTo>
                  <a:lnTo>
                    <a:pt x="0" y="0"/>
                  </a:lnTo>
                  <a:lnTo>
                    <a:pt x="0" y="228600"/>
                  </a:lnTo>
                  <a:lnTo>
                    <a:pt x="24384000" y="228600"/>
                  </a:lnTo>
                  <a:lnTo>
                    <a:pt x="24384000" y="0"/>
                  </a:lnTo>
                  <a:close/>
                </a:path>
              </a:pathLst>
            </a:custGeom>
            <a:solidFill>
              <a:srgbClr val="D2222A"/>
            </a:solidFill>
          </p:spPr>
        </p:sp>
      </p:grpSp>
      <p:grpSp>
        <p:nvGrpSpPr>
          <p:cNvPr id="9" name="Group 9"/>
          <p:cNvGrpSpPr/>
          <p:nvPr/>
        </p:nvGrpSpPr>
        <p:grpSpPr>
          <a:xfrm>
            <a:off x="16967835" y="9628346"/>
            <a:ext cx="324802" cy="364806"/>
            <a:chOff x="0" y="0"/>
            <a:chExt cx="433070" cy="486408"/>
          </a:xfrm>
        </p:grpSpPr>
        <p:sp>
          <p:nvSpPr>
            <p:cNvPr id="10" name="Freeform 10"/>
            <p:cNvSpPr/>
            <p:nvPr/>
          </p:nvSpPr>
          <p:spPr>
            <a:xfrm>
              <a:off x="0" y="0"/>
              <a:ext cx="433070" cy="486408"/>
            </a:xfrm>
            <a:custGeom>
              <a:avLst/>
              <a:gdLst/>
              <a:ahLst/>
              <a:cxnLst/>
              <a:rect l="l" t="t" r="r" b="b"/>
              <a:pathLst>
                <a:path w="433070" h="486408">
                  <a:moveTo>
                    <a:pt x="0" y="0"/>
                  </a:moveTo>
                  <a:lnTo>
                    <a:pt x="433070" y="0"/>
                  </a:lnTo>
                  <a:lnTo>
                    <a:pt x="433070" y="486408"/>
                  </a:lnTo>
                  <a:lnTo>
                    <a:pt x="0" y="486408"/>
                  </a:lnTo>
                  <a:close/>
                </a:path>
              </a:pathLst>
            </a:custGeom>
            <a:solidFill>
              <a:srgbClr val="000000">
                <a:alpha val="0"/>
              </a:srgbClr>
            </a:solidFill>
          </p:spPr>
        </p:sp>
        <p:sp>
          <p:nvSpPr>
            <p:cNvPr id="11" name="TextBox 11"/>
            <p:cNvSpPr txBox="1"/>
            <p:nvPr/>
          </p:nvSpPr>
          <p:spPr>
            <a:xfrm>
              <a:off x="0" y="-47625"/>
              <a:ext cx="433070" cy="534033"/>
            </a:xfrm>
            <a:prstGeom prst="rect">
              <a:avLst/>
            </a:prstGeom>
          </p:spPr>
          <p:txBody>
            <a:bodyPr lIns="0" tIns="0" rIns="0" bIns="0" rtlCol="0" anchor="t"/>
            <a:lstStyle/>
            <a:p>
              <a:pPr algn="l">
                <a:lnSpc>
                  <a:spcPts val="2520"/>
                </a:lnSpc>
              </a:pPr>
              <a:r>
                <a:rPr lang="en-US" sz="2100" spc="-37">
                  <a:solidFill>
                    <a:srgbClr val="000000"/>
                  </a:solidFill>
                  <a:latin typeface="Arial"/>
                  <a:ea typeface="Arial"/>
                  <a:cs typeface="Arial"/>
                  <a:sym typeface="Arial"/>
                </a:rPr>
                <a:t>16</a:t>
              </a:r>
            </a:p>
          </p:txBody>
        </p:sp>
      </p:grpSp>
      <p:sp>
        <p:nvSpPr>
          <p:cNvPr id="12" name="Freeform 12"/>
          <p:cNvSpPr/>
          <p:nvPr/>
        </p:nvSpPr>
        <p:spPr>
          <a:xfrm>
            <a:off x="10420056" y="3372531"/>
            <a:ext cx="7276508" cy="4399189"/>
          </a:xfrm>
          <a:custGeom>
            <a:avLst/>
            <a:gdLst/>
            <a:ahLst/>
            <a:cxnLst/>
            <a:rect l="l" t="t" r="r" b="b"/>
            <a:pathLst>
              <a:path w="7276508" h="4399189">
                <a:moveTo>
                  <a:pt x="0" y="0"/>
                </a:moveTo>
                <a:lnTo>
                  <a:pt x="7276508" y="0"/>
                </a:lnTo>
                <a:lnTo>
                  <a:pt x="7276508" y="4399188"/>
                </a:lnTo>
                <a:lnTo>
                  <a:pt x="0" y="4399188"/>
                </a:lnTo>
                <a:lnTo>
                  <a:pt x="0" y="0"/>
                </a:lnTo>
                <a:close/>
              </a:path>
            </a:pathLst>
          </a:custGeom>
          <a:blipFill>
            <a:blip r:embed="rId5"/>
            <a:stretch>
              <a:fillRect r="-1131" b="-784"/>
            </a:stretch>
          </a:blipFill>
          <a:ln w="38100" cap="sq">
            <a:solidFill>
              <a:srgbClr val="D9D9D9"/>
            </a:solidFill>
            <a:prstDash val="solid"/>
            <a:miter/>
          </a:ln>
        </p:spPr>
      </p:sp>
      <p:sp>
        <p:nvSpPr>
          <p:cNvPr id="13" name="TextBox 13"/>
          <p:cNvSpPr txBox="1"/>
          <p:nvPr/>
        </p:nvSpPr>
        <p:spPr>
          <a:xfrm>
            <a:off x="109629" y="3216910"/>
            <a:ext cx="10524941" cy="4939030"/>
          </a:xfrm>
          <a:prstGeom prst="rect">
            <a:avLst/>
          </a:prstGeom>
        </p:spPr>
        <p:txBody>
          <a:bodyPr lIns="0" tIns="0" rIns="0" bIns="0" rtlCol="0" anchor="t">
            <a:spAutoFit/>
          </a:bodyPr>
          <a:lstStyle/>
          <a:p>
            <a:pPr marL="604519" lvl="1" indent="-302260" algn="l">
              <a:lnSpc>
                <a:spcPts val="3919"/>
              </a:lnSpc>
              <a:buFont typeface="Arial"/>
              <a:buChar char="•"/>
            </a:pPr>
            <a:r>
              <a:rPr lang="en-US" sz="2799" dirty="0">
                <a:solidFill>
                  <a:srgbClr val="000000"/>
                </a:solidFill>
                <a:latin typeface="Canva Sans"/>
                <a:ea typeface="Canva Sans"/>
                <a:cs typeface="Canva Sans"/>
                <a:sym typeface="Canva Sans"/>
              </a:rPr>
              <a:t>Complete Separation: The model achieves perfect prediction, preventing proper parameter estimation.</a:t>
            </a:r>
          </a:p>
          <a:p>
            <a:pPr marL="604519" lvl="1" indent="-302260" algn="l">
              <a:lnSpc>
                <a:spcPts val="3919"/>
              </a:lnSpc>
              <a:buFont typeface="Arial"/>
              <a:buChar char="•"/>
            </a:pPr>
            <a:r>
              <a:rPr lang="en-US" sz="2799" dirty="0">
                <a:solidFill>
                  <a:srgbClr val="000000"/>
                </a:solidFill>
                <a:latin typeface="Canva Sans"/>
                <a:ea typeface="Canva Sans"/>
                <a:cs typeface="Canva Sans"/>
                <a:sym typeface="Canva Sans"/>
              </a:rPr>
              <a:t>Overfitting: A Pseudo R² value of 1.000 indicates unrealistic accuracy.</a:t>
            </a:r>
          </a:p>
          <a:p>
            <a:pPr marL="604519" lvl="1" indent="-302260" algn="l">
              <a:lnSpc>
                <a:spcPts val="3919"/>
              </a:lnSpc>
              <a:buFont typeface="Arial"/>
              <a:buChar char="•"/>
            </a:pPr>
            <a:r>
              <a:rPr lang="en-US" sz="2799" dirty="0">
                <a:solidFill>
                  <a:srgbClr val="000000"/>
                </a:solidFill>
                <a:latin typeface="Canva Sans"/>
                <a:ea typeface="Canva Sans"/>
                <a:cs typeface="Canva Sans"/>
                <a:sym typeface="Canva Sans"/>
              </a:rPr>
              <a:t>Convergence Failure: Data separation hinders optimal parameter estimation.</a:t>
            </a:r>
          </a:p>
          <a:p>
            <a:pPr marL="604519" lvl="1" indent="-302260" algn="l">
              <a:lnSpc>
                <a:spcPts val="3919"/>
              </a:lnSpc>
              <a:buFont typeface="Arial"/>
              <a:buChar char="•"/>
            </a:pPr>
            <a:r>
              <a:rPr lang="en-US" sz="2799" dirty="0">
                <a:solidFill>
                  <a:srgbClr val="000000"/>
                </a:solidFill>
                <a:latin typeface="Canva Sans"/>
                <a:ea typeface="Canva Sans"/>
                <a:cs typeface="Canva Sans"/>
                <a:sym typeface="Canva Sans"/>
              </a:rPr>
              <a:t>Instability: Large standard errors and wide confidence intervals suggest unreliable coefficients.</a:t>
            </a:r>
          </a:p>
          <a:p>
            <a:pPr marL="604519" lvl="1" indent="-302260" algn="l">
              <a:lnSpc>
                <a:spcPts val="3919"/>
              </a:lnSpc>
              <a:buFont typeface="Arial"/>
              <a:buChar char="•"/>
            </a:pPr>
            <a:r>
              <a:rPr lang="en-US" sz="2799" dirty="0">
                <a:solidFill>
                  <a:srgbClr val="000000"/>
                </a:solidFill>
                <a:latin typeface="Canva Sans"/>
                <a:ea typeface="Canva Sans"/>
                <a:cs typeface="Canva Sans"/>
                <a:sym typeface="Canva Sans"/>
              </a:rPr>
              <a:t>Lack of Significance: All p-values are 1.000, meaning no predictor variables are statistically significant.</a:t>
            </a:r>
          </a:p>
        </p:txBody>
      </p:sp>
      <p:sp>
        <p:nvSpPr>
          <p:cNvPr id="14" name="TextBox 14"/>
          <p:cNvSpPr txBox="1"/>
          <p:nvPr/>
        </p:nvSpPr>
        <p:spPr>
          <a:xfrm>
            <a:off x="1485900" y="1670689"/>
            <a:ext cx="15316200" cy="1187826"/>
          </a:xfrm>
          <a:prstGeom prst="rect">
            <a:avLst/>
          </a:prstGeom>
        </p:spPr>
        <p:txBody>
          <a:bodyPr wrap="square" lIns="0" tIns="0" rIns="0" bIns="0" rtlCol="0" anchor="t">
            <a:spAutoFit/>
          </a:bodyPr>
          <a:lstStyle/>
          <a:p>
            <a:pPr algn="ctr">
              <a:lnSpc>
                <a:spcPts val="10080"/>
              </a:lnSpc>
            </a:pPr>
            <a:r>
              <a:rPr lang="en-US" sz="7200" b="1" dirty="0">
                <a:latin typeface="Times New Roman Bold"/>
                <a:ea typeface="Times New Roman Bold"/>
                <a:cs typeface="Times New Roman Bold"/>
                <a:sym typeface="Times New Roman Bold"/>
              </a:rPr>
              <a:t>Binary Regression on Dataset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
            <a:chOff x="0" y="0"/>
            <a:chExt cx="24384000" cy="1371600"/>
          </a:xfrm>
        </p:grpSpPr>
        <p:sp>
          <p:nvSpPr>
            <p:cNvPr id="3" name="Freeform 3"/>
            <p:cNvSpPr/>
            <p:nvPr/>
          </p:nvSpPr>
          <p:spPr>
            <a:xfrm>
              <a:off x="0" y="0"/>
              <a:ext cx="24384000" cy="1371600"/>
            </a:xfrm>
            <a:custGeom>
              <a:avLst/>
              <a:gdLst/>
              <a:ahLst/>
              <a:cxnLst/>
              <a:rect l="l" t="t" r="r" b="b"/>
              <a:pathLst>
                <a:path w="24384000" h="1371600">
                  <a:moveTo>
                    <a:pt x="24384000" y="0"/>
                  </a:moveTo>
                  <a:lnTo>
                    <a:pt x="0" y="0"/>
                  </a:lnTo>
                  <a:lnTo>
                    <a:pt x="0" y="1371600"/>
                  </a:lnTo>
                  <a:lnTo>
                    <a:pt x="24384000" y="1371600"/>
                  </a:lnTo>
                  <a:lnTo>
                    <a:pt x="24384000" y="0"/>
                  </a:lnTo>
                  <a:close/>
                </a:path>
              </a:pathLst>
            </a:custGeom>
            <a:solidFill>
              <a:srgbClr val="D2222A"/>
            </a:solidFill>
          </p:spPr>
        </p:sp>
      </p:grpSp>
      <p:sp>
        <p:nvSpPr>
          <p:cNvPr id="4" name="Freeform 4"/>
          <p:cNvSpPr/>
          <p:nvPr/>
        </p:nvSpPr>
        <p:spPr>
          <a:xfrm>
            <a:off x="3600450" y="657225"/>
            <a:ext cx="3543300" cy="657225"/>
          </a:xfrm>
          <a:custGeom>
            <a:avLst/>
            <a:gdLst/>
            <a:ahLst/>
            <a:cxnLst/>
            <a:rect l="l" t="t" r="r" b="b"/>
            <a:pathLst>
              <a:path w="3543300" h="657225">
                <a:moveTo>
                  <a:pt x="0" y="0"/>
                </a:moveTo>
                <a:lnTo>
                  <a:pt x="3543300" y="0"/>
                </a:lnTo>
                <a:lnTo>
                  <a:pt x="3543300" y="657225"/>
                </a:lnTo>
                <a:lnTo>
                  <a:pt x="0" y="657225"/>
                </a:lnTo>
                <a:lnTo>
                  <a:pt x="0" y="0"/>
                </a:lnTo>
                <a:close/>
              </a:path>
            </a:pathLst>
          </a:custGeom>
          <a:blipFill>
            <a:blip r:embed="rId2"/>
            <a:stretch>
              <a:fillRect/>
            </a:stretch>
          </a:blipFill>
        </p:spPr>
      </p:sp>
      <p:sp>
        <p:nvSpPr>
          <p:cNvPr id="5" name="Freeform 5"/>
          <p:cNvSpPr/>
          <p:nvPr/>
        </p:nvSpPr>
        <p:spPr>
          <a:xfrm>
            <a:off x="0" y="171354"/>
            <a:ext cx="7551039" cy="1707356"/>
          </a:xfrm>
          <a:custGeom>
            <a:avLst/>
            <a:gdLst/>
            <a:ahLst/>
            <a:cxnLst/>
            <a:rect l="l" t="t" r="r" b="b"/>
            <a:pathLst>
              <a:path w="7551039" h="1707356">
                <a:moveTo>
                  <a:pt x="0" y="0"/>
                </a:moveTo>
                <a:lnTo>
                  <a:pt x="7551039" y="0"/>
                </a:lnTo>
                <a:lnTo>
                  <a:pt x="7551039" y="1707356"/>
                </a:lnTo>
                <a:lnTo>
                  <a:pt x="0" y="1707356"/>
                </a:lnTo>
                <a:lnTo>
                  <a:pt x="0" y="0"/>
                </a:lnTo>
                <a:close/>
              </a:path>
            </a:pathLst>
          </a:custGeom>
          <a:blipFill>
            <a:blip r:embed="rId3"/>
            <a:stretch>
              <a:fillRect t="-67" b="-67"/>
            </a:stretch>
          </a:blipFill>
        </p:spPr>
      </p:sp>
      <p:sp>
        <p:nvSpPr>
          <p:cNvPr id="6" name="Freeform 6"/>
          <p:cNvSpPr/>
          <p:nvPr/>
        </p:nvSpPr>
        <p:spPr>
          <a:xfrm>
            <a:off x="0" y="257175"/>
            <a:ext cx="7472361" cy="1457325"/>
          </a:xfrm>
          <a:custGeom>
            <a:avLst/>
            <a:gdLst/>
            <a:ahLst/>
            <a:cxnLst/>
            <a:rect l="l" t="t" r="r" b="b"/>
            <a:pathLst>
              <a:path w="7472361" h="1457325">
                <a:moveTo>
                  <a:pt x="0" y="0"/>
                </a:moveTo>
                <a:lnTo>
                  <a:pt x="7472361" y="0"/>
                </a:lnTo>
                <a:lnTo>
                  <a:pt x="7472361" y="1457325"/>
                </a:lnTo>
                <a:lnTo>
                  <a:pt x="0" y="1457325"/>
                </a:lnTo>
                <a:lnTo>
                  <a:pt x="0" y="0"/>
                </a:lnTo>
                <a:close/>
              </a:path>
            </a:pathLst>
          </a:custGeom>
          <a:blipFill>
            <a:blip r:embed="rId4"/>
            <a:stretch>
              <a:fillRect l="-31" r="-31"/>
            </a:stretch>
          </a:blipFill>
        </p:spPr>
      </p:sp>
      <p:grpSp>
        <p:nvGrpSpPr>
          <p:cNvPr id="7" name="Group 7"/>
          <p:cNvGrpSpPr/>
          <p:nvPr/>
        </p:nvGrpSpPr>
        <p:grpSpPr>
          <a:xfrm>
            <a:off x="0" y="10115550"/>
            <a:ext cx="18288000" cy="171450"/>
            <a:chOff x="0" y="0"/>
            <a:chExt cx="24384000" cy="228600"/>
          </a:xfrm>
        </p:grpSpPr>
        <p:sp>
          <p:nvSpPr>
            <p:cNvPr id="8" name="Freeform 8"/>
            <p:cNvSpPr/>
            <p:nvPr/>
          </p:nvSpPr>
          <p:spPr>
            <a:xfrm>
              <a:off x="0" y="0"/>
              <a:ext cx="24384000" cy="228600"/>
            </a:xfrm>
            <a:custGeom>
              <a:avLst/>
              <a:gdLst/>
              <a:ahLst/>
              <a:cxnLst/>
              <a:rect l="l" t="t" r="r" b="b"/>
              <a:pathLst>
                <a:path w="24384000" h="228600">
                  <a:moveTo>
                    <a:pt x="24384000" y="0"/>
                  </a:moveTo>
                  <a:lnTo>
                    <a:pt x="0" y="0"/>
                  </a:lnTo>
                  <a:lnTo>
                    <a:pt x="0" y="228600"/>
                  </a:lnTo>
                  <a:lnTo>
                    <a:pt x="24384000" y="228600"/>
                  </a:lnTo>
                  <a:lnTo>
                    <a:pt x="24384000" y="0"/>
                  </a:lnTo>
                  <a:close/>
                </a:path>
              </a:pathLst>
            </a:custGeom>
            <a:solidFill>
              <a:srgbClr val="D2222A"/>
            </a:solidFill>
          </p:spPr>
        </p:sp>
      </p:grpSp>
      <p:grpSp>
        <p:nvGrpSpPr>
          <p:cNvPr id="9" name="Group 9"/>
          <p:cNvGrpSpPr/>
          <p:nvPr/>
        </p:nvGrpSpPr>
        <p:grpSpPr>
          <a:xfrm>
            <a:off x="16967835" y="9628346"/>
            <a:ext cx="324802" cy="364806"/>
            <a:chOff x="0" y="0"/>
            <a:chExt cx="433070" cy="486408"/>
          </a:xfrm>
        </p:grpSpPr>
        <p:sp>
          <p:nvSpPr>
            <p:cNvPr id="10" name="Freeform 10"/>
            <p:cNvSpPr/>
            <p:nvPr/>
          </p:nvSpPr>
          <p:spPr>
            <a:xfrm>
              <a:off x="0" y="0"/>
              <a:ext cx="433070" cy="486408"/>
            </a:xfrm>
            <a:custGeom>
              <a:avLst/>
              <a:gdLst/>
              <a:ahLst/>
              <a:cxnLst/>
              <a:rect l="l" t="t" r="r" b="b"/>
              <a:pathLst>
                <a:path w="433070" h="486408">
                  <a:moveTo>
                    <a:pt x="0" y="0"/>
                  </a:moveTo>
                  <a:lnTo>
                    <a:pt x="433070" y="0"/>
                  </a:lnTo>
                  <a:lnTo>
                    <a:pt x="433070" y="486408"/>
                  </a:lnTo>
                  <a:lnTo>
                    <a:pt x="0" y="486408"/>
                  </a:lnTo>
                  <a:close/>
                </a:path>
              </a:pathLst>
            </a:custGeom>
            <a:solidFill>
              <a:srgbClr val="000000">
                <a:alpha val="0"/>
              </a:srgbClr>
            </a:solidFill>
          </p:spPr>
        </p:sp>
        <p:sp>
          <p:nvSpPr>
            <p:cNvPr id="11" name="TextBox 11"/>
            <p:cNvSpPr txBox="1"/>
            <p:nvPr/>
          </p:nvSpPr>
          <p:spPr>
            <a:xfrm>
              <a:off x="0" y="-47625"/>
              <a:ext cx="433070" cy="534033"/>
            </a:xfrm>
            <a:prstGeom prst="rect">
              <a:avLst/>
            </a:prstGeom>
          </p:spPr>
          <p:txBody>
            <a:bodyPr lIns="0" tIns="0" rIns="0" bIns="0" rtlCol="0" anchor="t"/>
            <a:lstStyle/>
            <a:p>
              <a:pPr algn="l">
                <a:lnSpc>
                  <a:spcPts val="2520"/>
                </a:lnSpc>
              </a:pPr>
              <a:r>
                <a:rPr lang="en-US" sz="2100" spc="-37">
                  <a:solidFill>
                    <a:srgbClr val="000000"/>
                  </a:solidFill>
                  <a:latin typeface="Arial"/>
                  <a:ea typeface="Arial"/>
                  <a:cs typeface="Arial"/>
                  <a:sym typeface="Arial"/>
                </a:rPr>
                <a:t>16</a:t>
              </a:r>
            </a:p>
          </p:txBody>
        </p:sp>
      </p:grpSp>
      <p:sp>
        <p:nvSpPr>
          <p:cNvPr id="12" name="Freeform 12"/>
          <p:cNvSpPr/>
          <p:nvPr/>
        </p:nvSpPr>
        <p:spPr>
          <a:xfrm>
            <a:off x="9489360" y="3443392"/>
            <a:ext cx="7288962" cy="4257467"/>
          </a:xfrm>
          <a:custGeom>
            <a:avLst/>
            <a:gdLst/>
            <a:ahLst/>
            <a:cxnLst/>
            <a:rect l="l" t="t" r="r" b="b"/>
            <a:pathLst>
              <a:path w="7288962" h="4257467">
                <a:moveTo>
                  <a:pt x="0" y="0"/>
                </a:moveTo>
                <a:lnTo>
                  <a:pt x="7288962" y="0"/>
                </a:lnTo>
                <a:lnTo>
                  <a:pt x="7288962" y="4257466"/>
                </a:lnTo>
                <a:lnTo>
                  <a:pt x="0" y="4257466"/>
                </a:lnTo>
                <a:lnTo>
                  <a:pt x="0" y="0"/>
                </a:lnTo>
                <a:close/>
              </a:path>
            </a:pathLst>
          </a:custGeom>
          <a:blipFill>
            <a:blip r:embed="rId5"/>
            <a:stretch>
              <a:fillRect/>
            </a:stretch>
          </a:blipFill>
          <a:ln w="38100" cap="sq">
            <a:solidFill>
              <a:srgbClr val="D9D9D9"/>
            </a:solidFill>
            <a:prstDash val="solid"/>
            <a:miter/>
          </a:ln>
        </p:spPr>
      </p:sp>
      <p:sp>
        <p:nvSpPr>
          <p:cNvPr id="13" name="TextBox 13"/>
          <p:cNvSpPr txBox="1"/>
          <p:nvPr/>
        </p:nvSpPr>
        <p:spPr>
          <a:xfrm>
            <a:off x="1674054" y="3981450"/>
            <a:ext cx="7469946" cy="4023345"/>
          </a:xfrm>
          <a:prstGeom prst="rect">
            <a:avLst/>
          </a:prstGeom>
        </p:spPr>
        <p:txBody>
          <a:bodyPr lIns="0" tIns="0" rIns="0" bIns="0" rtlCol="0" anchor="t">
            <a:spAutoFit/>
          </a:bodyPr>
          <a:lstStyle/>
          <a:p>
            <a:pPr algn="just">
              <a:lnSpc>
                <a:spcPts val="3479"/>
              </a:lnSpc>
              <a:spcBef>
                <a:spcPct val="0"/>
              </a:spcBef>
            </a:pPr>
            <a:r>
              <a:rPr lang="en-US" sz="2899" spc="-49" dirty="0">
                <a:solidFill>
                  <a:srgbClr val="000000"/>
                </a:solidFill>
                <a:latin typeface="Canva Sans" panose="020B0604020202020204" charset="0"/>
                <a:ea typeface="Arial"/>
                <a:cs typeface="Arial"/>
                <a:sym typeface="Arial"/>
              </a:rPr>
              <a:t>We look at p-values from the model summary:</a:t>
            </a:r>
          </a:p>
          <a:p>
            <a:pPr marL="626106" lvl="1" indent="-313053" algn="just">
              <a:lnSpc>
                <a:spcPts val="3479"/>
              </a:lnSpc>
              <a:spcBef>
                <a:spcPct val="0"/>
              </a:spcBef>
              <a:buFont typeface="Arial"/>
              <a:buChar char="•"/>
            </a:pPr>
            <a:r>
              <a:rPr lang="en-US" sz="2899" spc="-49" dirty="0">
                <a:solidFill>
                  <a:srgbClr val="000000"/>
                </a:solidFill>
                <a:latin typeface="Canva Sans" panose="020B0604020202020204" charset="0"/>
                <a:ea typeface="Arial"/>
                <a:cs typeface="Arial"/>
                <a:sym typeface="Arial"/>
              </a:rPr>
              <a:t>If p-value &lt; 0.05, the factor is statistically significant in predicting the outcome.</a:t>
            </a:r>
          </a:p>
          <a:p>
            <a:pPr marL="626106" lvl="1" indent="-313053" algn="just">
              <a:lnSpc>
                <a:spcPts val="3479"/>
              </a:lnSpc>
              <a:spcBef>
                <a:spcPct val="0"/>
              </a:spcBef>
              <a:buFont typeface="Arial"/>
              <a:buChar char="•"/>
            </a:pPr>
            <a:r>
              <a:rPr lang="en-US" sz="2899" spc="-49" dirty="0">
                <a:solidFill>
                  <a:srgbClr val="000000"/>
                </a:solidFill>
                <a:latin typeface="Canva Sans" panose="020B0604020202020204" charset="0"/>
                <a:ea typeface="Arial"/>
                <a:cs typeface="Arial"/>
                <a:sym typeface="Arial"/>
              </a:rPr>
              <a:t>Compute Odds Ratios:</a:t>
            </a:r>
          </a:p>
          <a:p>
            <a:pPr marL="626106" lvl="1" indent="-313053" algn="just">
              <a:lnSpc>
                <a:spcPts val="3479"/>
              </a:lnSpc>
              <a:spcBef>
                <a:spcPct val="0"/>
              </a:spcBef>
              <a:buFont typeface="Arial"/>
              <a:buChar char="•"/>
            </a:pPr>
            <a:r>
              <a:rPr lang="en-US" sz="2899" spc="-49" dirty="0">
                <a:solidFill>
                  <a:srgbClr val="000000"/>
                </a:solidFill>
                <a:latin typeface="Canva Sans" panose="020B0604020202020204" charset="0"/>
                <a:ea typeface="Arial"/>
                <a:cs typeface="Arial"/>
                <a:sym typeface="Arial"/>
              </a:rPr>
              <a:t>If Odds Ratio &gt; 1, it increases the risk.</a:t>
            </a:r>
          </a:p>
          <a:p>
            <a:pPr marL="626106" lvl="1" indent="-313053" algn="just">
              <a:lnSpc>
                <a:spcPts val="3479"/>
              </a:lnSpc>
              <a:spcBef>
                <a:spcPct val="0"/>
              </a:spcBef>
              <a:buFont typeface="Arial"/>
              <a:buChar char="•"/>
            </a:pPr>
            <a:r>
              <a:rPr lang="en-US" sz="2899" spc="-49" dirty="0">
                <a:solidFill>
                  <a:srgbClr val="000000"/>
                </a:solidFill>
                <a:latin typeface="Canva Sans" panose="020B0604020202020204" charset="0"/>
                <a:ea typeface="Arial"/>
                <a:cs typeface="Arial"/>
                <a:sym typeface="Arial"/>
              </a:rPr>
              <a:t>If Odds Ratio &lt; 1, it decreases the risk.</a:t>
            </a:r>
          </a:p>
          <a:p>
            <a:pPr algn="just">
              <a:lnSpc>
                <a:spcPts val="3479"/>
              </a:lnSpc>
              <a:spcBef>
                <a:spcPct val="0"/>
              </a:spcBef>
            </a:pPr>
            <a:endParaRPr lang="en-US" sz="2899" spc="-49" dirty="0">
              <a:solidFill>
                <a:srgbClr val="000000"/>
              </a:solidFill>
              <a:latin typeface="Canva Sans" panose="020B0604020202020204" charset="0"/>
              <a:ea typeface="Arial"/>
              <a:cs typeface="Arial"/>
              <a:sym typeface="Arial"/>
            </a:endParaRPr>
          </a:p>
        </p:txBody>
      </p:sp>
      <p:sp>
        <p:nvSpPr>
          <p:cNvPr id="14" name="TextBox 14"/>
          <p:cNvSpPr txBox="1"/>
          <p:nvPr/>
        </p:nvSpPr>
        <p:spPr>
          <a:xfrm>
            <a:off x="6683552" y="1735835"/>
            <a:ext cx="4920896" cy="1102866"/>
          </a:xfrm>
          <a:prstGeom prst="rect">
            <a:avLst/>
          </a:prstGeom>
        </p:spPr>
        <p:txBody>
          <a:bodyPr lIns="0" tIns="0" rIns="0" bIns="0" rtlCol="0" anchor="t">
            <a:spAutoFit/>
          </a:bodyPr>
          <a:lstStyle/>
          <a:p>
            <a:pPr algn="ctr">
              <a:lnSpc>
                <a:spcPts val="8640"/>
              </a:lnSpc>
              <a:spcBef>
                <a:spcPct val="0"/>
              </a:spcBef>
            </a:pPr>
            <a:r>
              <a:rPr lang="en-US" sz="7200" b="1" spc="-128" dirty="0">
                <a:latin typeface="Times New Roman Bold"/>
                <a:ea typeface="Times New Roman Bold"/>
                <a:cs typeface="Times New Roman Bold"/>
                <a:sym typeface="Times New Roman Bold"/>
              </a:rPr>
              <a:t>Odds Ratio</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314450"/>
            <a:chOff x="0" y="0"/>
            <a:chExt cx="24384000" cy="1752600"/>
          </a:xfrm>
        </p:grpSpPr>
        <p:sp>
          <p:nvSpPr>
            <p:cNvPr id="3" name="Freeform 3"/>
            <p:cNvSpPr/>
            <p:nvPr/>
          </p:nvSpPr>
          <p:spPr>
            <a:xfrm>
              <a:off x="0" y="0"/>
              <a:ext cx="24384000" cy="1752600"/>
            </a:xfrm>
            <a:custGeom>
              <a:avLst/>
              <a:gdLst/>
              <a:ahLst/>
              <a:cxnLst/>
              <a:rect l="l" t="t" r="r" b="b"/>
              <a:pathLst>
                <a:path w="24384000" h="1752600">
                  <a:moveTo>
                    <a:pt x="24384000" y="0"/>
                  </a:moveTo>
                  <a:lnTo>
                    <a:pt x="0" y="0"/>
                  </a:lnTo>
                  <a:lnTo>
                    <a:pt x="0" y="1752600"/>
                  </a:lnTo>
                  <a:lnTo>
                    <a:pt x="24384000" y="1752600"/>
                  </a:lnTo>
                  <a:lnTo>
                    <a:pt x="24384000" y="0"/>
                  </a:lnTo>
                  <a:close/>
                </a:path>
              </a:pathLst>
            </a:custGeom>
            <a:solidFill>
              <a:srgbClr val="AC0D09"/>
            </a:solidFill>
          </p:spPr>
        </p:sp>
      </p:grpSp>
      <p:sp>
        <p:nvSpPr>
          <p:cNvPr id="4" name="Freeform 4"/>
          <p:cNvSpPr/>
          <p:nvPr/>
        </p:nvSpPr>
        <p:spPr>
          <a:xfrm>
            <a:off x="3600450" y="657225"/>
            <a:ext cx="3543300" cy="657225"/>
          </a:xfrm>
          <a:custGeom>
            <a:avLst/>
            <a:gdLst/>
            <a:ahLst/>
            <a:cxnLst/>
            <a:rect l="l" t="t" r="r" b="b"/>
            <a:pathLst>
              <a:path w="3543300" h="657225">
                <a:moveTo>
                  <a:pt x="0" y="0"/>
                </a:moveTo>
                <a:lnTo>
                  <a:pt x="3543300" y="0"/>
                </a:lnTo>
                <a:lnTo>
                  <a:pt x="3543300" y="657225"/>
                </a:lnTo>
                <a:lnTo>
                  <a:pt x="0" y="657225"/>
                </a:lnTo>
                <a:lnTo>
                  <a:pt x="0" y="0"/>
                </a:lnTo>
                <a:close/>
              </a:path>
            </a:pathLst>
          </a:custGeom>
          <a:blipFill>
            <a:blip r:embed="rId2"/>
            <a:stretch>
              <a:fillRect/>
            </a:stretch>
          </a:blipFill>
        </p:spPr>
      </p:sp>
      <p:sp>
        <p:nvSpPr>
          <p:cNvPr id="5" name="Freeform 5"/>
          <p:cNvSpPr/>
          <p:nvPr/>
        </p:nvSpPr>
        <p:spPr>
          <a:xfrm>
            <a:off x="0" y="171354"/>
            <a:ext cx="7551039" cy="1707356"/>
          </a:xfrm>
          <a:custGeom>
            <a:avLst/>
            <a:gdLst/>
            <a:ahLst/>
            <a:cxnLst/>
            <a:rect l="l" t="t" r="r" b="b"/>
            <a:pathLst>
              <a:path w="7551039" h="1707356">
                <a:moveTo>
                  <a:pt x="0" y="0"/>
                </a:moveTo>
                <a:lnTo>
                  <a:pt x="7551039" y="0"/>
                </a:lnTo>
                <a:lnTo>
                  <a:pt x="7551039" y="1707356"/>
                </a:lnTo>
                <a:lnTo>
                  <a:pt x="0" y="1707356"/>
                </a:lnTo>
                <a:lnTo>
                  <a:pt x="0" y="0"/>
                </a:lnTo>
                <a:close/>
              </a:path>
            </a:pathLst>
          </a:custGeom>
          <a:blipFill>
            <a:blip r:embed="rId3"/>
            <a:stretch>
              <a:fillRect t="-67" b="-67"/>
            </a:stretch>
          </a:blipFill>
        </p:spPr>
      </p:sp>
      <p:sp>
        <p:nvSpPr>
          <p:cNvPr id="6" name="Freeform 6"/>
          <p:cNvSpPr/>
          <p:nvPr/>
        </p:nvSpPr>
        <p:spPr>
          <a:xfrm>
            <a:off x="0" y="257175"/>
            <a:ext cx="7472361" cy="1457325"/>
          </a:xfrm>
          <a:custGeom>
            <a:avLst/>
            <a:gdLst/>
            <a:ahLst/>
            <a:cxnLst/>
            <a:rect l="l" t="t" r="r" b="b"/>
            <a:pathLst>
              <a:path w="7472361" h="1457325">
                <a:moveTo>
                  <a:pt x="0" y="0"/>
                </a:moveTo>
                <a:lnTo>
                  <a:pt x="7472361" y="0"/>
                </a:lnTo>
                <a:lnTo>
                  <a:pt x="7472361" y="1457325"/>
                </a:lnTo>
                <a:lnTo>
                  <a:pt x="0" y="1457325"/>
                </a:lnTo>
                <a:lnTo>
                  <a:pt x="0" y="0"/>
                </a:lnTo>
                <a:close/>
              </a:path>
            </a:pathLst>
          </a:custGeom>
          <a:blipFill>
            <a:blip r:embed="rId4"/>
            <a:stretch>
              <a:fillRect l="-31" r="-31"/>
            </a:stretch>
          </a:blipFill>
        </p:spPr>
      </p:sp>
      <p:sp>
        <p:nvSpPr>
          <p:cNvPr id="7" name="Freeform 7"/>
          <p:cNvSpPr/>
          <p:nvPr/>
        </p:nvSpPr>
        <p:spPr>
          <a:xfrm>
            <a:off x="2586038" y="614362"/>
            <a:ext cx="4829175" cy="742950"/>
          </a:xfrm>
          <a:custGeom>
            <a:avLst/>
            <a:gdLst/>
            <a:ahLst/>
            <a:cxnLst/>
            <a:rect l="l" t="t" r="r" b="b"/>
            <a:pathLst>
              <a:path w="4829175" h="742950">
                <a:moveTo>
                  <a:pt x="0" y="0"/>
                </a:moveTo>
                <a:lnTo>
                  <a:pt x="4829174" y="0"/>
                </a:lnTo>
                <a:lnTo>
                  <a:pt x="4829174" y="742950"/>
                </a:lnTo>
                <a:lnTo>
                  <a:pt x="0" y="742950"/>
                </a:lnTo>
                <a:lnTo>
                  <a:pt x="0" y="0"/>
                </a:lnTo>
                <a:close/>
              </a:path>
            </a:pathLst>
          </a:custGeom>
          <a:blipFill>
            <a:blip r:embed="rId5"/>
            <a:stretch>
              <a:fillRect l="-126" r="-126"/>
            </a:stretch>
          </a:blipFill>
        </p:spPr>
      </p:sp>
      <p:grpSp>
        <p:nvGrpSpPr>
          <p:cNvPr id="8" name="Group 8"/>
          <p:cNvGrpSpPr/>
          <p:nvPr/>
        </p:nvGrpSpPr>
        <p:grpSpPr>
          <a:xfrm>
            <a:off x="0" y="10115550"/>
            <a:ext cx="18288000" cy="171450"/>
            <a:chOff x="0" y="0"/>
            <a:chExt cx="24384000" cy="228600"/>
          </a:xfrm>
        </p:grpSpPr>
        <p:sp>
          <p:nvSpPr>
            <p:cNvPr id="9" name="Freeform 9"/>
            <p:cNvSpPr/>
            <p:nvPr/>
          </p:nvSpPr>
          <p:spPr>
            <a:xfrm>
              <a:off x="0" y="0"/>
              <a:ext cx="24384000" cy="228600"/>
            </a:xfrm>
            <a:custGeom>
              <a:avLst/>
              <a:gdLst/>
              <a:ahLst/>
              <a:cxnLst/>
              <a:rect l="l" t="t" r="r" b="b"/>
              <a:pathLst>
                <a:path w="24384000" h="228600">
                  <a:moveTo>
                    <a:pt x="24384000" y="0"/>
                  </a:moveTo>
                  <a:lnTo>
                    <a:pt x="0" y="0"/>
                  </a:lnTo>
                  <a:lnTo>
                    <a:pt x="0" y="228600"/>
                  </a:lnTo>
                  <a:lnTo>
                    <a:pt x="24384000" y="228600"/>
                  </a:lnTo>
                  <a:lnTo>
                    <a:pt x="24384000" y="0"/>
                  </a:lnTo>
                  <a:close/>
                </a:path>
              </a:pathLst>
            </a:custGeom>
            <a:solidFill>
              <a:srgbClr val="D2222A"/>
            </a:solidFill>
          </p:spPr>
        </p:sp>
      </p:grpSp>
      <p:grpSp>
        <p:nvGrpSpPr>
          <p:cNvPr id="10" name="Group 10"/>
          <p:cNvGrpSpPr/>
          <p:nvPr/>
        </p:nvGrpSpPr>
        <p:grpSpPr>
          <a:xfrm>
            <a:off x="17637441" y="9539763"/>
            <a:ext cx="324802" cy="364806"/>
            <a:chOff x="0" y="0"/>
            <a:chExt cx="433070" cy="486408"/>
          </a:xfrm>
        </p:grpSpPr>
        <p:sp>
          <p:nvSpPr>
            <p:cNvPr id="11" name="Freeform 11"/>
            <p:cNvSpPr/>
            <p:nvPr/>
          </p:nvSpPr>
          <p:spPr>
            <a:xfrm>
              <a:off x="0" y="0"/>
              <a:ext cx="433070" cy="486408"/>
            </a:xfrm>
            <a:custGeom>
              <a:avLst/>
              <a:gdLst/>
              <a:ahLst/>
              <a:cxnLst/>
              <a:rect l="l" t="t" r="r" b="b"/>
              <a:pathLst>
                <a:path w="433070" h="486408">
                  <a:moveTo>
                    <a:pt x="0" y="0"/>
                  </a:moveTo>
                  <a:lnTo>
                    <a:pt x="433070" y="0"/>
                  </a:lnTo>
                  <a:lnTo>
                    <a:pt x="433070" y="486408"/>
                  </a:lnTo>
                  <a:lnTo>
                    <a:pt x="0" y="486408"/>
                  </a:lnTo>
                  <a:close/>
                </a:path>
              </a:pathLst>
            </a:custGeom>
            <a:solidFill>
              <a:srgbClr val="000000">
                <a:alpha val="0"/>
              </a:srgbClr>
            </a:solidFill>
          </p:spPr>
        </p:sp>
        <p:sp>
          <p:nvSpPr>
            <p:cNvPr id="12" name="TextBox 12"/>
            <p:cNvSpPr txBox="1"/>
            <p:nvPr/>
          </p:nvSpPr>
          <p:spPr>
            <a:xfrm>
              <a:off x="0" y="-47625"/>
              <a:ext cx="433070" cy="534033"/>
            </a:xfrm>
            <a:prstGeom prst="rect">
              <a:avLst/>
            </a:prstGeom>
          </p:spPr>
          <p:txBody>
            <a:bodyPr lIns="0" tIns="0" rIns="0" bIns="0" rtlCol="0" anchor="t"/>
            <a:lstStyle/>
            <a:p>
              <a:pPr algn="l">
                <a:lnSpc>
                  <a:spcPts val="2520"/>
                </a:lnSpc>
              </a:pPr>
              <a:r>
                <a:rPr lang="en-US" sz="2100" spc="-37">
                  <a:solidFill>
                    <a:srgbClr val="000000"/>
                  </a:solidFill>
                  <a:latin typeface="Arial"/>
                  <a:ea typeface="Arial"/>
                  <a:cs typeface="Arial"/>
                  <a:sym typeface="Arial"/>
                </a:rPr>
                <a:t>14</a:t>
              </a:r>
            </a:p>
          </p:txBody>
        </p:sp>
      </p:grpSp>
      <p:sp>
        <p:nvSpPr>
          <p:cNvPr id="13" name="Freeform 13"/>
          <p:cNvSpPr/>
          <p:nvPr/>
        </p:nvSpPr>
        <p:spPr>
          <a:xfrm>
            <a:off x="481214" y="3412234"/>
            <a:ext cx="6238471" cy="4017576"/>
          </a:xfrm>
          <a:custGeom>
            <a:avLst/>
            <a:gdLst/>
            <a:ahLst/>
            <a:cxnLst/>
            <a:rect l="l" t="t" r="r" b="b"/>
            <a:pathLst>
              <a:path w="6238471" h="4017576">
                <a:moveTo>
                  <a:pt x="0" y="0"/>
                </a:moveTo>
                <a:lnTo>
                  <a:pt x="6238472" y="0"/>
                </a:lnTo>
                <a:lnTo>
                  <a:pt x="6238472" y="4017576"/>
                </a:lnTo>
                <a:lnTo>
                  <a:pt x="0" y="4017576"/>
                </a:lnTo>
                <a:lnTo>
                  <a:pt x="0" y="0"/>
                </a:lnTo>
                <a:close/>
              </a:path>
            </a:pathLst>
          </a:custGeom>
          <a:blipFill>
            <a:blip r:embed="rId6"/>
            <a:stretch>
              <a:fillRect/>
            </a:stretch>
          </a:blipFill>
        </p:spPr>
      </p:sp>
      <p:sp>
        <p:nvSpPr>
          <p:cNvPr id="14" name="TextBox 14"/>
          <p:cNvSpPr txBox="1"/>
          <p:nvPr/>
        </p:nvSpPr>
        <p:spPr>
          <a:xfrm>
            <a:off x="3677030" y="2508973"/>
            <a:ext cx="11000234" cy="723900"/>
          </a:xfrm>
          <a:prstGeom prst="rect">
            <a:avLst/>
          </a:prstGeom>
        </p:spPr>
        <p:txBody>
          <a:bodyPr lIns="0" tIns="0" rIns="0" bIns="0" rtlCol="0" anchor="t">
            <a:spAutoFit/>
          </a:bodyPr>
          <a:lstStyle/>
          <a:p>
            <a:pPr algn="ctr">
              <a:lnSpc>
                <a:spcPts val="5040"/>
              </a:lnSpc>
              <a:spcBef>
                <a:spcPct val="0"/>
              </a:spcBef>
            </a:pPr>
            <a:r>
              <a:rPr lang="en-US" sz="4200" b="1" dirty="0">
                <a:solidFill>
                  <a:srgbClr val="000000"/>
                </a:solidFill>
                <a:latin typeface="Times New Roman Bold"/>
                <a:ea typeface="Times New Roman Bold"/>
                <a:cs typeface="Times New Roman Bold"/>
                <a:sym typeface="Times New Roman Bold"/>
              </a:rPr>
              <a:t>Leading contributors to increased mortality risk</a:t>
            </a:r>
          </a:p>
        </p:txBody>
      </p:sp>
      <p:sp>
        <p:nvSpPr>
          <p:cNvPr id="15" name="Freeform 15"/>
          <p:cNvSpPr/>
          <p:nvPr/>
        </p:nvSpPr>
        <p:spPr>
          <a:xfrm>
            <a:off x="7757600" y="3628202"/>
            <a:ext cx="4079081" cy="1683548"/>
          </a:xfrm>
          <a:custGeom>
            <a:avLst/>
            <a:gdLst/>
            <a:ahLst/>
            <a:cxnLst/>
            <a:rect l="l" t="t" r="r" b="b"/>
            <a:pathLst>
              <a:path w="4079081" h="1683548">
                <a:moveTo>
                  <a:pt x="0" y="0"/>
                </a:moveTo>
                <a:lnTo>
                  <a:pt x="4079081" y="0"/>
                </a:lnTo>
                <a:lnTo>
                  <a:pt x="4079081" y="1683549"/>
                </a:lnTo>
                <a:lnTo>
                  <a:pt x="0" y="1683549"/>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6" name="Freeform 16"/>
          <p:cNvSpPr/>
          <p:nvPr/>
        </p:nvSpPr>
        <p:spPr>
          <a:xfrm>
            <a:off x="12240646" y="5982005"/>
            <a:ext cx="4079081" cy="1683548"/>
          </a:xfrm>
          <a:custGeom>
            <a:avLst/>
            <a:gdLst/>
            <a:ahLst/>
            <a:cxnLst/>
            <a:rect l="l" t="t" r="r" b="b"/>
            <a:pathLst>
              <a:path w="4079081" h="1683548">
                <a:moveTo>
                  <a:pt x="0" y="0"/>
                </a:moveTo>
                <a:lnTo>
                  <a:pt x="4079082" y="0"/>
                </a:lnTo>
                <a:lnTo>
                  <a:pt x="4079082" y="1683548"/>
                </a:lnTo>
                <a:lnTo>
                  <a:pt x="0" y="1683548"/>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7" name="Freeform 17"/>
          <p:cNvSpPr/>
          <p:nvPr/>
        </p:nvSpPr>
        <p:spPr>
          <a:xfrm>
            <a:off x="13154394" y="3554763"/>
            <a:ext cx="4079081" cy="1683548"/>
          </a:xfrm>
          <a:custGeom>
            <a:avLst/>
            <a:gdLst/>
            <a:ahLst/>
            <a:cxnLst/>
            <a:rect l="l" t="t" r="r" b="b"/>
            <a:pathLst>
              <a:path w="4079081" h="1683548">
                <a:moveTo>
                  <a:pt x="0" y="0"/>
                </a:moveTo>
                <a:lnTo>
                  <a:pt x="4079082" y="0"/>
                </a:lnTo>
                <a:lnTo>
                  <a:pt x="4079082" y="1683548"/>
                </a:lnTo>
                <a:lnTo>
                  <a:pt x="0" y="1683548"/>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8" name="Freeform 18"/>
          <p:cNvSpPr/>
          <p:nvPr/>
        </p:nvSpPr>
        <p:spPr>
          <a:xfrm>
            <a:off x="6761229" y="5867286"/>
            <a:ext cx="4439285" cy="1832214"/>
          </a:xfrm>
          <a:custGeom>
            <a:avLst/>
            <a:gdLst/>
            <a:ahLst/>
            <a:cxnLst/>
            <a:rect l="l" t="t" r="r" b="b"/>
            <a:pathLst>
              <a:path w="4439285" h="1832214">
                <a:moveTo>
                  <a:pt x="0" y="0"/>
                </a:moveTo>
                <a:lnTo>
                  <a:pt x="4439285" y="0"/>
                </a:lnTo>
                <a:lnTo>
                  <a:pt x="4439285" y="1832214"/>
                </a:lnTo>
                <a:lnTo>
                  <a:pt x="0" y="1832214"/>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9" name="TextBox 19"/>
          <p:cNvSpPr txBox="1"/>
          <p:nvPr/>
        </p:nvSpPr>
        <p:spPr>
          <a:xfrm>
            <a:off x="8349609" y="3922645"/>
            <a:ext cx="2895062" cy="910506"/>
          </a:xfrm>
          <a:prstGeom prst="rect">
            <a:avLst/>
          </a:prstGeom>
        </p:spPr>
        <p:txBody>
          <a:bodyPr wrap="square" lIns="0" tIns="0" rIns="0" bIns="0" rtlCol="0" anchor="t">
            <a:spAutoFit/>
          </a:bodyPr>
          <a:lstStyle/>
          <a:p>
            <a:pPr algn="ctr">
              <a:lnSpc>
                <a:spcPts val="7109"/>
              </a:lnSpc>
              <a:spcBef>
                <a:spcPct val="0"/>
              </a:spcBef>
            </a:pPr>
            <a:r>
              <a:rPr lang="en-US" sz="5925" b="1" dirty="0">
                <a:solidFill>
                  <a:srgbClr val="FFFFFF"/>
                </a:solidFill>
                <a:latin typeface="Times New Roman Bold"/>
                <a:ea typeface="Times New Roman Bold"/>
                <a:cs typeface="Times New Roman Bold"/>
                <a:sym typeface="Times New Roman Bold"/>
              </a:rPr>
              <a:t>Smoking</a:t>
            </a:r>
          </a:p>
        </p:txBody>
      </p:sp>
      <p:sp>
        <p:nvSpPr>
          <p:cNvPr id="20" name="TextBox 20"/>
          <p:cNvSpPr txBox="1"/>
          <p:nvPr/>
        </p:nvSpPr>
        <p:spPr>
          <a:xfrm>
            <a:off x="11200514" y="6261804"/>
            <a:ext cx="6298287" cy="1009650"/>
          </a:xfrm>
          <a:prstGeom prst="rect">
            <a:avLst/>
          </a:prstGeom>
        </p:spPr>
        <p:txBody>
          <a:bodyPr lIns="0" tIns="0" rIns="0" bIns="0" rtlCol="0" anchor="t">
            <a:spAutoFit/>
          </a:bodyPr>
          <a:lstStyle/>
          <a:p>
            <a:pPr algn="ctr">
              <a:lnSpc>
                <a:spcPts val="7109"/>
              </a:lnSpc>
              <a:spcBef>
                <a:spcPct val="0"/>
              </a:spcBef>
            </a:pPr>
            <a:r>
              <a:rPr lang="en-US" sz="5925" b="1">
                <a:solidFill>
                  <a:srgbClr val="FFFFFF"/>
                </a:solidFill>
                <a:latin typeface="Times New Roman Bold"/>
                <a:ea typeface="Times New Roman Bold"/>
                <a:cs typeface="Times New Roman Bold"/>
                <a:sym typeface="Times New Roman Bold"/>
              </a:rPr>
              <a:t>Diabetes</a:t>
            </a:r>
          </a:p>
        </p:txBody>
      </p:sp>
      <p:sp>
        <p:nvSpPr>
          <p:cNvPr id="21" name="TextBox 21"/>
          <p:cNvSpPr txBox="1"/>
          <p:nvPr/>
        </p:nvSpPr>
        <p:spPr>
          <a:xfrm>
            <a:off x="13645433" y="3912006"/>
            <a:ext cx="3097001" cy="910506"/>
          </a:xfrm>
          <a:prstGeom prst="rect">
            <a:avLst/>
          </a:prstGeom>
        </p:spPr>
        <p:txBody>
          <a:bodyPr wrap="square" lIns="0" tIns="0" rIns="0" bIns="0" rtlCol="0" anchor="t">
            <a:spAutoFit/>
          </a:bodyPr>
          <a:lstStyle/>
          <a:p>
            <a:pPr algn="ctr">
              <a:lnSpc>
                <a:spcPts val="7109"/>
              </a:lnSpc>
              <a:spcBef>
                <a:spcPct val="0"/>
              </a:spcBef>
            </a:pPr>
            <a:r>
              <a:rPr lang="en-US" sz="5925" b="1" dirty="0">
                <a:solidFill>
                  <a:srgbClr val="FFFFFF"/>
                </a:solidFill>
                <a:latin typeface="Times New Roman Bold"/>
                <a:ea typeface="Times New Roman Bold"/>
                <a:cs typeface="Times New Roman Bold"/>
                <a:sym typeface="Times New Roman Bold"/>
              </a:rPr>
              <a:t>Cancer</a:t>
            </a:r>
          </a:p>
        </p:txBody>
      </p:sp>
      <p:sp>
        <p:nvSpPr>
          <p:cNvPr id="22" name="Freeform 22"/>
          <p:cNvSpPr/>
          <p:nvPr/>
        </p:nvSpPr>
        <p:spPr>
          <a:xfrm rot="-5400000">
            <a:off x="8261040" y="4367475"/>
            <a:ext cx="1832214" cy="4831836"/>
          </a:xfrm>
          <a:custGeom>
            <a:avLst/>
            <a:gdLst/>
            <a:ahLst/>
            <a:cxnLst/>
            <a:rect l="l" t="t" r="r" b="b"/>
            <a:pathLst>
              <a:path w="1832214" h="4831836">
                <a:moveTo>
                  <a:pt x="0" y="0"/>
                </a:moveTo>
                <a:lnTo>
                  <a:pt x="1832214" y="0"/>
                </a:lnTo>
                <a:lnTo>
                  <a:pt x="1832214" y="4831836"/>
                </a:lnTo>
                <a:lnTo>
                  <a:pt x="0" y="4831836"/>
                </a:lnTo>
                <a:lnTo>
                  <a:pt x="0" y="0"/>
                </a:lnTo>
                <a:close/>
              </a:path>
            </a:pathLst>
          </a:custGeom>
          <a:blipFill>
            <a:blip r:embed="rId9"/>
            <a:stretch>
              <a:fillRect l="-259384" t="-146455" r="-137783"/>
            </a:stretch>
          </a:blipFill>
        </p:spPr>
      </p:sp>
      <p:sp>
        <p:nvSpPr>
          <p:cNvPr id="23" name="Freeform 23"/>
          <p:cNvSpPr/>
          <p:nvPr/>
        </p:nvSpPr>
        <p:spPr>
          <a:xfrm rot="-5400000">
            <a:off x="14590864" y="2155013"/>
            <a:ext cx="1610108" cy="4483047"/>
          </a:xfrm>
          <a:custGeom>
            <a:avLst/>
            <a:gdLst/>
            <a:ahLst/>
            <a:cxnLst/>
            <a:rect l="l" t="t" r="r" b="b"/>
            <a:pathLst>
              <a:path w="1610108" h="4483047">
                <a:moveTo>
                  <a:pt x="0" y="0"/>
                </a:moveTo>
                <a:lnTo>
                  <a:pt x="1610109" y="0"/>
                </a:lnTo>
                <a:lnTo>
                  <a:pt x="1610109" y="4483047"/>
                </a:lnTo>
                <a:lnTo>
                  <a:pt x="0" y="4483047"/>
                </a:lnTo>
                <a:lnTo>
                  <a:pt x="0" y="0"/>
                </a:lnTo>
                <a:close/>
              </a:path>
            </a:pathLst>
          </a:custGeom>
          <a:blipFill>
            <a:blip r:embed="rId9"/>
            <a:stretch>
              <a:fillRect l="-332714" t="-165630" r="-133035"/>
            </a:stretch>
          </a:blipFill>
        </p:spPr>
        <p:txBody>
          <a:bodyPr/>
          <a:lstStyle/>
          <a:p>
            <a:endParaRPr lang="en-IN" dirty="0"/>
          </a:p>
        </p:txBody>
      </p:sp>
      <p:sp>
        <p:nvSpPr>
          <p:cNvPr id="24" name="Freeform 24"/>
          <p:cNvSpPr/>
          <p:nvPr/>
        </p:nvSpPr>
        <p:spPr>
          <a:xfrm rot="-5400000">
            <a:off x="9170512" y="2241616"/>
            <a:ext cx="1657220" cy="4483047"/>
          </a:xfrm>
          <a:custGeom>
            <a:avLst/>
            <a:gdLst/>
            <a:ahLst/>
            <a:cxnLst/>
            <a:rect l="l" t="t" r="r" b="b"/>
            <a:pathLst>
              <a:path w="1657220" h="4483047">
                <a:moveTo>
                  <a:pt x="0" y="0"/>
                </a:moveTo>
                <a:lnTo>
                  <a:pt x="1657220" y="0"/>
                </a:lnTo>
                <a:lnTo>
                  <a:pt x="1657220" y="4483047"/>
                </a:lnTo>
                <a:lnTo>
                  <a:pt x="0" y="4483047"/>
                </a:lnTo>
                <a:lnTo>
                  <a:pt x="0" y="0"/>
                </a:lnTo>
                <a:close/>
              </a:path>
            </a:pathLst>
          </a:custGeom>
          <a:blipFill>
            <a:blip r:embed="rId9"/>
            <a:stretch>
              <a:fillRect l="-323255" t="-165630" r="-126410"/>
            </a:stretch>
          </a:blipFill>
        </p:spPr>
        <p:txBody>
          <a:bodyPr/>
          <a:lstStyle/>
          <a:p>
            <a:r>
              <a:rPr lang="en-US" dirty="0"/>
              <a:t>  </a:t>
            </a:r>
            <a:endParaRPr lang="en-IN" dirty="0"/>
          </a:p>
        </p:txBody>
      </p:sp>
      <p:sp>
        <p:nvSpPr>
          <p:cNvPr id="25" name="Freeform 25"/>
          <p:cNvSpPr/>
          <p:nvPr/>
        </p:nvSpPr>
        <p:spPr>
          <a:xfrm rot="-5400000">
            <a:off x="13606449" y="4582256"/>
            <a:ext cx="1751442" cy="4483047"/>
          </a:xfrm>
          <a:custGeom>
            <a:avLst/>
            <a:gdLst/>
            <a:ahLst/>
            <a:cxnLst/>
            <a:rect l="l" t="t" r="r" b="b"/>
            <a:pathLst>
              <a:path w="1751442" h="4483047">
                <a:moveTo>
                  <a:pt x="0" y="0"/>
                </a:moveTo>
                <a:lnTo>
                  <a:pt x="1751441" y="0"/>
                </a:lnTo>
                <a:lnTo>
                  <a:pt x="1751441" y="4483047"/>
                </a:lnTo>
                <a:lnTo>
                  <a:pt x="0" y="4483047"/>
                </a:lnTo>
                <a:lnTo>
                  <a:pt x="0" y="0"/>
                </a:lnTo>
                <a:close/>
              </a:path>
            </a:pathLst>
          </a:custGeom>
          <a:blipFill>
            <a:blip r:embed="rId9"/>
            <a:stretch>
              <a:fillRect l="-305865" t="-165630" r="-114230"/>
            </a:stretch>
          </a:blipFill>
        </p:spPr>
        <p:txBody>
          <a:bodyPr/>
          <a:lstStyle/>
          <a:p>
            <a:endParaRPr lang="en-IN" dirty="0"/>
          </a:p>
        </p:txBody>
      </p:sp>
      <p:sp>
        <p:nvSpPr>
          <p:cNvPr id="26" name="TextBox 26"/>
          <p:cNvSpPr txBox="1"/>
          <p:nvPr/>
        </p:nvSpPr>
        <p:spPr>
          <a:xfrm>
            <a:off x="6761229" y="6261804"/>
            <a:ext cx="4351847" cy="910506"/>
          </a:xfrm>
          <a:prstGeom prst="rect">
            <a:avLst/>
          </a:prstGeom>
        </p:spPr>
        <p:txBody>
          <a:bodyPr wrap="square" lIns="0" tIns="0" rIns="0" bIns="0" rtlCol="0" anchor="t">
            <a:spAutoFit/>
          </a:bodyPr>
          <a:lstStyle/>
          <a:p>
            <a:pPr algn="ctr">
              <a:lnSpc>
                <a:spcPts val="7109"/>
              </a:lnSpc>
              <a:spcBef>
                <a:spcPct val="0"/>
              </a:spcBef>
            </a:pPr>
            <a:r>
              <a:rPr lang="en-US" sz="5925" b="1" dirty="0">
                <a:solidFill>
                  <a:srgbClr val="FFFFFF"/>
                </a:solidFill>
                <a:latin typeface="Times New Roman Bold"/>
                <a:ea typeface="Times New Roman Bold"/>
                <a:cs typeface="Times New Roman Bold"/>
                <a:sym typeface="Times New Roman Bold"/>
              </a:rPr>
              <a:t>Hypertension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
            <a:chOff x="0" y="0"/>
            <a:chExt cx="24384000" cy="1371600"/>
          </a:xfrm>
        </p:grpSpPr>
        <p:sp>
          <p:nvSpPr>
            <p:cNvPr id="3" name="Freeform 3"/>
            <p:cNvSpPr/>
            <p:nvPr/>
          </p:nvSpPr>
          <p:spPr>
            <a:xfrm>
              <a:off x="0" y="0"/>
              <a:ext cx="24384000" cy="1371600"/>
            </a:xfrm>
            <a:custGeom>
              <a:avLst/>
              <a:gdLst/>
              <a:ahLst/>
              <a:cxnLst/>
              <a:rect l="l" t="t" r="r" b="b"/>
              <a:pathLst>
                <a:path w="24384000" h="1371600">
                  <a:moveTo>
                    <a:pt x="24384000" y="0"/>
                  </a:moveTo>
                  <a:lnTo>
                    <a:pt x="0" y="0"/>
                  </a:lnTo>
                  <a:lnTo>
                    <a:pt x="0" y="1371600"/>
                  </a:lnTo>
                  <a:lnTo>
                    <a:pt x="24384000" y="1371600"/>
                  </a:lnTo>
                  <a:lnTo>
                    <a:pt x="24384000" y="0"/>
                  </a:lnTo>
                  <a:close/>
                </a:path>
              </a:pathLst>
            </a:custGeom>
            <a:solidFill>
              <a:srgbClr val="D2222A"/>
            </a:solidFill>
          </p:spPr>
        </p:sp>
      </p:grpSp>
      <p:sp>
        <p:nvSpPr>
          <p:cNvPr id="4" name="Freeform 4"/>
          <p:cNvSpPr/>
          <p:nvPr/>
        </p:nvSpPr>
        <p:spPr>
          <a:xfrm>
            <a:off x="3600450" y="657225"/>
            <a:ext cx="3543300" cy="657225"/>
          </a:xfrm>
          <a:custGeom>
            <a:avLst/>
            <a:gdLst/>
            <a:ahLst/>
            <a:cxnLst/>
            <a:rect l="l" t="t" r="r" b="b"/>
            <a:pathLst>
              <a:path w="3543300" h="657225">
                <a:moveTo>
                  <a:pt x="0" y="0"/>
                </a:moveTo>
                <a:lnTo>
                  <a:pt x="3543300" y="0"/>
                </a:lnTo>
                <a:lnTo>
                  <a:pt x="3543300" y="657225"/>
                </a:lnTo>
                <a:lnTo>
                  <a:pt x="0" y="657225"/>
                </a:lnTo>
                <a:lnTo>
                  <a:pt x="0" y="0"/>
                </a:lnTo>
                <a:close/>
              </a:path>
            </a:pathLst>
          </a:custGeom>
          <a:blipFill>
            <a:blip r:embed="rId2"/>
            <a:stretch>
              <a:fillRect/>
            </a:stretch>
          </a:blipFill>
        </p:spPr>
      </p:sp>
      <p:sp>
        <p:nvSpPr>
          <p:cNvPr id="5" name="Freeform 5"/>
          <p:cNvSpPr/>
          <p:nvPr/>
        </p:nvSpPr>
        <p:spPr>
          <a:xfrm>
            <a:off x="0" y="171354"/>
            <a:ext cx="7551039" cy="1707356"/>
          </a:xfrm>
          <a:custGeom>
            <a:avLst/>
            <a:gdLst/>
            <a:ahLst/>
            <a:cxnLst/>
            <a:rect l="l" t="t" r="r" b="b"/>
            <a:pathLst>
              <a:path w="7551039" h="1707356">
                <a:moveTo>
                  <a:pt x="0" y="0"/>
                </a:moveTo>
                <a:lnTo>
                  <a:pt x="7551039" y="0"/>
                </a:lnTo>
                <a:lnTo>
                  <a:pt x="7551039" y="1707356"/>
                </a:lnTo>
                <a:lnTo>
                  <a:pt x="0" y="1707356"/>
                </a:lnTo>
                <a:lnTo>
                  <a:pt x="0" y="0"/>
                </a:lnTo>
                <a:close/>
              </a:path>
            </a:pathLst>
          </a:custGeom>
          <a:blipFill>
            <a:blip r:embed="rId3"/>
            <a:stretch>
              <a:fillRect t="-67" b="-67"/>
            </a:stretch>
          </a:blipFill>
        </p:spPr>
      </p:sp>
      <p:sp>
        <p:nvSpPr>
          <p:cNvPr id="6" name="Freeform 6"/>
          <p:cNvSpPr/>
          <p:nvPr/>
        </p:nvSpPr>
        <p:spPr>
          <a:xfrm>
            <a:off x="0" y="257175"/>
            <a:ext cx="7472361" cy="1457325"/>
          </a:xfrm>
          <a:custGeom>
            <a:avLst/>
            <a:gdLst/>
            <a:ahLst/>
            <a:cxnLst/>
            <a:rect l="l" t="t" r="r" b="b"/>
            <a:pathLst>
              <a:path w="7472361" h="1457325">
                <a:moveTo>
                  <a:pt x="0" y="0"/>
                </a:moveTo>
                <a:lnTo>
                  <a:pt x="7472361" y="0"/>
                </a:lnTo>
                <a:lnTo>
                  <a:pt x="7472361" y="1457325"/>
                </a:lnTo>
                <a:lnTo>
                  <a:pt x="0" y="1457325"/>
                </a:lnTo>
                <a:lnTo>
                  <a:pt x="0" y="0"/>
                </a:lnTo>
                <a:close/>
              </a:path>
            </a:pathLst>
          </a:custGeom>
          <a:blipFill>
            <a:blip r:embed="rId4"/>
            <a:stretch>
              <a:fillRect l="-31" r="-31"/>
            </a:stretch>
          </a:blipFill>
        </p:spPr>
      </p:sp>
      <p:grpSp>
        <p:nvGrpSpPr>
          <p:cNvPr id="7" name="Group 7"/>
          <p:cNvGrpSpPr/>
          <p:nvPr/>
        </p:nvGrpSpPr>
        <p:grpSpPr>
          <a:xfrm>
            <a:off x="0" y="10115550"/>
            <a:ext cx="18288000" cy="171450"/>
            <a:chOff x="0" y="0"/>
            <a:chExt cx="24384000" cy="228600"/>
          </a:xfrm>
        </p:grpSpPr>
        <p:sp>
          <p:nvSpPr>
            <p:cNvPr id="8" name="Freeform 8"/>
            <p:cNvSpPr/>
            <p:nvPr/>
          </p:nvSpPr>
          <p:spPr>
            <a:xfrm>
              <a:off x="0" y="0"/>
              <a:ext cx="24384000" cy="228600"/>
            </a:xfrm>
            <a:custGeom>
              <a:avLst/>
              <a:gdLst/>
              <a:ahLst/>
              <a:cxnLst/>
              <a:rect l="l" t="t" r="r" b="b"/>
              <a:pathLst>
                <a:path w="24384000" h="228600">
                  <a:moveTo>
                    <a:pt x="24384000" y="0"/>
                  </a:moveTo>
                  <a:lnTo>
                    <a:pt x="0" y="0"/>
                  </a:lnTo>
                  <a:lnTo>
                    <a:pt x="0" y="228600"/>
                  </a:lnTo>
                  <a:lnTo>
                    <a:pt x="24384000" y="228600"/>
                  </a:lnTo>
                  <a:lnTo>
                    <a:pt x="24384000" y="0"/>
                  </a:lnTo>
                  <a:close/>
                </a:path>
              </a:pathLst>
            </a:custGeom>
            <a:solidFill>
              <a:srgbClr val="D2222A"/>
            </a:solidFill>
          </p:spPr>
        </p:sp>
      </p:grpSp>
      <p:sp>
        <p:nvSpPr>
          <p:cNvPr id="9" name="Freeform 9"/>
          <p:cNvSpPr/>
          <p:nvPr/>
        </p:nvSpPr>
        <p:spPr>
          <a:xfrm>
            <a:off x="1504038" y="5368993"/>
            <a:ext cx="15279923" cy="3889307"/>
          </a:xfrm>
          <a:custGeom>
            <a:avLst/>
            <a:gdLst/>
            <a:ahLst/>
            <a:cxnLst/>
            <a:rect l="l" t="t" r="r" b="b"/>
            <a:pathLst>
              <a:path w="15279923" h="3889307">
                <a:moveTo>
                  <a:pt x="0" y="0"/>
                </a:moveTo>
                <a:lnTo>
                  <a:pt x="15279924" y="0"/>
                </a:lnTo>
                <a:lnTo>
                  <a:pt x="15279924" y="3889307"/>
                </a:lnTo>
                <a:lnTo>
                  <a:pt x="0" y="3889307"/>
                </a:lnTo>
                <a:lnTo>
                  <a:pt x="0" y="0"/>
                </a:lnTo>
                <a:close/>
              </a:path>
            </a:pathLst>
          </a:custGeom>
          <a:blipFill>
            <a:blip r:embed="rId5"/>
            <a:stretch>
              <a:fillRect t="-5001" b="-5001"/>
            </a:stretch>
          </a:blipFill>
        </p:spPr>
      </p:sp>
      <p:sp>
        <p:nvSpPr>
          <p:cNvPr id="10" name="TextBox 10"/>
          <p:cNvSpPr txBox="1"/>
          <p:nvPr/>
        </p:nvSpPr>
        <p:spPr>
          <a:xfrm>
            <a:off x="1028700" y="3630959"/>
            <a:ext cx="16230600" cy="1314450"/>
          </a:xfrm>
          <a:prstGeom prst="rect">
            <a:avLst/>
          </a:prstGeom>
        </p:spPr>
        <p:txBody>
          <a:bodyPr lIns="0" tIns="0" rIns="0" bIns="0" rtlCol="0" anchor="t">
            <a:spAutoFit/>
          </a:bodyPr>
          <a:lstStyle/>
          <a:p>
            <a:pPr marL="626109" lvl="1" indent="-313054" algn="l">
              <a:lnSpc>
                <a:spcPts val="3479"/>
              </a:lnSpc>
              <a:buFont typeface="Arial"/>
              <a:buChar char="•"/>
            </a:pPr>
            <a:r>
              <a:rPr lang="en-US" sz="2899" dirty="0">
                <a:solidFill>
                  <a:srgbClr val="000000"/>
                </a:solidFill>
                <a:latin typeface="Canva Sans"/>
                <a:ea typeface="Canva Sans"/>
                <a:cs typeface="Canva Sans"/>
                <a:sym typeface="Canva Sans"/>
              </a:rPr>
              <a:t>The adjusted mortality rate takes into account the risk factors selected by the user. </a:t>
            </a:r>
          </a:p>
          <a:p>
            <a:pPr marL="626109" lvl="1" indent="-313054" algn="l">
              <a:lnSpc>
                <a:spcPts val="3479"/>
              </a:lnSpc>
              <a:spcBef>
                <a:spcPct val="0"/>
              </a:spcBef>
              <a:buFont typeface="Arial"/>
              <a:buChar char="•"/>
            </a:pPr>
            <a:r>
              <a:rPr lang="en-US" sz="2899" dirty="0">
                <a:solidFill>
                  <a:srgbClr val="000000"/>
                </a:solidFill>
                <a:latin typeface="Canva Sans"/>
                <a:ea typeface="Canva Sans"/>
                <a:cs typeface="Canva Sans"/>
                <a:sym typeface="Canva Sans"/>
              </a:rPr>
              <a:t>For each selected risk, the mortality rate from the Mortality Table is multiplied by the corresponding risk multiplier</a:t>
            </a:r>
          </a:p>
        </p:txBody>
      </p:sp>
      <p:sp>
        <p:nvSpPr>
          <p:cNvPr id="11" name="TextBox 11"/>
          <p:cNvSpPr txBox="1"/>
          <p:nvPr/>
        </p:nvSpPr>
        <p:spPr>
          <a:xfrm>
            <a:off x="620886" y="2544213"/>
            <a:ext cx="14470175" cy="962025"/>
          </a:xfrm>
          <a:prstGeom prst="rect">
            <a:avLst/>
          </a:prstGeom>
        </p:spPr>
        <p:txBody>
          <a:bodyPr lIns="0" tIns="0" rIns="0" bIns="0" rtlCol="0" anchor="t">
            <a:spAutoFit/>
          </a:bodyPr>
          <a:lstStyle/>
          <a:p>
            <a:pPr algn="ctr">
              <a:lnSpc>
                <a:spcPts val="6720"/>
              </a:lnSpc>
              <a:spcBef>
                <a:spcPct val="0"/>
              </a:spcBef>
            </a:pPr>
            <a:r>
              <a:rPr lang="en-US" sz="5600" b="1">
                <a:solidFill>
                  <a:srgbClr val="4D4B4C"/>
                </a:solidFill>
                <a:latin typeface="Times New Roman Bold"/>
                <a:ea typeface="Times New Roman Bold"/>
                <a:cs typeface="Times New Roman Bold"/>
                <a:sym typeface="Times New Roman Bold"/>
              </a:rPr>
              <a:t> 1.  Adjusting Mortality Rates for Risk Factors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
            <a:chOff x="0" y="0"/>
            <a:chExt cx="24384000" cy="1371600"/>
          </a:xfrm>
        </p:grpSpPr>
        <p:sp>
          <p:nvSpPr>
            <p:cNvPr id="3" name="Freeform 3"/>
            <p:cNvSpPr/>
            <p:nvPr/>
          </p:nvSpPr>
          <p:spPr>
            <a:xfrm>
              <a:off x="0" y="0"/>
              <a:ext cx="24384000" cy="1371600"/>
            </a:xfrm>
            <a:custGeom>
              <a:avLst/>
              <a:gdLst/>
              <a:ahLst/>
              <a:cxnLst/>
              <a:rect l="l" t="t" r="r" b="b"/>
              <a:pathLst>
                <a:path w="24384000" h="1371600">
                  <a:moveTo>
                    <a:pt x="24384000" y="0"/>
                  </a:moveTo>
                  <a:lnTo>
                    <a:pt x="0" y="0"/>
                  </a:lnTo>
                  <a:lnTo>
                    <a:pt x="0" y="1371600"/>
                  </a:lnTo>
                  <a:lnTo>
                    <a:pt x="24384000" y="1371600"/>
                  </a:lnTo>
                  <a:lnTo>
                    <a:pt x="24384000" y="0"/>
                  </a:lnTo>
                  <a:close/>
                </a:path>
              </a:pathLst>
            </a:custGeom>
            <a:solidFill>
              <a:srgbClr val="D2222A"/>
            </a:solidFill>
          </p:spPr>
        </p:sp>
      </p:grpSp>
      <p:sp>
        <p:nvSpPr>
          <p:cNvPr id="4" name="Freeform 4"/>
          <p:cNvSpPr/>
          <p:nvPr/>
        </p:nvSpPr>
        <p:spPr>
          <a:xfrm>
            <a:off x="3600450" y="657225"/>
            <a:ext cx="3543300" cy="657225"/>
          </a:xfrm>
          <a:custGeom>
            <a:avLst/>
            <a:gdLst/>
            <a:ahLst/>
            <a:cxnLst/>
            <a:rect l="l" t="t" r="r" b="b"/>
            <a:pathLst>
              <a:path w="3543300" h="657225">
                <a:moveTo>
                  <a:pt x="0" y="0"/>
                </a:moveTo>
                <a:lnTo>
                  <a:pt x="3543300" y="0"/>
                </a:lnTo>
                <a:lnTo>
                  <a:pt x="3543300" y="657225"/>
                </a:lnTo>
                <a:lnTo>
                  <a:pt x="0" y="657225"/>
                </a:lnTo>
                <a:lnTo>
                  <a:pt x="0" y="0"/>
                </a:lnTo>
                <a:close/>
              </a:path>
            </a:pathLst>
          </a:custGeom>
          <a:blipFill>
            <a:blip r:embed="rId2"/>
            <a:stretch>
              <a:fillRect/>
            </a:stretch>
          </a:blipFill>
        </p:spPr>
      </p:sp>
      <p:sp>
        <p:nvSpPr>
          <p:cNvPr id="5" name="Freeform 5"/>
          <p:cNvSpPr/>
          <p:nvPr/>
        </p:nvSpPr>
        <p:spPr>
          <a:xfrm>
            <a:off x="0" y="171354"/>
            <a:ext cx="7551039" cy="1707356"/>
          </a:xfrm>
          <a:custGeom>
            <a:avLst/>
            <a:gdLst/>
            <a:ahLst/>
            <a:cxnLst/>
            <a:rect l="l" t="t" r="r" b="b"/>
            <a:pathLst>
              <a:path w="7551039" h="1707356">
                <a:moveTo>
                  <a:pt x="0" y="0"/>
                </a:moveTo>
                <a:lnTo>
                  <a:pt x="7551039" y="0"/>
                </a:lnTo>
                <a:lnTo>
                  <a:pt x="7551039" y="1707356"/>
                </a:lnTo>
                <a:lnTo>
                  <a:pt x="0" y="1707356"/>
                </a:lnTo>
                <a:lnTo>
                  <a:pt x="0" y="0"/>
                </a:lnTo>
                <a:close/>
              </a:path>
            </a:pathLst>
          </a:custGeom>
          <a:blipFill>
            <a:blip r:embed="rId3"/>
            <a:stretch>
              <a:fillRect t="-67" b="-67"/>
            </a:stretch>
          </a:blipFill>
        </p:spPr>
      </p:sp>
      <p:sp>
        <p:nvSpPr>
          <p:cNvPr id="6" name="Freeform 6"/>
          <p:cNvSpPr/>
          <p:nvPr/>
        </p:nvSpPr>
        <p:spPr>
          <a:xfrm>
            <a:off x="0" y="257175"/>
            <a:ext cx="7472361" cy="1457325"/>
          </a:xfrm>
          <a:custGeom>
            <a:avLst/>
            <a:gdLst/>
            <a:ahLst/>
            <a:cxnLst/>
            <a:rect l="l" t="t" r="r" b="b"/>
            <a:pathLst>
              <a:path w="7472361" h="1457325">
                <a:moveTo>
                  <a:pt x="0" y="0"/>
                </a:moveTo>
                <a:lnTo>
                  <a:pt x="7472361" y="0"/>
                </a:lnTo>
                <a:lnTo>
                  <a:pt x="7472361" y="1457325"/>
                </a:lnTo>
                <a:lnTo>
                  <a:pt x="0" y="1457325"/>
                </a:lnTo>
                <a:lnTo>
                  <a:pt x="0" y="0"/>
                </a:lnTo>
                <a:close/>
              </a:path>
            </a:pathLst>
          </a:custGeom>
          <a:blipFill>
            <a:blip r:embed="rId4"/>
            <a:stretch>
              <a:fillRect l="-31" r="-31"/>
            </a:stretch>
          </a:blipFill>
        </p:spPr>
      </p:sp>
      <p:grpSp>
        <p:nvGrpSpPr>
          <p:cNvPr id="7" name="Group 7"/>
          <p:cNvGrpSpPr/>
          <p:nvPr/>
        </p:nvGrpSpPr>
        <p:grpSpPr>
          <a:xfrm>
            <a:off x="0" y="10115550"/>
            <a:ext cx="18288000" cy="171450"/>
            <a:chOff x="0" y="0"/>
            <a:chExt cx="24384000" cy="228600"/>
          </a:xfrm>
        </p:grpSpPr>
        <p:sp>
          <p:nvSpPr>
            <p:cNvPr id="8" name="Freeform 8"/>
            <p:cNvSpPr/>
            <p:nvPr/>
          </p:nvSpPr>
          <p:spPr>
            <a:xfrm>
              <a:off x="0" y="0"/>
              <a:ext cx="24384000" cy="228600"/>
            </a:xfrm>
            <a:custGeom>
              <a:avLst/>
              <a:gdLst/>
              <a:ahLst/>
              <a:cxnLst/>
              <a:rect l="l" t="t" r="r" b="b"/>
              <a:pathLst>
                <a:path w="24384000" h="228600">
                  <a:moveTo>
                    <a:pt x="24384000" y="0"/>
                  </a:moveTo>
                  <a:lnTo>
                    <a:pt x="0" y="0"/>
                  </a:lnTo>
                  <a:lnTo>
                    <a:pt x="0" y="228600"/>
                  </a:lnTo>
                  <a:lnTo>
                    <a:pt x="24384000" y="228600"/>
                  </a:lnTo>
                  <a:lnTo>
                    <a:pt x="24384000" y="0"/>
                  </a:lnTo>
                  <a:close/>
                </a:path>
              </a:pathLst>
            </a:custGeom>
            <a:solidFill>
              <a:srgbClr val="D2222A"/>
            </a:solidFill>
          </p:spPr>
        </p:sp>
      </p:grpSp>
      <p:sp>
        <p:nvSpPr>
          <p:cNvPr id="9" name="Freeform 9"/>
          <p:cNvSpPr/>
          <p:nvPr/>
        </p:nvSpPr>
        <p:spPr>
          <a:xfrm>
            <a:off x="4103132" y="5111341"/>
            <a:ext cx="8266158" cy="1506608"/>
          </a:xfrm>
          <a:custGeom>
            <a:avLst/>
            <a:gdLst/>
            <a:ahLst/>
            <a:cxnLst/>
            <a:rect l="l" t="t" r="r" b="b"/>
            <a:pathLst>
              <a:path w="8266158" h="1506608">
                <a:moveTo>
                  <a:pt x="0" y="0"/>
                </a:moveTo>
                <a:lnTo>
                  <a:pt x="8266158" y="0"/>
                </a:lnTo>
                <a:lnTo>
                  <a:pt x="8266158" y="1506608"/>
                </a:lnTo>
                <a:lnTo>
                  <a:pt x="0" y="1506608"/>
                </a:lnTo>
                <a:lnTo>
                  <a:pt x="0" y="0"/>
                </a:lnTo>
                <a:close/>
              </a:path>
            </a:pathLst>
          </a:custGeom>
          <a:blipFill>
            <a:blip r:embed="rId5"/>
            <a:stretch>
              <a:fillRect t="-9732"/>
            </a:stretch>
          </a:blipFill>
        </p:spPr>
      </p:sp>
      <p:sp>
        <p:nvSpPr>
          <p:cNvPr id="10" name="TextBox 10"/>
          <p:cNvSpPr txBox="1"/>
          <p:nvPr/>
        </p:nvSpPr>
        <p:spPr>
          <a:xfrm>
            <a:off x="1028700" y="2233221"/>
            <a:ext cx="12382500" cy="859210"/>
          </a:xfrm>
          <a:prstGeom prst="rect">
            <a:avLst/>
          </a:prstGeom>
        </p:spPr>
        <p:txBody>
          <a:bodyPr wrap="square" lIns="0" tIns="0" rIns="0" bIns="0" rtlCol="0" anchor="t">
            <a:spAutoFit/>
          </a:bodyPr>
          <a:lstStyle/>
          <a:p>
            <a:pPr algn="l">
              <a:lnSpc>
                <a:spcPts val="6720"/>
              </a:lnSpc>
              <a:spcBef>
                <a:spcPct val="0"/>
              </a:spcBef>
            </a:pPr>
            <a:r>
              <a:rPr lang="en-US" sz="5600" b="1" dirty="0">
                <a:solidFill>
                  <a:srgbClr val="4D4B4C"/>
                </a:solidFill>
                <a:latin typeface="Times New Roman Bold"/>
                <a:ea typeface="Times New Roman Bold"/>
                <a:cs typeface="Times New Roman Bold"/>
                <a:sym typeface="Times New Roman Bold"/>
              </a:rPr>
              <a:t>2. Life Insurance Premium Calculation</a:t>
            </a:r>
          </a:p>
        </p:txBody>
      </p:sp>
      <p:sp>
        <p:nvSpPr>
          <p:cNvPr id="11" name="TextBox 11"/>
          <p:cNvSpPr txBox="1"/>
          <p:nvPr/>
        </p:nvSpPr>
        <p:spPr>
          <a:xfrm>
            <a:off x="1695633" y="3195246"/>
            <a:ext cx="16230600" cy="876300"/>
          </a:xfrm>
          <a:prstGeom prst="rect">
            <a:avLst/>
          </a:prstGeom>
        </p:spPr>
        <p:txBody>
          <a:bodyPr lIns="0" tIns="0" rIns="0" bIns="0" rtlCol="0" anchor="t">
            <a:spAutoFit/>
          </a:bodyPr>
          <a:lstStyle/>
          <a:p>
            <a:pPr algn="l">
              <a:lnSpc>
                <a:spcPts val="3479"/>
              </a:lnSpc>
              <a:spcBef>
                <a:spcPct val="0"/>
              </a:spcBef>
            </a:pPr>
            <a:r>
              <a:rPr lang="en-US" sz="2899" dirty="0">
                <a:solidFill>
                  <a:srgbClr val="000000"/>
                </a:solidFill>
                <a:latin typeface="Canva Sans"/>
                <a:ea typeface="Canva Sans"/>
                <a:cs typeface="Canva Sans"/>
                <a:sym typeface="Canva Sans"/>
              </a:rPr>
              <a:t>The premium is based on the present value (PV) of the total coverage, adjusted for mortality rates, and spread over the payment tenure.</a:t>
            </a:r>
          </a:p>
        </p:txBody>
      </p:sp>
      <p:sp>
        <p:nvSpPr>
          <p:cNvPr id="12" name="TextBox 12"/>
          <p:cNvSpPr txBox="1"/>
          <p:nvPr/>
        </p:nvSpPr>
        <p:spPr>
          <a:xfrm>
            <a:off x="1695633" y="4372369"/>
            <a:ext cx="6148864" cy="438150"/>
          </a:xfrm>
          <a:prstGeom prst="rect">
            <a:avLst/>
          </a:prstGeom>
        </p:spPr>
        <p:txBody>
          <a:bodyPr lIns="0" tIns="0" rIns="0" bIns="0" rtlCol="0" anchor="t">
            <a:spAutoFit/>
          </a:bodyPr>
          <a:lstStyle/>
          <a:p>
            <a:pPr algn="ctr">
              <a:lnSpc>
                <a:spcPts val="3479"/>
              </a:lnSpc>
              <a:spcBef>
                <a:spcPct val="0"/>
              </a:spcBef>
            </a:pPr>
            <a:r>
              <a:rPr lang="en-US" sz="2899" dirty="0">
                <a:solidFill>
                  <a:srgbClr val="000000"/>
                </a:solidFill>
                <a:latin typeface="Canva Sans"/>
                <a:ea typeface="Canva Sans"/>
                <a:cs typeface="Canva Sans"/>
                <a:sym typeface="Canva Sans"/>
              </a:rPr>
              <a:t>Formula to Calculate the Premium:</a:t>
            </a:r>
          </a:p>
        </p:txBody>
      </p:sp>
      <p:sp>
        <p:nvSpPr>
          <p:cNvPr id="13" name="Freeform 13"/>
          <p:cNvSpPr/>
          <p:nvPr/>
        </p:nvSpPr>
        <p:spPr>
          <a:xfrm>
            <a:off x="3775519" y="8138037"/>
            <a:ext cx="11156216" cy="1367310"/>
          </a:xfrm>
          <a:custGeom>
            <a:avLst/>
            <a:gdLst/>
            <a:ahLst/>
            <a:cxnLst/>
            <a:rect l="l" t="t" r="r" b="b"/>
            <a:pathLst>
              <a:path w="11156216" h="1367310">
                <a:moveTo>
                  <a:pt x="0" y="0"/>
                </a:moveTo>
                <a:lnTo>
                  <a:pt x="11156216" y="0"/>
                </a:lnTo>
                <a:lnTo>
                  <a:pt x="11156216" y="1367311"/>
                </a:lnTo>
                <a:lnTo>
                  <a:pt x="0" y="1367311"/>
                </a:lnTo>
                <a:lnTo>
                  <a:pt x="0" y="0"/>
                </a:lnTo>
                <a:close/>
              </a:path>
            </a:pathLst>
          </a:custGeom>
          <a:blipFill>
            <a:blip r:embed="rId6"/>
            <a:stretch>
              <a:fillRect t="-119" r="-2377" b="-119"/>
            </a:stretch>
          </a:blipFill>
        </p:spPr>
      </p:sp>
      <p:sp>
        <p:nvSpPr>
          <p:cNvPr id="14" name="TextBox 14"/>
          <p:cNvSpPr txBox="1"/>
          <p:nvPr/>
        </p:nvSpPr>
        <p:spPr>
          <a:xfrm>
            <a:off x="1695633" y="6608424"/>
            <a:ext cx="15006170" cy="1224813"/>
          </a:xfrm>
          <a:prstGeom prst="rect">
            <a:avLst/>
          </a:prstGeom>
        </p:spPr>
        <p:txBody>
          <a:bodyPr lIns="0" tIns="0" rIns="0" bIns="0" rtlCol="0" anchor="t">
            <a:spAutoFit/>
          </a:bodyPr>
          <a:lstStyle/>
          <a:p>
            <a:pPr algn="just">
              <a:lnSpc>
                <a:spcPts val="3217"/>
              </a:lnSpc>
              <a:spcBef>
                <a:spcPct val="0"/>
              </a:spcBef>
            </a:pPr>
            <a:r>
              <a:rPr lang="en-US" sz="2681">
                <a:solidFill>
                  <a:srgbClr val="000000"/>
                </a:solidFill>
                <a:latin typeface="Canva Sans"/>
                <a:ea typeface="Canva Sans"/>
                <a:cs typeface="Canva Sans"/>
                <a:sym typeface="Canva Sans"/>
              </a:rPr>
              <a:t>Where:</a:t>
            </a:r>
          </a:p>
          <a:p>
            <a:pPr marL="578876" lvl="1" indent="-289438" algn="just">
              <a:lnSpc>
                <a:spcPts val="3217"/>
              </a:lnSpc>
              <a:buAutoNum type="arabicPeriod"/>
            </a:pPr>
            <a:r>
              <a:rPr lang="en-US" sz="2681" b="1">
                <a:solidFill>
                  <a:srgbClr val="000000"/>
                </a:solidFill>
                <a:latin typeface="Canva Sans Bold"/>
                <a:ea typeface="Canva Sans Bold"/>
                <a:cs typeface="Canva Sans Bold"/>
                <a:sym typeface="Canva Sans Bold"/>
              </a:rPr>
              <a:t>Total Present Value of Coverage (PV)</a:t>
            </a:r>
            <a:r>
              <a:rPr lang="en-US" sz="2681">
                <a:solidFill>
                  <a:srgbClr val="000000"/>
                </a:solidFill>
                <a:latin typeface="Canva Sans"/>
                <a:ea typeface="Canva Sans"/>
                <a:cs typeface="Canva Sans"/>
                <a:sym typeface="Canva Sans"/>
              </a:rPr>
              <a:t> is calculated by summing the present value of coverage for each year of life, from age to 120 years: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
            <a:chOff x="0" y="0"/>
            <a:chExt cx="24384000" cy="1371600"/>
          </a:xfrm>
        </p:grpSpPr>
        <p:sp>
          <p:nvSpPr>
            <p:cNvPr id="3" name="Freeform 3"/>
            <p:cNvSpPr/>
            <p:nvPr/>
          </p:nvSpPr>
          <p:spPr>
            <a:xfrm>
              <a:off x="0" y="0"/>
              <a:ext cx="24384000" cy="1371600"/>
            </a:xfrm>
            <a:custGeom>
              <a:avLst/>
              <a:gdLst/>
              <a:ahLst/>
              <a:cxnLst/>
              <a:rect l="l" t="t" r="r" b="b"/>
              <a:pathLst>
                <a:path w="24384000" h="1371600">
                  <a:moveTo>
                    <a:pt x="24384000" y="0"/>
                  </a:moveTo>
                  <a:lnTo>
                    <a:pt x="0" y="0"/>
                  </a:lnTo>
                  <a:lnTo>
                    <a:pt x="0" y="1371600"/>
                  </a:lnTo>
                  <a:lnTo>
                    <a:pt x="24384000" y="1371600"/>
                  </a:lnTo>
                  <a:lnTo>
                    <a:pt x="24384000" y="0"/>
                  </a:lnTo>
                  <a:close/>
                </a:path>
              </a:pathLst>
            </a:custGeom>
            <a:solidFill>
              <a:srgbClr val="D2222A"/>
            </a:solidFill>
          </p:spPr>
        </p:sp>
      </p:grpSp>
      <p:sp>
        <p:nvSpPr>
          <p:cNvPr id="4" name="Freeform 4"/>
          <p:cNvSpPr/>
          <p:nvPr/>
        </p:nvSpPr>
        <p:spPr>
          <a:xfrm>
            <a:off x="3600450" y="657225"/>
            <a:ext cx="3543300" cy="657225"/>
          </a:xfrm>
          <a:custGeom>
            <a:avLst/>
            <a:gdLst/>
            <a:ahLst/>
            <a:cxnLst/>
            <a:rect l="l" t="t" r="r" b="b"/>
            <a:pathLst>
              <a:path w="3543300" h="657225">
                <a:moveTo>
                  <a:pt x="0" y="0"/>
                </a:moveTo>
                <a:lnTo>
                  <a:pt x="3543300" y="0"/>
                </a:lnTo>
                <a:lnTo>
                  <a:pt x="3543300" y="657225"/>
                </a:lnTo>
                <a:lnTo>
                  <a:pt x="0" y="657225"/>
                </a:lnTo>
                <a:lnTo>
                  <a:pt x="0" y="0"/>
                </a:lnTo>
                <a:close/>
              </a:path>
            </a:pathLst>
          </a:custGeom>
          <a:blipFill>
            <a:blip r:embed="rId2"/>
            <a:stretch>
              <a:fillRect/>
            </a:stretch>
          </a:blipFill>
        </p:spPr>
      </p:sp>
      <p:sp>
        <p:nvSpPr>
          <p:cNvPr id="5" name="Freeform 5"/>
          <p:cNvSpPr/>
          <p:nvPr/>
        </p:nvSpPr>
        <p:spPr>
          <a:xfrm>
            <a:off x="0" y="171354"/>
            <a:ext cx="7551039" cy="1707356"/>
          </a:xfrm>
          <a:custGeom>
            <a:avLst/>
            <a:gdLst/>
            <a:ahLst/>
            <a:cxnLst/>
            <a:rect l="l" t="t" r="r" b="b"/>
            <a:pathLst>
              <a:path w="7551039" h="1707356">
                <a:moveTo>
                  <a:pt x="0" y="0"/>
                </a:moveTo>
                <a:lnTo>
                  <a:pt x="7551039" y="0"/>
                </a:lnTo>
                <a:lnTo>
                  <a:pt x="7551039" y="1707356"/>
                </a:lnTo>
                <a:lnTo>
                  <a:pt x="0" y="1707356"/>
                </a:lnTo>
                <a:lnTo>
                  <a:pt x="0" y="0"/>
                </a:lnTo>
                <a:close/>
              </a:path>
            </a:pathLst>
          </a:custGeom>
          <a:blipFill>
            <a:blip r:embed="rId3"/>
            <a:stretch>
              <a:fillRect t="-67" b="-67"/>
            </a:stretch>
          </a:blipFill>
        </p:spPr>
      </p:sp>
      <p:sp>
        <p:nvSpPr>
          <p:cNvPr id="6" name="Freeform 6"/>
          <p:cNvSpPr/>
          <p:nvPr/>
        </p:nvSpPr>
        <p:spPr>
          <a:xfrm>
            <a:off x="0" y="257175"/>
            <a:ext cx="7472361" cy="1457325"/>
          </a:xfrm>
          <a:custGeom>
            <a:avLst/>
            <a:gdLst/>
            <a:ahLst/>
            <a:cxnLst/>
            <a:rect l="l" t="t" r="r" b="b"/>
            <a:pathLst>
              <a:path w="7472361" h="1457325">
                <a:moveTo>
                  <a:pt x="0" y="0"/>
                </a:moveTo>
                <a:lnTo>
                  <a:pt x="7472361" y="0"/>
                </a:lnTo>
                <a:lnTo>
                  <a:pt x="7472361" y="1457325"/>
                </a:lnTo>
                <a:lnTo>
                  <a:pt x="0" y="1457325"/>
                </a:lnTo>
                <a:lnTo>
                  <a:pt x="0" y="0"/>
                </a:lnTo>
                <a:close/>
              </a:path>
            </a:pathLst>
          </a:custGeom>
          <a:blipFill>
            <a:blip r:embed="rId4"/>
            <a:stretch>
              <a:fillRect l="-31" r="-31"/>
            </a:stretch>
          </a:blipFill>
        </p:spPr>
      </p:sp>
      <p:grpSp>
        <p:nvGrpSpPr>
          <p:cNvPr id="7" name="Group 7"/>
          <p:cNvGrpSpPr/>
          <p:nvPr/>
        </p:nvGrpSpPr>
        <p:grpSpPr>
          <a:xfrm>
            <a:off x="0" y="10115550"/>
            <a:ext cx="18288000" cy="171450"/>
            <a:chOff x="0" y="0"/>
            <a:chExt cx="24384000" cy="228600"/>
          </a:xfrm>
        </p:grpSpPr>
        <p:sp>
          <p:nvSpPr>
            <p:cNvPr id="8" name="Freeform 8"/>
            <p:cNvSpPr/>
            <p:nvPr/>
          </p:nvSpPr>
          <p:spPr>
            <a:xfrm>
              <a:off x="0" y="0"/>
              <a:ext cx="24384000" cy="228600"/>
            </a:xfrm>
            <a:custGeom>
              <a:avLst/>
              <a:gdLst/>
              <a:ahLst/>
              <a:cxnLst/>
              <a:rect l="l" t="t" r="r" b="b"/>
              <a:pathLst>
                <a:path w="24384000" h="228600">
                  <a:moveTo>
                    <a:pt x="24384000" y="0"/>
                  </a:moveTo>
                  <a:lnTo>
                    <a:pt x="0" y="0"/>
                  </a:lnTo>
                  <a:lnTo>
                    <a:pt x="0" y="228600"/>
                  </a:lnTo>
                  <a:lnTo>
                    <a:pt x="24384000" y="228600"/>
                  </a:lnTo>
                  <a:lnTo>
                    <a:pt x="24384000" y="0"/>
                  </a:lnTo>
                  <a:close/>
                </a:path>
              </a:pathLst>
            </a:custGeom>
            <a:solidFill>
              <a:srgbClr val="D2222A"/>
            </a:solidFill>
          </p:spPr>
        </p:sp>
      </p:grpSp>
      <p:sp>
        <p:nvSpPr>
          <p:cNvPr id="9" name="Freeform 9"/>
          <p:cNvSpPr/>
          <p:nvPr/>
        </p:nvSpPr>
        <p:spPr>
          <a:xfrm>
            <a:off x="3600450" y="2906851"/>
            <a:ext cx="9055547" cy="1226999"/>
          </a:xfrm>
          <a:custGeom>
            <a:avLst/>
            <a:gdLst/>
            <a:ahLst/>
            <a:cxnLst/>
            <a:rect l="l" t="t" r="r" b="b"/>
            <a:pathLst>
              <a:path w="9055547" h="1226999">
                <a:moveTo>
                  <a:pt x="0" y="0"/>
                </a:moveTo>
                <a:lnTo>
                  <a:pt x="9055547" y="0"/>
                </a:lnTo>
                <a:lnTo>
                  <a:pt x="9055547" y="1226999"/>
                </a:lnTo>
                <a:lnTo>
                  <a:pt x="0" y="1226999"/>
                </a:lnTo>
                <a:lnTo>
                  <a:pt x="0" y="0"/>
                </a:lnTo>
                <a:close/>
              </a:path>
            </a:pathLst>
          </a:custGeom>
          <a:blipFill>
            <a:blip r:embed="rId5"/>
            <a:stretch>
              <a:fillRect l="-2411" t="-16077"/>
            </a:stretch>
          </a:blipFill>
        </p:spPr>
      </p:sp>
      <p:sp>
        <p:nvSpPr>
          <p:cNvPr id="10" name="TextBox 10"/>
          <p:cNvSpPr txBox="1"/>
          <p:nvPr/>
        </p:nvSpPr>
        <p:spPr>
          <a:xfrm>
            <a:off x="1028700" y="2178938"/>
            <a:ext cx="7551039" cy="432619"/>
          </a:xfrm>
          <a:prstGeom prst="rect">
            <a:avLst/>
          </a:prstGeom>
        </p:spPr>
        <p:txBody>
          <a:bodyPr wrap="square" lIns="0" tIns="0" rIns="0" bIns="0" rtlCol="0" anchor="t">
            <a:spAutoFit/>
          </a:bodyPr>
          <a:lstStyle/>
          <a:p>
            <a:pPr marL="626109" lvl="1" indent="-313054" algn="ctr">
              <a:lnSpc>
                <a:spcPts val="3479"/>
              </a:lnSpc>
              <a:buFont typeface="Arial"/>
              <a:buChar char="•"/>
            </a:pPr>
            <a:r>
              <a:rPr lang="en-US" sz="2899" b="1">
                <a:solidFill>
                  <a:srgbClr val="000000"/>
                </a:solidFill>
                <a:latin typeface="Canva Sans Bold"/>
                <a:ea typeface="Canva Sans Bold"/>
                <a:cs typeface="Canva Sans Bold"/>
                <a:sym typeface="Canva Sans Bold"/>
              </a:rPr>
              <a:t>Discount Factor</a:t>
            </a:r>
            <a:r>
              <a:rPr lang="en-US" sz="2899">
                <a:solidFill>
                  <a:srgbClr val="000000"/>
                </a:solidFill>
                <a:latin typeface="Canva Sans"/>
                <a:ea typeface="Canva Sans"/>
                <a:cs typeface="Canva Sans"/>
                <a:sym typeface="Canva Sans"/>
              </a:rPr>
              <a:t> for year t is given by:</a:t>
            </a:r>
          </a:p>
        </p:txBody>
      </p:sp>
      <p:sp>
        <p:nvSpPr>
          <p:cNvPr id="11" name="TextBox 11"/>
          <p:cNvSpPr txBox="1"/>
          <p:nvPr/>
        </p:nvSpPr>
        <p:spPr>
          <a:xfrm>
            <a:off x="1750222" y="4486275"/>
            <a:ext cx="13979597" cy="1314450"/>
          </a:xfrm>
          <a:prstGeom prst="rect">
            <a:avLst/>
          </a:prstGeom>
        </p:spPr>
        <p:txBody>
          <a:bodyPr lIns="0" tIns="0" rIns="0" bIns="0" rtlCol="0" anchor="t">
            <a:spAutoFit/>
          </a:bodyPr>
          <a:lstStyle/>
          <a:p>
            <a:pPr algn="l">
              <a:lnSpc>
                <a:spcPts val="3479"/>
              </a:lnSpc>
            </a:pPr>
            <a:r>
              <a:rPr lang="en-US" sz="2899" dirty="0">
                <a:solidFill>
                  <a:srgbClr val="000000"/>
                </a:solidFill>
                <a:latin typeface="Canva Sans"/>
                <a:ea typeface="Canva Sans"/>
                <a:cs typeface="Canva Sans"/>
                <a:sym typeface="Canva Sans"/>
              </a:rPr>
              <a:t>where</a:t>
            </a:r>
          </a:p>
          <a:p>
            <a:pPr marL="626109" lvl="1" indent="-313054" algn="l">
              <a:lnSpc>
                <a:spcPts val="3479"/>
              </a:lnSpc>
              <a:buFont typeface="Arial"/>
              <a:buChar char="•"/>
            </a:pPr>
            <a:r>
              <a:rPr lang="en-US" sz="2899" b="1" dirty="0">
                <a:solidFill>
                  <a:srgbClr val="000000"/>
                </a:solidFill>
                <a:latin typeface="Canva Sans Bold"/>
                <a:ea typeface="Canva Sans Bold"/>
                <a:cs typeface="Canva Sans Bold"/>
                <a:sym typeface="Canva Sans Bold"/>
              </a:rPr>
              <a:t>Adjusted Mortality Rate</a:t>
            </a:r>
            <a:r>
              <a:rPr lang="en-US" sz="2899" dirty="0">
                <a:solidFill>
                  <a:srgbClr val="000000"/>
                </a:solidFill>
                <a:latin typeface="Canva Sans"/>
                <a:ea typeface="Canva Sans"/>
                <a:cs typeface="Canva Sans"/>
                <a:sym typeface="Canva Sans"/>
              </a:rPr>
              <a:t> is calculated based on the selected health risks.</a:t>
            </a:r>
          </a:p>
          <a:p>
            <a:pPr marL="626109" lvl="1" indent="-313054" algn="l">
              <a:lnSpc>
                <a:spcPts val="3479"/>
              </a:lnSpc>
              <a:buFont typeface="Arial"/>
              <a:buChar char="•"/>
            </a:pPr>
            <a:r>
              <a:rPr lang="en-US" sz="2899" b="1" dirty="0">
                <a:solidFill>
                  <a:srgbClr val="000000"/>
                </a:solidFill>
                <a:latin typeface="Canva Sans Bold"/>
                <a:ea typeface="Canva Sans Bold"/>
                <a:cs typeface="Canva Sans Bold"/>
                <a:sym typeface="Canva Sans Bold"/>
              </a:rPr>
              <a:t>Coverage Amount</a:t>
            </a:r>
            <a:r>
              <a:rPr lang="en-US" sz="2899" dirty="0">
                <a:solidFill>
                  <a:srgbClr val="000000"/>
                </a:solidFill>
                <a:latin typeface="Canva Sans"/>
                <a:ea typeface="Canva Sans"/>
                <a:cs typeface="Canva Sans"/>
                <a:sym typeface="Canva Sans"/>
              </a:rPr>
              <a:t> is the amount of insurance coverage chosen by the user.</a:t>
            </a:r>
          </a:p>
        </p:txBody>
      </p:sp>
      <p:sp>
        <p:nvSpPr>
          <p:cNvPr id="12" name="Freeform 12"/>
          <p:cNvSpPr/>
          <p:nvPr/>
        </p:nvSpPr>
        <p:spPr>
          <a:xfrm>
            <a:off x="5053371" y="7850335"/>
            <a:ext cx="8181259" cy="1407965"/>
          </a:xfrm>
          <a:custGeom>
            <a:avLst/>
            <a:gdLst/>
            <a:ahLst/>
            <a:cxnLst/>
            <a:rect l="l" t="t" r="r" b="b"/>
            <a:pathLst>
              <a:path w="8181259" h="1407965">
                <a:moveTo>
                  <a:pt x="0" y="0"/>
                </a:moveTo>
                <a:lnTo>
                  <a:pt x="8181258" y="0"/>
                </a:lnTo>
                <a:lnTo>
                  <a:pt x="8181258" y="1407965"/>
                </a:lnTo>
                <a:lnTo>
                  <a:pt x="0" y="1407965"/>
                </a:lnTo>
                <a:lnTo>
                  <a:pt x="0" y="0"/>
                </a:lnTo>
                <a:close/>
              </a:path>
            </a:pathLst>
          </a:custGeom>
          <a:blipFill>
            <a:blip r:embed="rId6"/>
            <a:stretch>
              <a:fillRect t="-10276"/>
            </a:stretch>
          </a:blipFill>
        </p:spPr>
      </p:sp>
      <p:sp>
        <p:nvSpPr>
          <p:cNvPr id="13" name="TextBox 13"/>
          <p:cNvSpPr txBox="1"/>
          <p:nvPr/>
        </p:nvSpPr>
        <p:spPr>
          <a:xfrm>
            <a:off x="1028700" y="6619875"/>
            <a:ext cx="16230600" cy="876300"/>
          </a:xfrm>
          <a:prstGeom prst="rect">
            <a:avLst/>
          </a:prstGeom>
        </p:spPr>
        <p:txBody>
          <a:bodyPr lIns="0" tIns="0" rIns="0" bIns="0" rtlCol="0" anchor="t">
            <a:spAutoFit/>
          </a:bodyPr>
          <a:lstStyle/>
          <a:p>
            <a:pPr algn="l">
              <a:lnSpc>
                <a:spcPts val="3479"/>
              </a:lnSpc>
              <a:spcBef>
                <a:spcPct val="0"/>
              </a:spcBef>
            </a:pPr>
            <a:r>
              <a:rPr lang="en-US" sz="2899">
                <a:solidFill>
                  <a:srgbClr val="000000"/>
                </a:solidFill>
                <a:latin typeface="Canva Sans"/>
                <a:ea typeface="Canva Sans"/>
                <a:cs typeface="Canva Sans"/>
                <a:sym typeface="Canva Sans"/>
              </a:rPr>
              <a:t>2. </a:t>
            </a:r>
            <a:r>
              <a:rPr lang="en-US" sz="2899" b="1">
                <a:solidFill>
                  <a:srgbClr val="000000"/>
                </a:solidFill>
                <a:latin typeface="Canva Sans Bold"/>
                <a:ea typeface="Canva Sans Bold"/>
                <a:cs typeface="Canva Sans Bold"/>
                <a:sym typeface="Canva Sans Bold"/>
              </a:rPr>
              <a:t> Annuity Factor</a:t>
            </a:r>
            <a:r>
              <a:rPr lang="en-US" sz="2899">
                <a:solidFill>
                  <a:srgbClr val="000000"/>
                </a:solidFill>
                <a:latin typeface="Canva Sans"/>
                <a:ea typeface="Canva Sans"/>
                <a:cs typeface="Canva Sans"/>
                <a:sym typeface="Canva Sans"/>
              </a:rPr>
              <a:t> is the sum of the present value of an annuity (the amount paid annually over the tenure years):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
            <a:chOff x="0" y="0"/>
            <a:chExt cx="24384000" cy="1371600"/>
          </a:xfrm>
        </p:grpSpPr>
        <p:sp>
          <p:nvSpPr>
            <p:cNvPr id="3" name="Freeform 3"/>
            <p:cNvSpPr/>
            <p:nvPr/>
          </p:nvSpPr>
          <p:spPr>
            <a:xfrm>
              <a:off x="0" y="0"/>
              <a:ext cx="24384000" cy="1371600"/>
            </a:xfrm>
            <a:custGeom>
              <a:avLst/>
              <a:gdLst/>
              <a:ahLst/>
              <a:cxnLst/>
              <a:rect l="l" t="t" r="r" b="b"/>
              <a:pathLst>
                <a:path w="24384000" h="1371600">
                  <a:moveTo>
                    <a:pt x="24384000" y="0"/>
                  </a:moveTo>
                  <a:lnTo>
                    <a:pt x="0" y="0"/>
                  </a:lnTo>
                  <a:lnTo>
                    <a:pt x="0" y="1371600"/>
                  </a:lnTo>
                  <a:lnTo>
                    <a:pt x="24384000" y="1371600"/>
                  </a:lnTo>
                  <a:lnTo>
                    <a:pt x="24384000" y="0"/>
                  </a:lnTo>
                  <a:close/>
                </a:path>
              </a:pathLst>
            </a:custGeom>
            <a:solidFill>
              <a:srgbClr val="D2222A"/>
            </a:solidFill>
          </p:spPr>
        </p:sp>
      </p:grpSp>
      <p:sp>
        <p:nvSpPr>
          <p:cNvPr id="4" name="Freeform 4"/>
          <p:cNvSpPr/>
          <p:nvPr/>
        </p:nvSpPr>
        <p:spPr>
          <a:xfrm>
            <a:off x="3600450" y="657225"/>
            <a:ext cx="3543300" cy="657225"/>
          </a:xfrm>
          <a:custGeom>
            <a:avLst/>
            <a:gdLst/>
            <a:ahLst/>
            <a:cxnLst/>
            <a:rect l="l" t="t" r="r" b="b"/>
            <a:pathLst>
              <a:path w="3543300" h="657225">
                <a:moveTo>
                  <a:pt x="0" y="0"/>
                </a:moveTo>
                <a:lnTo>
                  <a:pt x="3543300" y="0"/>
                </a:lnTo>
                <a:lnTo>
                  <a:pt x="3543300" y="657225"/>
                </a:lnTo>
                <a:lnTo>
                  <a:pt x="0" y="657225"/>
                </a:lnTo>
                <a:lnTo>
                  <a:pt x="0" y="0"/>
                </a:lnTo>
                <a:close/>
              </a:path>
            </a:pathLst>
          </a:custGeom>
          <a:blipFill>
            <a:blip r:embed="rId2"/>
            <a:stretch>
              <a:fillRect/>
            </a:stretch>
          </a:blipFill>
        </p:spPr>
      </p:sp>
      <p:sp>
        <p:nvSpPr>
          <p:cNvPr id="5" name="Freeform 5"/>
          <p:cNvSpPr/>
          <p:nvPr/>
        </p:nvSpPr>
        <p:spPr>
          <a:xfrm>
            <a:off x="0" y="171354"/>
            <a:ext cx="7551039" cy="1707356"/>
          </a:xfrm>
          <a:custGeom>
            <a:avLst/>
            <a:gdLst/>
            <a:ahLst/>
            <a:cxnLst/>
            <a:rect l="l" t="t" r="r" b="b"/>
            <a:pathLst>
              <a:path w="7551039" h="1707356">
                <a:moveTo>
                  <a:pt x="0" y="0"/>
                </a:moveTo>
                <a:lnTo>
                  <a:pt x="7551039" y="0"/>
                </a:lnTo>
                <a:lnTo>
                  <a:pt x="7551039" y="1707356"/>
                </a:lnTo>
                <a:lnTo>
                  <a:pt x="0" y="1707356"/>
                </a:lnTo>
                <a:lnTo>
                  <a:pt x="0" y="0"/>
                </a:lnTo>
                <a:close/>
              </a:path>
            </a:pathLst>
          </a:custGeom>
          <a:blipFill>
            <a:blip r:embed="rId3"/>
            <a:stretch>
              <a:fillRect t="-67" b="-67"/>
            </a:stretch>
          </a:blipFill>
        </p:spPr>
      </p:sp>
      <p:sp>
        <p:nvSpPr>
          <p:cNvPr id="6" name="Freeform 6"/>
          <p:cNvSpPr/>
          <p:nvPr/>
        </p:nvSpPr>
        <p:spPr>
          <a:xfrm>
            <a:off x="0" y="257175"/>
            <a:ext cx="7472361" cy="1457325"/>
          </a:xfrm>
          <a:custGeom>
            <a:avLst/>
            <a:gdLst/>
            <a:ahLst/>
            <a:cxnLst/>
            <a:rect l="l" t="t" r="r" b="b"/>
            <a:pathLst>
              <a:path w="7472361" h="1457325">
                <a:moveTo>
                  <a:pt x="0" y="0"/>
                </a:moveTo>
                <a:lnTo>
                  <a:pt x="7472361" y="0"/>
                </a:lnTo>
                <a:lnTo>
                  <a:pt x="7472361" y="1457325"/>
                </a:lnTo>
                <a:lnTo>
                  <a:pt x="0" y="1457325"/>
                </a:lnTo>
                <a:lnTo>
                  <a:pt x="0" y="0"/>
                </a:lnTo>
                <a:close/>
              </a:path>
            </a:pathLst>
          </a:custGeom>
          <a:blipFill>
            <a:blip r:embed="rId4"/>
            <a:stretch>
              <a:fillRect l="-31" r="-31"/>
            </a:stretch>
          </a:blipFill>
        </p:spPr>
      </p:sp>
      <p:grpSp>
        <p:nvGrpSpPr>
          <p:cNvPr id="7" name="Group 7"/>
          <p:cNvGrpSpPr/>
          <p:nvPr/>
        </p:nvGrpSpPr>
        <p:grpSpPr>
          <a:xfrm>
            <a:off x="0" y="10115550"/>
            <a:ext cx="18288000" cy="171450"/>
            <a:chOff x="0" y="0"/>
            <a:chExt cx="24384000" cy="228600"/>
          </a:xfrm>
        </p:grpSpPr>
        <p:sp>
          <p:nvSpPr>
            <p:cNvPr id="8" name="Freeform 8"/>
            <p:cNvSpPr/>
            <p:nvPr/>
          </p:nvSpPr>
          <p:spPr>
            <a:xfrm>
              <a:off x="0" y="0"/>
              <a:ext cx="24384000" cy="228600"/>
            </a:xfrm>
            <a:custGeom>
              <a:avLst/>
              <a:gdLst/>
              <a:ahLst/>
              <a:cxnLst/>
              <a:rect l="l" t="t" r="r" b="b"/>
              <a:pathLst>
                <a:path w="24384000" h="228600">
                  <a:moveTo>
                    <a:pt x="24384000" y="0"/>
                  </a:moveTo>
                  <a:lnTo>
                    <a:pt x="0" y="0"/>
                  </a:lnTo>
                  <a:lnTo>
                    <a:pt x="0" y="228600"/>
                  </a:lnTo>
                  <a:lnTo>
                    <a:pt x="24384000" y="228600"/>
                  </a:lnTo>
                  <a:lnTo>
                    <a:pt x="24384000" y="0"/>
                  </a:lnTo>
                  <a:close/>
                </a:path>
              </a:pathLst>
            </a:custGeom>
            <a:solidFill>
              <a:srgbClr val="D2222A"/>
            </a:solidFill>
          </p:spPr>
        </p:sp>
      </p:grpSp>
      <p:grpSp>
        <p:nvGrpSpPr>
          <p:cNvPr id="9" name="Group 9"/>
          <p:cNvGrpSpPr/>
          <p:nvPr/>
        </p:nvGrpSpPr>
        <p:grpSpPr>
          <a:xfrm>
            <a:off x="16967835" y="9628346"/>
            <a:ext cx="324802" cy="364806"/>
            <a:chOff x="0" y="0"/>
            <a:chExt cx="433070" cy="486408"/>
          </a:xfrm>
        </p:grpSpPr>
        <p:sp>
          <p:nvSpPr>
            <p:cNvPr id="10" name="Freeform 10"/>
            <p:cNvSpPr/>
            <p:nvPr/>
          </p:nvSpPr>
          <p:spPr>
            <a:xfrm>
              <a:off x="0" y="0"/>
              <a:ext cx="433070" cy="486408"/>
            </a:xfrm>
            <a:custGeom>
              <a:avLst/>
              <a:gdLst/>
              <a:ahLst/>
              <a:cxnLst/>
              <a:rect l="l" t="t" r="r" b="b"/>
              <a:pathLst>
                <a:path w="433070" h="486408">
                  <a:moveTo>
                    <a:pt x="0" y="0"/>
                  </a:moveTo>
                  <a:lnTo>
                    <a:pt x="433070" y="0"/>
                  </a:lnTo>
                  <a:lnTo>
                    <a:pt x="433070" y="486408"/>
                  </a:lnTo>
                  <a:lnTo>
                    <a:pt x="0" y="486408"/>
                  </a:lnTo>
                  <a:close/>
                </a:path>
              </a:pathLst>
            </a:custGeom>
            <a:solidFill>
              <a:srgbClr val="000000">
                <a:alpha val="0"/>
              </a:srgbClr>
            </a:solidFill>
          </p:spPr>
        </p:sp>
        <p:sp>
          <p:nvSpPr>
            <p:cNvPr id="11" name="TextBox 11"/>
            <p:cNvSpPr txBox="1"/>
            <p:nvPr/>
          </p:nvSpPr>
          <p:spPr>
            <a:xfrm>
              <a:off x="0" y="-47625"/>
              <a:ext cx="433070" cy="534033"/>
            </a:xfrm>
            <a:prstGeom prst="rect">
              <a:avLst/>
            </a:prstGeom>
          </p:spPr>
          <p:txBody>
            <a:bodyPr lIns="0" tIns="0" rIns="0" bIns="0" rtlCol="0" anchor="t"/>
            <a:lstStyle/>
            <a:p>
              <a:pPr algn="l">
                <a:lnSpc>
                  <a:spcPts val="2520"/>
                </a:lnSpc>
              </a:pPr>
              <a:r>
                <a:rPr lang="en-US" sz="2100" spc="-37">
                  <a:solidFill>
                    <a:srgbClr val="000000"/>
                  </a:solidFill>
                  <a:latin typeface="Arial"/>
                  <a:ea typeface="Arial"/>
                  <a:cs typeface="Arial"/>
                  <a:sym typeface="Arial"/>
                </a:rPr>
                <a:t>13</a:t>
              </a:r>
            </a:p>
          </p:txBody>
        </p:sp>
      </p:grpSp>
      <p:sp>
        <p:nvSpPr>
          <p:cNvPr id="12" name="Freeform 12"/>
          <p:cNvSpPr/>
          <p:nvPr/>
        </p:nvSpPr>
        <p:spPr>
          <a:xfrm>
            <a:off x="4328738" y="4963921"/>
            <a:ext cx="8009329" cy="1503935"/>
          </a:xfrm>
          <a:custGeom>
            <a:avLst/>
            <a:gdLst/>
            <a:ahLst/>
            <a:cxnLst/>
            <a:rect l="l" t="t" r="r" b="b"/>
            <a:pathLst>
              <a:path w="8009329" h="1503935">
                <a:moveTo>
                  <a:pt x="0" y="0"/>
                </a:moveTo>
                <a:lnTo>
                  <a:pt x="8009329" y="0"/>
                </a:lnTo>
                <a:lnTo>
                  <a:pt x="8009329" y="1503935"/>
                </a:lnTo>
                <a:lnTo>
                  <a:pt x="0" y="1503935"/>
                </a:lnTo>
                <a:lnTo>
                  <a:pt x="0" y="0"/>
                </a:lnTo>
                <a:close/>
              </a:path>
            </a:pathLst>
          </a:custGeom>
          <a:blipFill>
            <a:blip r:embed="rId5"/>
            <a:stretch>
              <a:fillRect/>
            </a:stretch>
          </a:blipFill>
        </p:spPr>
      </p:sp>
      <p:sp>
        <p:nvSpPr>
          <p:cNvPr id="13" name="TextBox 13"/>
          <p:cNvSpPr txBox="1"/>
          <p:nvPr/>
        </p:nvSpPr>
        <p:spPr>
          <a:xfrm>
            <a:off x="1028700" y="2544571"/>
            <a:ext cx="16263938" cy="1752600"/>
          </a:xfrm>
          <a:prstGeom prst="rect">
            <a:avLst/>
          </a:prstGeom>
        </p:spPr>
        <p:txBody>
          <a:bodyPr lIns="0" tIns="0" rIns="0" bIns="0" rtlCol="0" anchor="t">
            <a:spAutoFit/>
          </a:bodyPr>
          <a:lstStyle/>
          <a:p>
            <a:pPr algn="l">
              <a:lnSpc>
                <a:spcPts val="3479"/>
              </a:lnSpc>
            </a:pPr>
            <a:r>
              <a:rPr lang="en-US" sz="2899">
                <a:solidFill>
                  <a:srgbClr val="000000"/>
                </a:solidFill>
                <a:latin typeface="Canva Sans"/>
                <a:ea typeface="Canva Sans"/>
                <a:cs typeface="Canva Sans"/>
                <a:sym typeface="Canva Sans"/>
              </a:rPr>
              <a:t>3.  Once the Total PV and Annuity Factor are calculated, the annual premium is obtained by </a:t>
            </a:r>
          </a:p>
          <a:p>
            <a:pPr algn="l">
              <a:lnSpc>
                <a:spcPts val="3479"/>
              </a:lnSpc>
            </a:pPr>
            <a:r>
              <a:rPr lang="en-US" sz="2899">
                <a:solidFill>
                  <a:srgbClr val="000000"/>
                </a:solidFill>
                <a:latin typeface="Canva Sans"/>
                <a:ea typeface="Canva Sans"/>
                <a:cs typeface="Canva Sans"/>
                <a:sym typeface="Canva Sans"/>
              </a:rPr>
              <a:t>      dividing the Total PV by the Annuity Factor.</a:t>
            </a:r>
          </a:p>
          <a:p>
            <a:pPr algn="l">
              <a:lnSpc>
                <a:spcPts val="3479"/>
              </a:lnSpc>
            </a:pPr>
            <a:endParaRPr lang="en-US" sz="2899">
              <a:solidFill>
                <a:srgbClr val="000000"/>
              </a:solidFill>
              <a:latin typeface="Canva Sans"/>
              <a:ea typeface="Canva Sans"/>
              <a:cs typeface="Canva Sans"/>
              <a:sym typeface="Canva Sans"/>
            </a:endParaRPr>
          </a:p>
          <a:p>
            <a:pPr algn="l">
              <a:lnSpc>
                <a:spcPts val="3479"/>
              </a:lnSpc>
            </a:pPr>
            <a:r>
              <a:rPr lang="en-US" sz="2899">
                <a:solidFill>
                  <a:srgbClr val="000000"/>
                </a:solidFill>
                <a:latin typeface="Canva Sans"/>
                <a:ea typeface="Canva Sans"/>
                <a:cs typeface="Canva Sans"/>
                <a:sym typeface="Canva Sans"/>
              </a:rPr>
              <a:t>4.  If the payment frequency is set to Monthly, the monthly premium is: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
            <a:chOff x="0" y="0"/>
            <a:chExt cx="24384000" cy="1371600"/>
          </a:xfrm>
        </p:grpSpPr>
        <p:sp>
          <p:nvSpPr>
            <p:cNvPr id="3" name="Freeform 3"/>
            <p:cNvSpPr/>
            <p:nvPr/>
          </p:nvSpPr>
          <p:spPr>
            <a:xfrm>
              <a:off x="0" y="0"/>
              <a:ext cx="24384000" cy="1371600"/>
            </a:xfrm>
            <a:custGeom>
              <a:avLst/>
              <a:gdLst/>
              <a:ahLst/>
              <a:cxnLst/>
              <a:rect l="l" t="t" r="r" b="b"/>
              <a:pathLst>
                <a:path w="24384000" h="1371600">
                  <a:moveTo>
                    <a:pt x="24384000" y="0"/>
                  </a:moveTo>
                  <a:lnTo>
                    <a:pt x="0" y="0"/>
                  </a:lnTo>
                  <a:lnTo>
                    <a:pt x="0" y="1371600"/>
                  </a:lnTo>
                  <a:lnTo>
                    <a:pt x="24384000" y="1371600"/>
                  </a:lnTo>
                  <a:lnTo>
                    <a:pt x="24384000" y="0"/>
                  </a:lnTo>
                  <a:close/>
                </a:path>
              </a:pathLst>
            </a:custGeom>
            <a:solidFill>
              <a:srgbClr val="D2222A"/>
            </a:solidFill>
          </p:spPr>
        </p:sp>
      </p:grpSp>
      <p:sp>
        <p:nvSpPr>
          <p:cNvPr id="4" name="Freeform 4"/>
          <p:cNvSpPr/>
          <p:nvPr/>
        </p:nvSpPr>
        <p:spPr>
          <a:xfrm>
            <a:off x="3600450" y="657225"/>
            <a:ext cx="3543300" cy="657225"/>
          </a:xfrm>
          <a:custGeom>
            <a:avLst/>
            <a:gdLst/>
            <a:ahLst/>
            <a:cxnLst/>
            <a:rect l="l" t="t" r="r" b="b"/>
            <a:pathLst>
              <a:path w="3543300" h="657225">
                <a:moveTo>
                  <a:pt x="0" y="0"/>
                </a:moveTo>
                <a:lnTo>
                  <a:pt x="3543300" y="0"/>
                </a:lnTo>
                <a:lnTo>
                  <a:pt x="3543300" y="657225"/>
                </a:lnTo>
                <a:lnTo>
                  <a:pt x="0" y="657225"/>
                </a:lnTo>
                <a:lnTo>
                  <a:pt x="0" y="0"/>
                </a:lnTo>
                <a:close/>
              </a:path>
            </a:pathLst>
          </a:custGeom>
          <a:blipFill>
            <a:blip r:embed="rId2"/>
            <a:stretch>
              <a:fillRect/>
            </a:stretch>
          </a:blipFill>
        </p:spPr>
      </p:sp>
      <p:sp>
        <p:nvSpPr>
          <p:cNvPr id="5" name="Freeform 5"/>
          <p:cNvSpPr/>
          <p:nvPr/>
        </p:nvSpPr>
        <p:spPr>
          <a:xfrm>
            <a:off x="0" y="171354"/>
            <a:ext cx="7551039" cy="1707356"/>
          </a:xfrm>
          <a:custGeom>
            <a:avLst/>
            <a:gdLst/>
            <a:ahLst/>
            <a:cxnLst/>
            <a:rect l="l" t="t" r="r" b="b"/>
            <a:pathLst>
              <a:path w="7551039" h="1707356">
                <a:moveTo>
                  <a:pt x="0" y="0"/>
                </a:moveTo>
                <a:lnTo>
                  <a:pt x="7551039" y="0"/>
                </a:lnTo>
                <a:lnTo>
                  <a:pt x="7551039" y="1707356"/>
                </a:lnTo>
                <a:lnTo>
                  <a:pt x="0" y="1707356"/>
                </a:lnTo>
                <a:lnTo>
                  <a:pt x="0" y="0"/>
                </a:lnTo>
                <a:close/>
              </a:path>
            </a:pathLst>
          </a:custGeom>
          <a:blipFill>
            <a:blip r:embed="rId3"/>
            <a:stretch>
              <a:fillRect t="-67" b="-67"/>
            </a:stretch>
          </a:blipFill>
        </p:spPr>
      </p:sp>
      <p:sp>
        <p:nvSpPr>
          <p:cNvPr id="6" name="Freeform 6"/>
          <p:cNvSpPr/>
          <p:nvPr/>
        </p:nvSpPr>
        <p:spPr>
          <a:xfrm>
            <a:off x="0" y="257175"/>
            <a:ext cx="7472361" cy="1457325"/>
          </a:xfrm>
          <a:custGeom>
            <a:avLst/>
            <a:gdLst/>
            <a:ahLst/>
            <a:cxnLst/>
            <a:rect l="l" t="t" r="r" b="b"/>
            <a:pathLst>
              <a:path w="7472361" h="1457325">
                <a:moveTo>
                  <a:pt x="0" y="0"/>
                </a:moveTo>
                <a:lnTo>
                  <a:pt x="7472361" y="0"/>
                </a:lnTo>
                <a:lnTo>
                  <a:pt x="7472361" y="1457325"/>
                </a:lnTo>
                <a:lnTo>
                  <a:pt x="0" y="1457325"/>
                </a:lnTo>
                <a:lnTo>
                  <a:pt x="0" y="0"/>
                </a:lnTo>
                <a:close/>
              </a:path>
            </a:pathLst>
          </a:custGeom>
          <a:blipFill>
            <a:blip r:embed="rId4"/>
            <a:stretch>
              <a:fillRect l="-31" r="-31"/>
            </a:stretch>
          </a:blipFill>
        </p:spPr>
      </p:sp>
      <p:grpSp>
        <p:nvGrpSpPr>
          <p:cNvPr id="7" name="Group 7"/>
          <p:cNvGrpSpPr/>
          <p:nvPr/>
        </p:nvGrpSpPr>
        <p:grpSpPr>
          <a:xfrm>
            <a:off x="0" y="10115550"/>
            <a:ext cx="18288000" cy="171450"/>
            <a:chOff x="0" y="0"/>
            <a:chExt cx="24384000" cy="228600"/>
          </a:xfrm>
        </p:grpSpPr>
        <p:sp>
          <p:nvSpPr>
            <p:cNvPr id="8" name="Freeform 8"/>
            <p:cNvSpPr/>
            <p:nvPr/>
          </p:nvSpPr>
          <p:spPr>
            <a:xfrm>
              <a:off x="0" y="0"/>
              <a:ext cx="24384000" cy="228600"/>
            </a:xfrm>
            <a:custGeom>
              <a:avLst/>
              <a:gdLst/>
              <a:ahLst/>
              <a:cxnLst/>
              <a:rect l="l" t="t" r="r" b="b"/>
              <a:pathLst>
                <a:path w="24384000" h="228600">
                  <a:moveTo>
                    <a:pt x="24384000" y="0"/>
                  </a:moveTo>
                  <a:lnTo>
                    <a:pt x="0" y="0"/>
                  </a:lnTo>
                  <a:lnTo>
                    <a:pt x="0" y="228600"/>
                  </a:lnTo>
                  <a:lnTo>
                    <a:pt x="24384000" y="228600"/>
                  </a:lnTo>
                  <a:lnTo>
                    <a:pt x="24384000" y="0"/>
                  </a:lnTo>
                  <a:close/>
                </a:path>
              </a:pathLst>
            </a:custGeom>
            <a:solidFill>
              <a:srgbClr val="D2222A"/>
            </a:solidFill>
          </p:spPr>
        </p:sp>
      </p:grpSp>
      <p:grpSp>
        <p:nvGrpSpPr>
          <p:cNvPr id="9" name="Group 9"/>
          <p:cNvGrpSpPr/>
          <p:nvPr/>
        </p:nvGrpSpPr>
        <p:grpSpPr>
          <a:xfrm>
            <a:off x="16967835" y="9628346"/>
            <a:ext cx="324802" cy="364806"/>
            <a:chOff x="0" y="0"/>
            <a:chExt cx="433070" cy="486408"/>
          </a:xfrm>
        </p:grpSpPr>
        <p:sp>
          <p:nvSpPr>
            <p:cNvPr id="10" name="Freeform 10"/>
            <p:cNvSpPr/>
            <p:nvPr/>
          </p:nvSpPr>
          <p:spPr>
            <a:xfrm>
              <a:off x="0" y="0"/>
              <a:ext cx="433070" cy="486408"/>
            </a:xfrm>
            <a:custGeom>
              <a:avLst/>
              <a:gdLst/>
              <a:ahLst/>
              <a:cxnLst/>
              <a:rect l="l" t="t" r="r" b="b"/>
              <a:pathLst>
                <a:path w="433070" h="486408">
                  <a:moveTo>
                    <a:pt x="0" y="0"/>
                  </a:moveTo>
                  <a:lnTo>
                    <a:pt x="433070" y="0"/>
                  </a:lnTo>
                  <a:lnTo>
                    <a:pt x="433070" y="486408"/>
                  </a:lnTo>
                  <a:lnTo>
                    <a:pt x="0" y="486408"/>
                  </a:lnTo>
                  <a:close/>
                </a:path>
              </a:pathLst>
            </a:custGeom>
            <a:solidFill>
              <a:srgbClr val="000000">
                <a:alpha val="0"/>
              </a:srgbClr>
            </a:solidFill>
          </p:spPr>
        </p:sp>
        <p:sp>
          <p:nvSpPr>
            <p:cNvPr id="11" name="TextBox 11"/>
            <p:cNvSpPr txBox="1"/>
            <p:nvPr/>
          </p:nvSpPr>
          <p:spPr>
            <a:xfrm>
              <a:off x="0" y="-47625"/>
              <a:ext cx="433070" cy="534033"/>
            </a:xfrm>
            <a:prstGeom prst="rect">
              <a:avLst/>
            </a:prstGeom>
          </p:spPr>
          <p:txBody>
            <a:bodyPr lIns="0" tIns="0" rIns="0" bIns="0" rtlCol="0" anchor="t"/>
            <a:lstStyle/>
            <a:p>
              <a:pPr algn="l">
                <a:lnSpc>
                  <a:spcPts val="2520"/>
                </a:lnSpc>
              </a:pPr>
              <a:r>
                <a:rPr lang="en-US" sz="2100" spc="-37">
                  <a:solidFill>
                    <a:srgbClr val="000000"/>
                  </a:solidFill>
                  <a:latin typeface="Arial"/>
                  <a:ea typeface="Arial"/>
                  <a:cs typeface="Arial"/>
                  <a:sym typeface="Arial"/>
                </a:rPr>
                <a:t>13</a:t>
              </a:r>
            </a:p>
          </p:txBody>
        </p:sp>
      </p:grpSp>
      <p:sp>
        <p:nvSpPr>
          <p:cNvPr id="12" name="TextBox 12"/>
          <p:cNvSpPr txBox="1"/>
          <p:nvPr/>
        </p:nvSpPr>
        <p:spPr>
          <a:xfrm>
            <a:off x="3440018" y="2019300"/>
            <a:ext cx="12561982" cy="932948"/>
          </a:xfrm>
          <a:prstGeom prst="rect">
            <a:avLst/>
          </a:prstGeom>
        </p:spPr>
        <p:txBody>
          <a:bodyPr lIns="0" tIns="0" rIns="0" bIns="0" rtlCol="0" anchor="t">
            <a:spAutoFit/>
          </a:bodyPr>
          <a:lstStyle/>
          <a:p>
            <a:pPr algn="l">
              <a:lnSpc>
                <a:spcPts val="7679"/>
              </a:lnSpc>
              <a:spcBef>
                <a:spcPct val="0"/>
              </a:spcBef>
            </a:pPr>
            <a:r>
              <a:rPr lang="en-US" sz="6399" b="1" spc="-114" dirty="0">
                <a:latin typeface="Times New Roman Bold"/>
                <a:ea typeface="Times New Roman Bold"/>
                <a:cs typeface="Times New Roman Bold"/>
                <a:sym typeface="Times New Roman Bold"/>
              </a:rPr>
              <a:t>Creating the Life Insurance Model</a:t>
            </a:r>
          </a:p>
        </p:txBody>
      </p:sp>
      <p:sp>
        <p:nvSpPr>
          <p:cNvPr id="13" name="TextBox 13"/>
          <p:cNvSpPr txBox="1"/>
          <p:nvPr/>
        </p:nvSpPr>
        <p:spPr>
          <a:xfrm>
            <a:off x="1028700" y="3552825"/>
            <a:ext cx="10407749" cy="3583940"/>
          </a:xfrm>
          <a:prstGeom prst="rect">
            <a:avLst/>
          </a:prstGeom>
        </p:spPr>
        <p:txBody>
          <a:bodyPr lIns="0" tIns="0" rIns="0" bIns="0" rtlCol="0" anchor="t">
            <a:spAutoFit/>
          </a:bodyPr>
          <a:lstStyle/>
          <a:p>
            <a:pPr marL="626109" lvl="1" indent="-313054" algn="l">
              <a:lnSpc>
                <a:spcPts val="4059"/>
              </a:lnSpc>
              <a:buFont typeface="Arial"/>
              <a:buChar char="•"/>
            </a:pPr>
            <a:r>
              <a:rPr lang="en-US" sz="2899" spc="-49">
                <a:solidFill>
                  <a:srgbClr val="000000"/>
                </a:solidFill>
                <a:latin typeface="Canva Sans"/>
                <a:ea typeface="Canva Sans"/>
                <a:cs typeface="Canva Sans"/>
                <a:sym typeface="Canva Sans"/>
              </a:rPr>
              <a:t>Identify Key Health Factors</a:t>
            </a:r>
          </a:p>
          <a:p>
            <a:pPr algn="l">
              <a:lnSpc>
                <a:spcPts val="4059"/>
              </a:lnSpc>
            </a:pPr>
            <a:endParaRPr lang="en-US" sz="2899" spc="-49">
              <a:solidFill>
                <a:srgbClr val="000000"/>
              </a:solidFill>
              <a:latin typeface="Canva Sans"/>
              <a:ea typeface="Canva Sans"/>
              <a:cs typeface="Canva Sans"/>
              <a:sym typeface="Canva Sans"/>
            </a:endParaRPr>
          </a:p>
          <a:p>
            <a:pPr marL="626109" lvl="1" indent="-313054" algn="l">
              <a:lnSpc>
                <a:spcPts val="4059"/>
              </a:lnSpc>
              <a:buFont typeface="Arial"/>
              <a:buChar char="•"/>
            </a:pPr>
            <a:r>
              <a:rPr lang="en-US" sz="2899" spc="-49">
                <a:solidFill>
                  <a:srgbClr val="000000"/>
                </a:solidFill>
                <a:latin typeface="Canva Sans"/>
                <a:ea typeface="Canva Sans"/>
                <a:cs typeface="Canva Sans"/>
                <a:sym typeface="Canva Sans"/>
              </a:rPr>
              <a:t>Assign Risk Multipliers</a:t>
            </a:r>
          </a:p>
          <a:p>
            <a:pPr algn="l">
              <a:lnSpc>
                <a:spcPts val="4059"/>
              </a:lnSpc>
            </a:pPr>
            <a:endParaRPr lang="en-US" sz="2899" spc="-49">
              <a:solidFill>
                <a:srgbClr val="000000"/>
              </a:solidFill>
              <a:latin typeface="Canva Sans"/>
              <a:ea typeface="Canva Sans"/>
              <a:cs typeface="Canva Sans"/>
              <a:sym typeface="Canva Sans"/>
            </a:endParaRPr>
          </a:p>
          <a:p>
            <a:pPr marL="626109" lvl="1" indent="-313054" algn="l">
              <a:lnSpc>
                <a:spcPts val="4059"/>
              </a:lnSpc>
              <a:buFont typeface="Arial"/>
              <a:buChar char="•"/>
            </a:pPr>
            <a:r>
              <a:rPr lang="en-US" sz="2899" spc="-49">
                <a:solidFill>
                  <a:srgbClr val="000000"/>
                </a:solidFill>
                <a:latin typeface="Canva Sans"/>
                <a:ea typeface="Canva Sans"/>
                <a:cs typeface="Canva Sans"/>
                <a:sym typeface="Canva Sans"/>
              </a:rPr>
              <a:t>Compute Adjusted Life Expectancy</a:t>
            </a:r>
          </a:p>
          <a:p>
            <a:pPr algn="l">
              <a:lnSpc>
                <a:spcPts val="4059"/>
              </a:lnSpc>
            </a:pPr>
            <a:endParaRPr lang="en-US" sz="2899" spc="-49">
              <a:solidFill>
                <a:srgbClr val="000000"/>
              </a:solidFill>
              <a:latin typeface="Canva Sans"/>
              <a:ea typeface="Canva Sans"/>
              <a:cs typeface="Canva Sans"/>
              <a:sym typeface="Canva Sans"/>
            </a:endParaRPr>
          </a:p>
          <a:p>
            <a:pPr marL="626109" lvl="1" indent="-313054" algn="l">
              <a:lnSpc>
                <a:spcPts val="4059"/>
              </a:lnSpc>
              <a:buFont typeface="Arial"/>
              <a:buChar char="•"/>
            </a:pPr>
            <a:r>
              <a:rPr lang="en-US" sz="2899" spc="-51">
                <a:solidFill>
                  <a:srgbClr val="000000"/>
                </a:solidFill>
                <a:latin typeface="Canva Sans"/>
                <a:ea typeface="Canva Sans"/>
                <a:cs typeface="Canva Sans"/>
                <a:sym typeface="Canva Sans"/>
              </a:rPr>
              <a:t>Calculate Insurance Premiums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
            <a:chOff x="0" y="0"/>
            <a:chExt cx="24384000" cy="1371600"/>
          </a:xfrm>
        </p:grpSpPr>
        <p:sp>
          <p:nvSpPr>
            <p:cNvPr id="3" name="Freeform 3"/>
            <p:cNvSpPr/>
            <p:nvPr/>
          </p:nvSpPr>
          <p:spPr>
            <a:xfrm>
              <a:off x="0" y="0"/>
              <a:ext cx="24384000" cy="1371600"/>
            </a:xfrm>
            <a:custGeom>
              <a:avLst/>
              <a:gdLst/>
              <a:ahLst/>
              <a:cxnLst/>
              <a:rect l="l" t="t" r="r" b="b"/>
              <a:pathLst>
                <a:path w="24384000" h="1371600">
                  <a:moveTo>
                    <a:pt x="24384000" y="0"/>
                  </a:moveTo>
                  <a:lnTo>
                    <a:pt x="0" y="0"/>
                  </a:lnTo>
                  <a:lnTo>
                    <a:pt x="0" y="1371600"/>
                  </a:lnTo>
                  <a:lnTo>
                    <a:pt x="24384000" y="1371600"/>
                  </a:lnTo>
                  <a:lnTo>
                    <a:pt x="24384000" y="0"/>
                  </a:lnTo>
                  <a:close/>
                </a:path>
              </a:pathLst>
            </a:custGeom>
            <a:solidFill>
              <a:srgbClr val="D2222A"/>
            </a:solidFill>
          </p:spPr>
        </p:sp>
      </p:grpSp>
      <p:sp>
        <p:nvSpPr>
          <p:cNvPr id="4" name="Freeform 4"/>
          <p:cNvSpPr/>
          <p:nvPr/>
        </p:nvSpPr>
        <p:spPr>
          <a:xfrm>
            <a:off x="3600450" y="657225"/>
            <a:ext cx="3543300" cy="657225"/>
          </a:xfrm>
          <a:custGeom>
            <a:avLst/>
            <a:gdLst/>
            <a:ahLst/>
            <a:cxnLst/>
            <a:rect l="l" t="t" r="r" b="b"/>
            <a:pathLst>
              <a:path w="3543300" h="657225">
                <a:moveTo>
                  <a:pt x="0" y="0"/>
                </a:moveTo>
                <a:lnTo>
                  <a:pt x="3543300" y="0"/>
                </a:lnTo>
                <a:lnTo>
                  <a:pt x="3543300" y="657225"/>
                </a:lnTo>
                <a:lnTo>
                  <a:pt x="0" y="657225"/>
                </a:lnTo>
                <a:lnTo>
                  <a:pt x="0" y="0"/>
                </a:lnTo>
                <a:close/>
              </a:path>
            </a:pathLst>
          </a:custGeom>
          <a:blipFill>
            <a:blip r:embed="rId2"/>
            <a:stretch>
              <a:fillRect/>
            </a:stretch>
          </a:blipFill>
        </p:spPr>
      </p:sp>
      <p:sp>
        <p:nvSpPr>
          <p:cNvPr id="5" name="Freeform 5"/>
          <p:cNvSpPr/>
          <p:nvPr/>
        </p:nvSpPr>
        <p:spPr>
          <a:xfrm>
            <a:off x="0" y="171354"/>
            <a:ext cx="7551039" cy="1707356"/>
          </a:xfrm>
          <a:custGeom>
            <a:avLst/>
            <a:gdLst/>
            <a:ahLst/>
            <a:cxnLst/>
            <a:rect l="l" t="t" r="r" b="b"/>
            <a:pathLst>
              <a:path w="7551039" h="1707356">
                <a:moveTo>
                  <a:pt x="0" y="0"/>
                </a:moveTo>
                <a:lnTo>
                  <a:pt x="7551039" y="0"/>
                </a:lnTo>
                <a:lnTo>
                  <a:pt x="7551039" y="1707356"/>
                </a:lnTo>
                <a:lnTo>
                  <a:pt x="0" y="1707356"/>
                </a:lnTo>
                <a:lnTo>
                  <a:pt x="0" y="0"/>
                </a:lnTo>
                <a:close/>
              </a:path>
            </a:pathLst>
          </a:custGeom>
          <a:blipFill>
            <a:blip r:embed="rId3"/>
            <a:stretch>
              <a:fillRect t="-67" b="-67"/>
            </a:stretch>
          </a:blipFill>
        </p:spPr>
      </p:sp>
      <p:sp>
        <p:nvSpPr>
          <p:cNvPr id="6" name="Freeform 6"/>
          <p:cNvSpPr/>
          <p:nvPr/>
        </p:nvSpPr>
        <p:spPr>
          <a:xfrm>
            <a:off x="0" y="257175"/>
            <a:ext cx="7472361" cy="1457325"/>
          </a:xfrm>
          <a:custGeom>
            <a:avLst/>
            <a:gdLst/>
            <a:ahLst/>
            <a:cxnLst/>
            <a:rect l="l" t="t" r="r" b="b"/>
            <a:pathLst>
              <a:path w="7472361" h="1457325">
                <a:moveTo>
                  <a:pt x="0" y="0"/>
                </a:moveTo>
                <a:lnTo>
                  <a:pt x="7472361" y="0"/>
                </a:lnTo>
                <a:lnTo>
                  <a:pt x="7472361" y="1457325"/>
                </a:lnTo>
                <a:lnTo>
                  <a:pt x="0" y="1457325"/>
                </a:lnTo>
                <a:lnTo>
                  <a:pt x="0" y="0"/>
                </a:lnTo>
                <a:close/>
              </a:path>
            </a:pathLst>
          </a:custGeom>
          <a:blipFill>
            <a:blip r:embed="rId4"/>
            <a:stretch>
              <a:fillRect l="-31" r="-31"/>
            </a:stretch>
          </a:blipFill>
        </p:spPr>
      </p:sp>
      <p:grpSp>
        <p:nvGrpSpPr>
          <p:cNvPr id="7" name="Group 7"/>
          <p:cNvGrpSpPr/>
          <p:nvPr/>
        </p:nvGrpSpPr>
        <p:grpSpPr>
          <a:xfrm>
            <a:off x="0" y="10115550"/>
            <a:ext cx="18288000" cy="171450"/>
            <a:chOff x="0" y="0"/>
            <a:chExt cx="24384000" cy="228600"/>
          </a:xfrm>
        </p:grpSpPr>
        <p:sp>
          <p:nvSpPr>
            <p:cNvPr id="8" name="Freeform 8"/>
            <p:cNvSpPr/>
            <p:nvPr/>
          </p:nvSpPr>
          <p:spPr>
            <a:xfrm>
              <a:off x="0" y="0"/>
              <a:ext cx="24384000" cy="228600"/>
            </a:xfrm>
            <a:custGeom>
              <a:avLst/>
              <a:gdLst/>
              <a:ahLst/>
              <a:cxnLst/>
              <a:rect l="l" t="t" r="r" b="b"/>
              <a:pathLst>
                <a:path w="24384000" h="228600">
                  <a:moveTo>
                    <a:pt x="24384000" y="0"/>
                  </a:moveTo>
                  <a:lnTo>
                    <a:pt x="0" y="0"/>
                  </a:lnTo>
                  <a:lnTo>
                    <a:pt x="0" y="228600"/>
                  </a:lnTo>
                  <a:lnTo>
                    <a:pt x="24384000" y="228600"/>
                  </a:lnTo>
                  <a:lnTo>
                    <a:pt x="24384000" y="0"/>
                  </a:lnTo>
                  <a:close/>
                </a:path>
              </a:pathLst>
            </a:custGeom>
            <a:solidFill>
              <a:srgbClr val="D2222A"/>
            </a:solidFill>
          </p:spPr>
        </p:sp>
      </p:grpSp>
      <p:grpSp>
        <p:nvGrpSpPr>
          <p:cNvPr id="9" name="Group 9"/>
          <p:cNvGrpSpPr/>
          <p:nvPr/>
        </p:nvGrpSpPr>
        <p:grpSpPr>
          <a:xfrm>
            <a:off x="16967835" y="9628346"/>
            <a:ext cx="324802" cy="364806"/>
            <a:chOff x="0" y="0"/>
            <a:chExt cx="433070" cy="486408"/>
          </a:xfrm>
        </p:grpSpPr>
        <p:sp>
          <p:nvSpPr>
            <p:cNvPr id="10" name="Freeform 10"/>
            <p:cNvSpPr/>
            <p:nvPr/>
          </p:nvSpPr>
          <p:spPr>
            <a:xfrm>
              <a:off x="0" y="0"/>
              <a:ext cx="433070" cy="486408"/>
            </a:xfrm>
            <a:custGeom>
              <a:avLst/>
              <a:gdLst/>
              <a:ahLst/>
              <a:cxnLst/>
              <a:rect l="l" t="t" r="r" b="b"/>
              <a:pathLst>
                <a:path w="433070" h="486408">
                  <a:moveTo>
                    <a:pt x="0" y="0"/>
                  </a:moveTo>
                  <a:lnTo>
                    <a:pt x="433070" y="0"/>
                  </a:lnTo>
                  <a:lnTo>
                    <a:pt x="433070" y="486408"/>
                  </a:lnTo>
                  <a:lnTo>
                    <a:pt x="0" y="486408"/>
                  </a:lnTo>
                  <a:close/>
                </a:path>
              </a:pathLst>
            </a:custGeom>
            <a:solidFill>
              <a:srgbClr val="000000">
                <a:alpha val="0"/>
              </a:srgbClr>
            </a:solidFill>
          </p:spPr>
        </p:sp>
        <p:sp>
          <p:nvSpPr>
            <p:cNvPr id="11" name="TextBox 11"/>
            <p:cNvSpPr txBox="1"/>
            <p:nvPr/>
          </p:nvSpPr>
          <p:spPr>
            <a:xfrm>
              <a:off x="0" y="-47625"/>
              <a:ext cx="433070" cy="534033"/>
            </a:xfrm>
            <a:prstGeom prst="rect">
              <a:avLst/>
            </a:prstGeom>
          </p:spPr>
          <p:txBody>
            <a:bodyPr lIns="0" tIns="0" rIns="0" bIns="0" rtlCol="0" anchor="t"/>
            <a:lstStyle/>
            <a:p>
              <a:pPr algn="l">
                <a:lnSpc>
                  <a:spcPts val="2520"/>
                </a:lnSpc>
              </a:pPr>
              <a:r>
                <a:rPr lang="en-US" sz="2100" spc="-37">
                  <a:solidFill>
                    <a:srgbClr val="000000"/>
                  </a:solidFill>
                  <a:latin typeface="Arial"/>
                  <a:ea typeface="Arial"/>
                  <a:cs typeface="Arial"/>
                  <a:sym typeface="Arial"/>
                </a:rPr>
                <a:t>13</a:t>
              </a:r>
            </a:p>
          </p:txBody>
        </p:sp>
      </p:grpSp>
      <p:sp>
        <p:nvSpPr>
          <p:cNvPr id="12" name="Freeform 12"/>
          <p:cNvSpPr/>
          <p:nvPr/>
        </p:nvSpPr>
        <p:spPr>
          <a:xfrm>
            <a:off x="745350" y="2678413"/>
            <a:ext cx="17047879" cy="7437137"/>
          </a:xfrm>
          <a:custGeom>
            <a:avLst/>
            <a:gdLst/>
            <a:ahLst/>
            <a:cxnLst/>
            <a:rect l="l" t="t" r="r" b="b"/>
            <a:pathLst>
              <a:path w="17047879" h="7437137">
                <a:moveTo>
                  <a:pt x="0" y="0"/>
                </a:moveTo>
                <a:lnTo>
                  <a:pt x="17047878" y="0"/>
                </a:lnTo>
                <a:lnTo>
                  <a:pt x="17047878" y="7437137"/>
                </a:lnTo>
                <a:lnTo>
                  <a:pt x="0" y="7437137"/>
                </a:lnTo>
                <a:lnTo>
                  <a:pt x="0" y="0"/>
                </a:lnTo>
                <a:close/>
              </a:path>
            </a:pathLst>
          </a:custGeom>
          <a:blipFill>
            <a:blip r:embed="rId5"/>
            <a:stretch>
              <a:fillRect/>
            </a:stretch>
          </a:blipFill>
        </p:spPr>
      </p:sp>
      <p:sp>
        <p:nvSpPr>
          <p:cNvPr id="13" name="TextBox 13"/>
          <p:cNvSpPr txBox="1"/>
          <p:nvPr/>
        </p:nvSpPr>
        <p:spPr>
          <a:xfrm>
            <a:off x="2988298" y="1745465"/>
            <a:ext cx="12561982" cy="932948"/>
          </a:xfrm>
          <a:prstGeom prst="rect">
            <a:avLst/>
          </a:prstGeom>
        </p:spPr>
        <p:txBody>
          <a:bodyPr lIns="0" tIns="0" rIns="0" bIns="0" rtlCol="0" anchor="t">
            <a:spAutoFit/>
          </a:bodyPr>
          <a:lstStyle/>
          <a:p>
            <a:pPr algn="ctr">
              <a:lnSpc>
                <a:spcPts val="7679"/>
              </a:lnSpc>
              <a:spcBef>
                <a:spcPct val="0"/>
              </a:spcBef>
            </a:pPr>
            <a:r>
              <a:rPr lang="en-US" sz="6399" b="1" spc="-114" dirty="0">
                <a:latin typeface="Times New Roman Bold"/>
                <a:ea typeface="Times New Roman Bold"/>
                <a:cs typeface="Times New Roman Bold"/>
                <a:sym typeface="Times New Roman Bold"/>
              </a:rPr>
              <a:t>Calculator flowchart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
            <a:chOff x="0" y="0"/>
            <a:chExt cx="24384000" cy="1371600"/>
          </a:xfrm>
        </p:grpSpPr>
        <p:sp>
          <p:nvSpPr>
            <p:cNvPr id="3" name="Freeform 3"/>
            <p:cNvSpPr/>
            <p:nvPr/>
          </p:nvSpPr>
          <p:spPr>
            <a:xfrm>
              <a:off x="0" y="0"/>
              <a:ext cx="24384000" cy="1371600"/>
            </a:xfrm>
            <a:custGeom>
              <a:avLst/>
              <a:gdLst/>
              <a:ahLst/>
              <a:cxnLst/>
              <a:rect l="l" t="t" r="r" b="b"/>
              <a:pathLst>
                <a:path w="24384000" h="1371600">
                  <a:moveTo>
                    <a:pt x="24384000" y="0"/>
                  </a:moveTo>
                  <a:lnTo>
                    <a:pt x="0" y="0"/>
                  </a:lnTo>
                  <a:lnTo>
                    <a:pt x="0" y="1371600"/>
                  </a:lnTo>
                  <a:lnTo>
                    <a:pt x="24384000" y="1371600"/>
                  </a:lnTo>
                  <a:lnTo>
                    <a:pt x="24384000" y="0"/>
                  </a:lnTo>
                  <a:close/>
                </a:path>
              </a:pathLst>
            </a:custGeom>
            <a:solidFill>
              <a:srgbClr val="D2222A"/>
            </a:solidFill>
          </p:spPr>
        </p:sp>
      </p:grpSp>
      <p:sp>
        <p:nvSpPr>
          <p:cNvPr id="4" name="Freeform 4"/>
          <p:cNvSpPr/>
          <p:nvPr/>
        </p:nvSpPr>
        <p:spPr>
          <a:xfrm>
            <a:off x="3600450" y="657225"/>
            <a:ext cx="3543300" cy="657225"/>
          </a:xfrm>
          <a:custGeom>
            <a:avLst/>
            <a:gdLst/>
            <a:ahLst/>
            <a:cxnLst/>
            <a:rect l="l" t="t" r="r" b="b"/>
            <a:pathLst>
              <a:path w="3543300" h="657225">
                <a:moveTo>
                  <a:pt x="0" y="0"/>
                </a:moveTo>
                <a:lnTo>
                  <a:pt x="3543300" y="0"/>
                </a:lnTo>
                <a:lnTo>
                  <a:pt x="3543300" y="657225"/>
                </a:lnTo>
                <a:lnTo>
                  <a:pt x="0" y="657225"/>
                </a:lnTo>
                <a:lnTo>
                  <a:pt x="0" y="0"/>
                </a:lnTo>
                <a:close/>
              </a:path>
            </a:pathLst>
          </a:custGeom>
          <a:blipFill>
            <a:blip r:embed="rId2"/>
            <a:stretch>
              <a:fillRect/>
            </a:stretch>
          </a:blipFill>
        </p:spPr>
      </p:sp>
      <p:sp>
        <p:nvSpPr>
          <p:cNvPr id="5" name="Freeform 5"/>
          <p:cNvSpPr/>
          <p:nvPr/>
        </p:nvSpPr>
        <p:spPr>
          <a:xfrm>
            <a:off x="0" y="171354"/>
            <a:ext cx="7551039" cy="1707356"/>
          </a:xfrm>
          <a:custGeom>
            <a:avLst/>
            <a:gdLst/>
            <a:ahLst/>
            <a:cxnLst/>
            <a:rect l="l" t="t" r="r" b="b"/>
            <a:pathLst>
              <a:path w="7551039" h="1707356">
                <a:moveTo>
                  <a:pt x="0" y="0"/>
                </a:moveTo>
                <a:lnTo>
                  <a:pt x="7551039" y="0"/>
                </a:lnTo>
                <a:lnTo>
                  <a:pt x="7551039" y="1707356"/>
                </a:lnTo>
                <a:lnTo>
                  <a:pt x="0" y="1707356"/>
                </a:lnTo>
                <a:lnTo>
                  <a:pt x="0" y="0"/>
                </a:lnTo>
                <a:close/>
              </a:path>
            </a:pathLst>
          </a:custGeom>
          <a:blipFill>
            <a:blip r:embed="rId3"/>
            <a:stretch>
              <a:fillRect t="-67" b="-67"/>
            </a:stretch>
          </a:blipFill>
        </p:spPr>
      </p:sp>
      <p:sp>
        <p:nvSpPr>
          <p:cNvPr id="6" name="Freeform 6"/>
          <p:cNvSpPr/>
          <p:nvPr/>
        </p:nvSpPr>
        <p:spPr>
          <a:xfrm>
            <a:off x="0" y="257175"/>
            <a:ext cx="7472361" cy="1457325"/>
          </a:xfrm>
          <a:custGeom>
            <a:avLst/>
            <a:gdLst/>
            <a:ahLst/>
            <a:cxnLst/>
            <a:rect l="l" t="t" r="r" b="b"/>
            <a:pathLst>
              <a:path w="7472361" h="1457325">
                <a:moveTo>
                  <a:pt x="0" y="0"/>
                </a:moveTo>
                <a:lnTo>
                  <a:pt x="7472361" y="0"/>
                </a:lnTo>
                <a:lnTo>
                  <a:pt x="7472361" y="1457325"/>
                </a:lnTo>
                <a:lnTo>
                  <a:pt x="0" y="1457325"/>
                </a:lnTo>
                <a:lnTo>
                  <a:pt x="0" y="0"/>
                </a:lnTo>
                <a:close/>
              </a:path>
            </a:pathLst>
          </a:custGeom>
          <a:blipFill>
            <a:blip r:embed="rId4"/>
            <a:stretch>
              <a:fillRect l="-31" r="-31"/>
            </a:stretch>
          </a:blipFill>
        </p:spPr>
      </p:sp>
      <p:grpSp>
        <p:nvGrpSpPr>
          <p:cNvPr id="7" name="Group 7"/>
          <p:cNvGrpSpPr/>
          <p:nvPr/>
        </p:nvGrpSpPr>
        <p:grpSpPr>
          <a:xfrm>
            <a:off x="0" y="10115550"/>
            <a:ext cx="18288000" cy="171450"/>
            <a:chOff x="0" y="0"/>
            <a:chExt cx="24384000" cy="228600"/>
          </a:xfrm>
        </p:grpSpPr>
        <p:sp>
          <p:nvSpPr>
            <p:cNvPr id="8" name="Freeform 8"/>
            <p:cNvSpPr/>
            <p:nvPr/>
          </p:nvSpPr>
          <p:spPr>
            <a:xfrm>
              <a:off x="0" y="0"/>
              <a:ext cx="24384000" cy="228600"/>
            </a:xfrm>
            <a:custGeom>
              <a:avLst/>
              <a:gdLst/>
              <a:ahLst/>
              <a:cxnLst/>
              <a:rect l="l" t="t" r="r" b="b"/>
              <a:pathLst>
                <a:path w="24384000" h="228600">
                  <a:moveTo>
                    <a:pt x="24384000" y="0"/>
                  </a:moveTo>
                  <a:lnTo>
                    <a:pt x="0" y="0"/>
                  </a:lnTo>
                  <a:lnTo>
                    <a:pt x="0" y="228600"/>
                  </a:lnTo>
                  <a:lnTo>
                    <a:pt x="24384000" y="228600"/>
                  </a:lnTo>
                  <a:lnTo>
                    <a:pt x="24384000" y="0"/>
                  </a:lnTo>
                  <a:close/>
                </a:path>
              </a:pathLst>
            </a:custGeom>
            <a:solidFill>
              <a:srgbClr val="D2222A"/>
            </a:solidFill>
          </p:spPr>
        </p:sp>
      </p:grpSp>
      <p:sp>
        <p:nvSpPr>
          <p:cNvPr id="12" name="Freeform 12"/>
          <p:cNvSpPr/>
          <p:nvPr/>
        </p:nvSpPr>
        <p:spPr>
          <a:xfrm>
            <a:off x="9884679" y="2857500"/>
            <a:ext cx="4683790" cy="6361685"/>
          </a:xfrm>
          <a:custGeom>
            <a:avLst/>
            <a:gdLst/>
            <a:ahLst/>
            <a:cxnLst/>
            <a:rect l="l" t="t" r="r" b="b"/>
            <a:pathLst>
              <a:path w="4683790" h="6361685">
                <a:moveTo>
                  <a:pt x="0" y="0"/>
                </a:moveTo>
                <a:lnTo>
                  <a:pt x="4683790" y="0"/>
                </a:lnTo>
                <a:lnTo>
                  <a:pt x="4683790" y="6361685"/>
                </a:lnTo>
                <a:lnTo>
                  <a:pt x="0" y="6361685"/>
                </a:lnTo>
                <a:lnTo>
                  <a:pt x="0" y="0"/>
                </a:lnTo>
                <a:close/>
              </a:path>
            </a:pathLst>
          </a:custGeom>
          <a:blipFill>
            <a:blip r:embed="rId5"/>
            <a:stretch>
              <a:fillRect/>
            </a:stretch>
          </a:blipFill>
        </p:spPr>
      </p:sp>
      <p:sp>
        <p:nvSpPr>
          <p:cNvPr id="13" name="TextBox 13"/>
          <p:cNvSpPr txBox="1"/>
          <p:nvPr/>
        </p:nvSpPr>
        <p:spPr>
          <a:xfrm>
            <a:off x="2929085" y="3973917"/>
            <a:ext cx="6066282" cy="1809750"/>
          </a:xfrm>
          <a:prstGeom prst="rect">
            <a:avLst/>
          </a:prstGeom>
        </p:spPr>
        <p:txBody>
          <a:bodyPr lIns="0" tIns="0" rIns="0" bIns="0" rtlCol="0" anchor="t">
            <a:spAutoFit/>
          </a:bodyPr>
          <a:lstStyle/>
          <a:p>
            <a:pPr algn="ctr">
              <a:lnSpc>
                <a:spcPts val="6720"/>
              </a:lnSpc>
              <a:spcBef>
                <a:spcPct val="0"/>
              </a:spcBef>
            </a:pPr>
            <a:r>
              <a:rPr lang="en-US" sz="5600" b="1" spc="-99">
                <a:solidFill>
                  <a:srgbClr val="006FC0"/>
                </a:solidFill>
                <a:latin typeface="Times New Roman Bold"/>
                <a:ea typeface="Times New Roman Bold"/>
                <a:cs typeface="Times New Roman Bold"/>
                <a:sym typeface="Times New Roman Bold"/>
              </a:rPr>
              <a:t>Life Insurance Premium Calculator</a:t>
            </a:r>
          </a:p>
        </p:txBody>
      </p:sp>
      <p:sp>
        <p:nvSpPr>
          <p:cNvPr id="14" name="TextBox 14"/>
          <p:cNvSpPr txBox="1"/>
          <p:nvPr/>
        </p:nvSpPr>
        <p:spPr>
          <a:xfrm>
            <a:off x="1028700" y="1868892"/>
            <a:ext cx="3162300" cy="1102866"/>
          </a:xfrm>
          <a:prstGeom prst="rect">
            <a:avLst/>
          </a:prstGeom>
        </p:spPr>
        <p:txBody>
          <a:bodyPr wrap="square" lIns="0" tIns="0" rIns="0" bIns="0" rtlCol="0" anchor="t">
            <a:spAutoFit/>
          </a:bodyPr>
          <a:lstStyle/>
          <a:p>
            <a:pPr algn="ctr">
              <a:lnSpc>
                <a:spcPts val="8640"/>
              </a:lnSpc>
              <a:spcBef>
                <a:spcPct val="0"/>
              </a:spcBef>
            </a:pPr>
            <a:r>
              <a:rPr lang="en-US" sz="7200" b="1" spc="-128" dirty="0">
                <a:latin typeface="Times New Roman Bold"/>
                <a:ea typeface="Times New Roman Bold"/>
                <a:cs typeface="Times New Roman Bold"/>
                <a:sym typeface="Times New Roman Bold"/>
              </a:rPr>
              <a:t>Results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
            <a:chOff x="0" y="0"/>
            <a:chExt cx="24384000" cy="1371600"/>
          </a:xfrm>
        </p:grpSpPr>
        <p:sp>
          <p:nvSpPr>
            <p:cNvPr id="3" name="Freeform 3"/>
            <p:cNvSpPr/>
            <p:nvPr/>
          </p:nvSpPr>
          <p:spPr>
            <a:xfrm>
              <a:off x="0" y="0"/>
              <a:ext cx="24384000" cy="1371600"/>
            </a:xfrm>
            <a:custGeom>
              <a:avLst/>
              <a:gdLst/>
              <a:ahLst/>
              <a:cxnLst/>
              <a:rect l="l" t="t" r="r" b="b"/>
              <a:pathLst>
                <a:path w="24384000" h="1371600">
                  <a:moveTo>
                    <a:pt x="24384000" y="0"/>
                  </a:moveTo>
                  <a:lnTo>
                    <a:pt x="0" y="0"/>
                  </a:lnTo>
                  <a:lnTo>
                    <a:pt x="0" y="1371600"/>
                  </a:lnTo>
                  <a:lnTo>
                    <a:pt x="24384000" y="1371600"/>
                  </a:lnTo>
                  <a:lnTo>
                    <a:pt x="24384000" y="0"/>
                  </a:lnTo>
                  <a:close/>
                </a:path>
              </a:pathLst>
            </a:custGeom>
            <a:solidFill>
              <a:srgbClr val="D2222A"/>
            </a:solidFill>
          </p:spPr>
        </p:sp>
      </p:grpSp>
      <p:sp>
        <p:nvSpPr>
          <p:cNvPr id="4" name="Freeform 4"/>
          <p:cNvSpPr/>
          <p:nvPr/>
        </p:nvSpPr>
        <p:spPr>
          <a:xfrm>
            <a:off x="3600450" y="657225"/>
            <a:ext cx="3543300" cy="657225"/>
          </a:xfrm>
          <a:custGeom>
            <a:avLst/>
            <a:gdLst/>
            <a:ahLst/>
            <a:cxnLst/>
            <a:rect l="l" t="t" r="r" b="b"/>
            <a:pathLst>
              <a:path w="3543300" h="657225">
                <a:moveTo>
                  <a:pt x="0" y="0"/>
                </a:moveTo>
                <a:lnTo>
                  <a:pt x="3543300" y="0"/>
                </a:lnTo>
                <a:lnTo>
                  <a:pt x="3543300" y="657225"/>
                </a:lnTo>
                <a:lnTo>
                  <a:pt x="0" y="657225"/>
                </a:lnTo>
                <a:lnTo>
                  <a:pt x="0" y="0"/>
                </a:lnTo>
                <a:close/>
              </a:path>
            </a:pathLst>
          </a:custGeom>
          <a:blipFill>
            <a:blip r:embed="rId2"/>
            <a:stretch>
              <a:fillRect/>
            </a:stretch>
          </a:blipFill>
        </p:spPr>
      </p:sp>
      <p:sp>
        <p:nvSpPr>
          <p:cNvPr id="5" name="Freeform 5"/>
          <p:cNvSpPr/>
          <p:nvPr/>
        </p:nvSpPr>
        <p:spPr>
          <a:xfrm>
            <a:off x="0" y="171354"/>
            <a:ext cx="7551039" cy="1707356"/>
          </a:xfrm>
          <a:custGeom>
            <a:avLst/>
            <a:gdLst/>
            <a:ahLst/>
            <a:cxnLst/>
            <a:rect l="l" t="t" r="r" b="b"/>
            <a:pathLst>
              <a:path w="7551039" h="1707356">
                <a:moveTo>
                  <a:pt x="0" y="0"/>
                </a:moveTo>
                <a:lnTo>
                  <a:pt x="7551039" y="0"/>
                </a:lnTo>
                <a:lnTo>
                  <a:pt x="7551039" y="1707356"/>
                </a:lnTo>
                <a:lnTo>
                  <a:pt x="0" y="1707356"/>
                </a:lnTo>
                <a:lnTo>
                  <a:pt x="0" y="0"/>
                </a:lnTo>
                <a:close/>
              </a:path>
            </a:pathLst>
          </a:custGeom>
          <a:blipFill>
            <a:blip r:embed="rId3"/>
            <a:stretch>
              <a:fillRect t="-67" b="-67"/>
            </a:stretch>
          </a:blipFill>
        </p:spPr>
      </p:sp>
      <p:sp>
        <p:nvSpPr>
          <p:cNvPr id="6" name="Freeform 6"/>
          <p:cNvSpPr/>
          <p:nvPr/>
        </p:nvSpPr>
        <p:spPr>
          <a:xfrm>
            <a:off x="0" y="257175"/>
            <a:ext cx="7472361" cy="1457325"/>
          </a:xfrm>
          <a:custGeom>
            <a:avLst/>
            <a:gdLst/>
            <a:ahLst/>
            <a:cxnLst/>
            <a:rect l="l" t="t" r="r" b="b"/>
            <a:pathLst>
              <a:path w="7472361" h="1457325">
                <a:moveTo>
                  <a:pt x="0" y="0"/>
                </a:moveTo>
                <a:lnTo>
                  <a:pt x="7472361" y="0"/>
                </a:lnTo>
                <a:lnTo>
                  <a:pt x="7472361" y="1457325"/>
                </a:lnTo>
                <a:lnTo>
                  <a:pt x="0" y="1457325"/>
                </a:lnTo>
                <a:lnTo>
                  <a:pt x="0" y="0"/>
                </a:lnTo>
                <a:close/>
              </a:path>
            </a:pathLst>
          </a:custGeom>
          <a:blipFill>
            <a:blip r:embed="rId4"/>
            <a:stretch>
              <a:fillRect l="-31" r="-31"/>
            </a:stretch>
          </a:blipFill>
        </p:spPr>
      </p:sp>
      <p:grpSp>
        <p:nvGrpSpPr>
          <p:cNvPr id="7" name="Group 7"/>
          <p:cNvGrpSpPr/>
          <p:nvPr/>
        </p:nvGrpSpPr>
        <p:grpSpPr>
          <a:xfrm>
            <a:off x="0" y="10115550"/>
            <a:ext cx="18288000" cy="171450"/>
            <a:chOff x="0" y="0"/>
            <a:chExt cx="24384000" cy="228600"/>
          </a:xfrm>
        </p:grpSpPr>
        <p:sp>
          <p:nvSpPr>
            <p:cNvPr id="8" name="Freeform 8"/>
            <p:cNvSpPr/>
            <p:nvPr/>
          </p:nvSpPr>
          <p:spPr>
            <a:xfrm>
              <a:off x="0" y="0"/>
              <a:ext cx="24384000" cy="228600"/>
            </a:xfrm>
            <a:custGeom>
              <a:avLst/>
              <a:gdLst/>
              <a:ahLst/>
              <a:cxnLst/>
              <a:rect l="l" t="t" r="r" b="b"/>
              <a:pathLst>
                <a:path w="24384000" h="228600">
                  <a:moveTo>
                    <a:pt x="24384000" y="0"/>
                  </a:moveTo>
                  <a:lnTo>
                    <a:pt x="0" y="0"/>
                  </a:lnTo>
                  <a:lnTo>
                    <a:pt x="0" y="228600"/>
                  </a:lnTo>
                  <a:lnTo>
                    <a:pt x="24384000" y="228600"/>
                  </a:lnTo>
                  <a:lnTo>
                    <a:pt x="24384000" y="0"/>
                  </a:lnTo>
                  <a:close/>
                </a:path>
              </a:pathLst>
            </a:custGeom>
            <a:solidFill>
              <a:srgbClr val="D2222A"/>
            </a:solidFill>
          </p:spPr>
        </p:sp>
      </p:grpSp>
      <p:sp>
        <p:nvSpPr>
          <p:cNvPr id="12" name="TextBox 12"/>
          <p:cNvSpPr txBox="1"/>
          <p:nvPr/>
        </p:nvSpPr>
        <p:spPr>
          <a:xfrm>
            <a:off x="892970" y="1754634"/>
            <a:ext cx="2993230" cy="1102866"/>
          </a:xfrm>
          <a:prstGeom prst="rect">
            <a:avLst/>
          </a:prstGeom>
        </p:spPr>
        <p:txBody>
          <a:bodyPr wrap="square" lIns="0" tIns="0" rIns="0" bIns="0" rtlCol="0" anchor="t">
            <a:spAutoFit/>
          </a:bodyPr>
          <a:lstStyle/>
          <a:p>
            <a:pPr algn="ctr">
              <a:lnSpc>
                <a:spcPts val="8640"/>
              </a:lnSpc>
              <a:spcBef>
                <a:spcPct val="0"/>
              </a:spcBef>
            </a:pPr>
            <a:r>
              <a:rPr lang="en-US" sz="7200" b="1" spc="-128" dirty="0">
                <a:latin typeface="Times New Roman Bold"/>
                <a:ea typeface="Times New Roman Bold"/>
                <a:cs typeface="Times New Roman Bold"/>
                <a:sym typeface="Times New Roman Bold"/>
              </a:rPr>
              <a:t>Results</a:t>
            </a:r>
          </a:p>
        </p:txBody>
      </p:sp>
      <p:sp>
        <p:nvSpPr>
          <p:cNvPr id="13" name="Freeform 13"/>
          <p:cNvSpPr/>
          <p:nvPr/>
        </p:nvSpPr>
        <p:spPr>
          <a:xfrm>
            <a:off x="6553200" y="2476500"/>
            <a:ext cx="5647148" cy="7334249"/>
          </a:xfrm>
          <a:custGeom>
            <a:avLst/>
            <a:gdLst/>
            <a:ahLst/>
            <a:cxnLst/>
            <a:rect l="l" t="t" r="r" b="b"/>
            <a:pathLst>
              <a:path w="5056598" h="6836664">
                <a:moveTo>
                  <a:pt x="0" y="0"/>
                </a:moveTo>
                <a:lnTo>
                  <a:pt x="5056598" y="0"/>
                </a:lnTo>
                <a:lnTo>
                  <a:pt x="5056598" y="6836664"/>
                </a:lnTo>
                <a:lnTo>
                  <a:pt x="0" y="6836664"/>
                </a:lnTo>
                <a:lnTo>
                  <a:pt x="0" y="0"/>
                </a:lnTo>
                <a:close/>
              </a:path>
            </a:pathLst>
          </a:custGeom>
          <a:blipFill>
            <a:blip r:embed="rId5"/>
            <a:stretch>
              <a:fillRect b="-459"/>
            </a:stretch>
          </a:blipFill>
        </p:spPr>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
            <a:chOff x="0" y="0"/>
            <a:chExt cx="24384000" cy="1371600"/>
          </a:xfrm>
        </p:grpSpPr>
        <p:sp>
          <p:nvSpPr>
            <p:cNvPr id="3" name="Freeform 3"/>
            <p:cNvSpPr/>
            <p:nvPr/>
          </p:nvSpPr>
          <p:spPr>
            <a:xfrm>
              <a:off x="0" y="0"/>
              <a:ext cx="24384000" cy="1371600"/>
            </a:xfrm>
            <a:custGeom>
              <a:avLst/>
              <a:gdLst/>
              <a:ahLst/>
              <a:cxnLst/>
              <a:rect l="l" t="t" r="r" b="b"/>
              <a:pathLst>
                <a:path w="24384000" h="1371600">
                  <a:moveTo>
                    <a:pt x="24384000" y="0"/>
                  </a:moveTo>
                  <a:lnTo>
                    <a:pt x="0" y="0"/>
                  </a:lnTo>
                  <a:lnTo>
                    <a:pt x="0" y="1371600"/>
                  </a:lnTo>
                  <a:lnTo>
                    <a:pt x="24384000" y="1371600"/>
                  </a:lnTo>
                  <a:lnTo>
                    <a:pt x="24384000" y="0"/>
                  </a:lnTo>
                  <a:close/>
                </a:path>
              </a:pathLst>
            </a:custGeom>
            <a:solidFill>
              <a:srgbClr val="D2222A"/>
            </a:solidFill>
          </p:spPr>
        </p:sp>
      </p:grpSp>
      <p:sp>
        <p:nvSpPr>
          <p:cNvPr id="4" name="Freeform 4"/>
          <p:cNvSpPr/>
          <p:nvPr/>
        </p:nvSpPr>
        <p:spPr>
          <a:xfrm>
            <a:off x="3600450" y="657225"/>
            <a:ext cx="3543300" cy="657225"/>
          </a:xfrm>
          <a:custGeom>
            <a:avLst/>
            <a:gdLst/>
            <a:ahLst/>
            <a:cxnLst/>
            <a:rect l="l" t="t" r="r" b="b"/>
            <a:pathLst>
              <a:path w="3543300" h="657225">
                <a:moveTo>
                  <a:pt x="0" y="0"/>
                </a:moveTo>
                <a:lnTo>
                  <a:pt x="3543300" y="0"/>
                </a:lnTo>
                <a:lnTo>
                  <a:pt x="3543300" y="657225"/>
                </a:lnTo>
                <a:lnTo>
                  <a:pt x="0" y="657225"/>
                </a:lnTo>
                <a:lnTo>
                  <a:pt x="0" y="0"/>
                </a:lnTo>
                <a:close/>
              </a:path>
            </a:pathLst>
          </a:custGeom>
          <a:blipFill>
            <a:blip r:embed="rId2"/>
            <a:stretch>
              <a:fillRect/>
            </a:stretch>
          </a:blipFill>
        </p:spPr>
      </p:sp>
      <p:sp>
        <p:nvSpPr>
          <p:cNvPr id="5" name="Freeform 5"/>
          <p:cNvSpPr/>
          <p:nvPr/>
        </p:nvSpPr>
        <p:spPr>
          <a:xfrm>
            <a:off x="0" y="171354"/>
            <a:ext cx="7551039" cy="1707356"/>
          </a:xfrm>
          <a:custGeom>
            <a:avLst/>
            <a:gdLst/>
            <a:ahLst/>
            <a:cxnLst/>
            <a:rect l="l" t="t" r="r" b="b"/>
            <a:pathLst>
              <a:path w="7551039" h="1707356">
                <a:moveTo>
                  <a:pt x="0" y="0"/>
                </a:moveTo>
                <a:lnTo>
                  <a:pt x="7551039" y="0"/>
                </a:lnTo>
                <a:lnTo>
                  <a:pt x="7551039" y="1707356"/>
                </a:lnTo>
                <a:lnTo>
                  <a:pt x="0" y="1707356"/>
                </a:lnTo>
                <a:lnTo>
                  <a:pt x="0" y="0"/>
                </a:lnTo>
                <a:close/>
              </a:path>
            </a:pathLst>
          </a:custGeom>
          <a:blipFill>
            <a:blip r:embed="rId3"/>
            <a:stretch>
              <a:fillRect t="-67" b="-67"/>
            </a:stretch>
          </a:blipFill>
        </p:spPr>
      </p:sp>
      <p:sp>
        <p:nvSpPr>
          <p:cNvPr id="6" name="Freeform 6"/>
          <p:cNvSpPr/>
          <p:nvPr/>
        </p:nvSpPr>
        <p:spPr>
          <a:xfrm>
            <a:off x="0" y="257175"/>
            <a:ext cx="7472361" cy="1457325"/>
          </a:xfrm>
          <a:custGeom>
            <a:avLst/>
            <a:gdLst/>
            <a:ahLst/>
            <a:cxnLst/>
            <a:rect l="l" t="t" r="r" b="b"/>
            <a:pathLst>
              <a:path w="7472361" h="1457325">
                <a:moveTo>
                  <a:pt x="0" y="0"/>
                </a:moveTo>
                <a:lnTo>
                  <a:pt x="7472361" y="0"/>
                </a:lnTo>
                <a:lnTo>
                  <a:pt x="7472361" y="1457325"/>
                </a:lnTo>
                <a:lnTo>
                  <a:pt x="0" y="1457325"/>
                </a:lnTo>
                <a:lnTo>
                  <a:pt x="0" y="0"/>
                </a:lnTo>
                <a:close/>
              </a:path>
            </a:pathLst>
          </a:custGeom>
          <a:blipFill>
            <a:blip r:embed="rId4"/>
            <a:stretch>
              <a:fillRect l="-31" r="-31"/>
            </a:stretch>
          </a:blipFill>
        </p:spPr>
      </p:sp>
      <p:sp>
        <p:nvSpPr>
          <p:cNvPr id="7" name="Freeform 7"/>
          <p:cNvSpPr/>
          <p:nvPr/>
        </p:nvSpPr>
        <p:spPr>
          <a:xfrm>
            <a:off x="2586038" y="614362"/>
            <a:ext cx="4829175" cy="742950"/>
          </a:xfrm>
          <a:custGeom>
            <a:avLst/>
            <a:gdLst/>
            <a:ahLst/>
            <a:cxnLst/>
            <a:rect l="l" t="t" r="r" b="b"/>
            <a:pathLst>
              <a:path w="4829175" h="742950">
                <a:moveTo>
                  <a:pt x="0" y="0"/>
                </a:moveTo>
                <a:lnTo>
                  <a:pt x="4829174" y="0"/>
                </a:lnTo>
                <a:lnTo>
                  <a:pt x="4829174" y="742950"/>
                </a:lnTo>
                <a:lnTo>
                  <a:pt x="0" y="742950"/>
                </a:lnTo>
                <a:lnTo>
                  <a:pt x="0" y="0"/>
                </a:lnTo>
                <a:close/>
              </a:path>
            </a:pathLst>
          </a:custGeom>
          <a:blipFill>
            <a:blip r:embed="rId5"/>
            <a:stretch>
              <a:fillRect l="-126" r="-126"/>
            </a:stretch>
          </a:blipFill>
        </p:spPr>
      </p:sp>
      <p:grpSp>
        <p:nvGrpSpPr>
          <p:cNvPr id="8" name="Group 8"/>
          <p:cNvGrpSpPr/>
          <p:nvPr/>
        </p:nvGrpSpPr>
        <p:grpSpPr>
          <a:xfrm>
            <a:off x="0" y="10115550"/>
            <a:ext cx="18288000" cy="171450"/>
            <a:chOff x="0" y="0"/>
            <a:chExt cx="24384000" cy="228600"/>
          </a:xfrm>
        </p:grpSpPr>
        <p:sp>
          <p:nvSpPr>
            <p:cNvPr id="9" name="Freeform 9"/>
            <p:cNvSpPr/>
            <p:nvPr/>
          </p:nvSpPr>
          <p:spPr>
            <a:xfrm>
              <a:off x="0" y="0"/>
              <a:ext cx="24384000" cy="228600"/>
            </a:xfrm>
            <a:custGeom>
              <a:avLst/>
              <a:gdLst/>
              <a:ahLst/>
              <a:cxnLst/>
              <a:rect l="l" t="t" r="r" b="b"/>
              <a:pathLst>
                <a:path w="24384000" h="228600">
                  <a:moveTo>
                    <a:pt x="24384000" y="0"/>
                  </a:moveTo>
                  <a:lnTo>
                    <a:pt x="0" y="0"/>
                  </a:lnTo>
                  <a:lnTo>
                    <a:pt x="0" y="228600"/>
                  </a:lnTo>
                  <a:lnTo>
                    <a:pt x="24384000" y="228600"/>
                  </a:lnTo>
                  <a:lnTo>
                    <a:pt x="24384000" y="0"/>
                  </a:lnTo>
                  <a:close/>
                </a:path>
              </a:pathLst>
            </a:custGeom>
            <a:solidFill>
              <a:srgbClr val="D2222A"/>
            </a:solidFill>
          </p:spPr>
        </p:sp>
      </p:grpSp>
      <p:grpSp>
        <p:nvGrpSpPr>
          <p:cNvPr id="10" name="Group 10"/>
          <p:cNvGrpSpPr/>
          <p:nvPr/>
        </p:nvGrpSpPr>
        <p:grpSpPr>
          <a:xfrm>
            <a:off x="1028700" y="1866900"/>
            <a:ext cx="10510335" cy="1336707"/>
            <a:chOff x="0" y="-15747"/>
            <a:chExt cx="12928642" cy="1782275"/>
          </a:xfrm>
        </p:grpSpPr>
        <p:sp>
          <p:nvSpPr>
            <p:cNvPr id="11" name="Freeform 11"/>
            <p:cNvSpPr/>
            <p:nvPr/>
          </p:nvSpPr>
          <p:spPr>
            <a:xfrm>
              <a:off x="0" y="0"/>
              <a:ext cx="5295900" cy="1658451"/>
            </a:xfrm>
            <a:custGeom>
              <a:avLst/>
              <a:gdLst/>
              <a:ahLst/>
              <a:cxnLst/>
              <a:rect l="l" t="t" r="r" b="b"/>
              <a:pathLst>
                <a:path w="5295900" h="1658451">
                  <a:moveTo>
                    <a:pt x="0" y="0"/>
                  </a:moveTo>
                  <a:lnTo>
                    <a:pt x="5295900" y="0"/>
                  </a:lnTo>
                  <a:lnTo>
                    <a:pt x="5295900" y="1658451"/>
                  </a:lnTo>
                  <a:lnTo>
                    <a:pt x="0" y="1658451"/>
                  </a:lnTo>
                  <a:close/>
                </a:path>
              </a:pathLst>
            </a:custGeom>
            <a:solidFill>
              <a:srgbClr val="000000">
                <a:alpha val="0"/>
              </a:srgbClr>
            </a:solidFill>
          </p:spPr>
        </p:sp>
        <p:sp>
          <p:nvSpPr>
            <p:cNvPr id="12" name="TextBox 12"/>
            <p:cNvSpPr txBox="1"/>
            <p:nvPr/>
          </p:nvSpPr>
          <p:spPr>
            <a:xfrm>
              <a:off x="7338591" y="-15747"/>
              <a:ext cx="5590051" cy="1782275"/>
            </a:xfrm>
            <a:prstGeom prst="rect">
              <a:avLst/>
            </a:prstGeom>
          </p:spPr>
          <p:txBody>
            <a:bodyPr lIns="0" tIns="0" rIns="0" bIns="0" rtlCol="0" anchor="t"/>
            <a:lstStyle/>
            <a:p>
              <a:pPr algn="l">
                <a:lnSpc>
                  <a:spcPts val="7679"/>
                </a:lnSpc>
              </a:pPr>
              <a:r>
                <a:rPr lang="en-US" sz="7200" b="1" spc="-16" dirty="0">
                  <a:latin typeface="Times New Roman Bold"/>
                  <a:ea typeface="Times New Roman Bold"/>
                  <a:cs typeface="Times New Roman Bold"/>
                  <a:sym typeface="Times New Roman Bold"/>
                </a:rPr>
                <a:t>Limitations</a:t>
              </a:r>
            </a:p>
          </p:txBody>
        </p:sp>
      </p:grpSp>
      <p:sp>
        <p:nvSpPr>
          <p:cNvPr id="16" name="TextBox 16"/>
          <p:cNvSpPr txBox="1"/>
          <p:nvPr/>
        </p:nvSpPr>
        <p:spPr>
          <a:xfrm>
            <a:off x="1028700" y="2875121"/>
            <a:ext cx="16476241" cy="6629400"/>
          </a:xfrm>
          <a:prstGeom prst="rect">
            <a:avLst/>
          </a:prstGeom>
        </p:spPr>
        <p:txBody>
          <a:bodyPr lIns="0" tIns="0" rIns="0" bIns="0" rtlCol="0" anchor="t">
            <a:spAutoFit/>
          </a:bodyPr>
          <a:lstStyle/>
          <a:p>
            <a:pPr algn="l">
              <a:lnSpc>
                <a:spcPts val="3479"/>
              </a:lnSpc>
            </a:pPr>
            <a:endParaRPr lang="en-IN" dirty="0"/>
          </a:p>
          <a:p>
            <a:pPr marL="626109" lvl="1" indent="-313054" algn="l">
              <a:lnSpc>
                <a:spcPts val="3479"/>
              </a:lnSpc>
              <a:buFont typeface="Arial"/>
              <a:buChar char="•"/>
            </a:pPr>
            <a:r>
              <a:rPr lang="en-US" sz="2899" spc="-49" dirty="0">
                <a:solidFill>
                  <a:srgbClr val="000000"/>
                </a:solidFill>
                <a:latin typeface="Arial"/>
                <a:ea typeface="Arial"/>
                <a:cs typeface="Arial"/>
                <a:sym typeface="Arial"/>
              </a:rPr>
              <a:t>Limited Data Access &amp; Reliability – Finding accurate and updated mortality tables and health risk data can be challenging, which may affect the precision of the model.</a:t>
            </a:r>
          </a:p>
          <a:p>
            <a:pPr algn="l">
              <a:lnSpc>
                <a:spcPts val="3479"/>
              </a:lnSpc>
            </a:pPr>
            <a:endParaRPr lang="en-US" sz="2899" spc="-49" dirty="0">
              <a:solidFill>
                <a:srgbClr val="000000"/>
              </a:solidFill>
              <a:latin typeface="Arial"/>
              <a:ea typeface="Arial"/>
              <a:cs typeface="Arial"/>
              <a:sym typeface="Arial"/>
            </a:endParaRPr>
          </a:p>
          <a:p>
            <a:pPr marL="626109" lvl="1" indent="-313054" algn="l">
              <a:lnSpc>
                <a:spcPts val="3479"/>
              </a:lnSpc>
              <a:buFont typeface="Arial"/>
              <a:buChar char="•"/>
            </a:pPr>
            <a:r>
              <a:rPr lang="en-US" sz="2899" spc="-49" dirty="0">
                <a:solidFill>
                  <a:srgbClr val="000000"/>
                </a:solidFill>
                <a:latin typeface="Arial"/>
                <a:ea typeface="Arial"/>
                <a:cs typeface="Arial"/>
                <a:sym typeface="Arial"/>
              </a:rPr>
              <a:t>Lack of Personalization – The use of general risk multipliers may not fully capture individual differences in lifestyle, genetics, and overall health conditions.</a:t>
            </a:r>
          </a:p>
          <a:p>
            <a:pPr algn="l">
              <a:lnSpc>
                <a:spcPts val="3479"/>
              </a:lnSpc>
            </a:pPr>
            <a:endParaRPr lang="en-US" sz="2899" spc="-49" dirty="0">
              <a:solidFill>
                <a:srgbClr val="000000"/>
              </a:solidFill>
              <a:latin typeface="Arial"/>
              <a:ea typeface="Arial"/>
              <a:cs typeface="Arial"/>
              <a:sym typeface="Arial"/>
            </a:endParaRPr>
          </a:p>
          <a:p>
            <a:pPr marL="626109" lvl="1" indent="-313054" algn="l">
              <a:lnSpc>
                <a:spcPts val="3479"/>
              </a:lnSpc>
              <a:buFont typeface="Arial"/>
              <a:buChar char="•"/>
            </a:pPr>
            <a:r>
              <a:rPr lang="en-US" sz="2899" spc="-49" dirty="0">
                <a:solidFill>
                  <a:srgbClr val="000000"/>
                </a:solidFill>
                <a:latin typeface="Arial"/>
                <a:ea typeface="Arial"/>
                <a:cs typeface="Arial"/>
                <a:sym typeface="Arial"/>
              </a:rPr>
              <a:t>Dependence on Assumptions – The model is based on estimated health impacts on mortality, which may not always reflect real-world scenarios accurately.</a:t>
            </a:r>
          </a:p>
          <a:p>
            <a:pPr algn="l">
              <a:lnSpc>
                <a:spcPts val="3479"/>
              </a:lnSpc>
            </a:pPr>
            <a:endParaRPr lang="en-US" sz="2899" spc="-49" dirty="0">
              <a:solidFill>
                <a:srgbClr val="000000"/>
              </a:solidFill>
              <a:latin typeface="Arial"/>
              <a:ea typeface="Arial"/>
              <a:cs typeface="Arial"/>
              <a:sym typeface="Arial"/>
            </a:endParaRPr>
          </a:p>
          <a:p>
            <a:pPr marL="626109" lvl="1" indent="-313054" algn="l">
              <a:lnSpc>
                <a:spcPts val="3479"/>
              </a:lnSpc>
              <a:buFont typeface="Arial"/>
              <a:buChar char="•"/>
            </a:pPr>
            <a:r>
              <a:rPr lang="en-US" sz="2899" spc="-49" dirty="0">
                <a:solidFill>
                  <a:srgbClr val="000000"/>
                </a:solidFill>
                <a:latin typeface="Arial"/>
                <a:ea typeface="Arial"/>
                <a:cs typeface="Arial"/>
                <a:sym typeface="Arial"/>
              </a:rPr>
              <a:t>Impact of Medical Advances – Continuous improvements in healthcare and treatments can change mortality risks, making older data or models less reliable over time.</a:t>
            </a:r>
          </a:p>
          <a:p>
            <a:pPr algn="l">
              <a:lnSpc>
                <a:spcPts val="3479"/>
              </a:lnSpc>
            </a:pPr>
            <a:endParaRPr lang="en-US" sz="2899" spc="-49" dirty="0">
              <a:solidFill>
                <a:srgbClr val="000000"/>
              </a:solidFill>
              <a:latin typeface="Arial"/>
              <a:ea typeface="Arial"/>
              <a:cs typeface="Arial"/>
              <a:sym typeface="Arial"/>
            </a:endParaRPr>
          </a:p>
          <a:p>
            <a:pPr marL="626109" lvl="1" indent="-313054" algn="l">
              <a:lnSpc>
                <a:spcPts val="3479"/>
              </a:lnSpc>
              <a:buFont typeface="Arial"/>
              <a:buChar char="•"/>
            </a:pPr>
            <a:r>
              <a:rPr lang="en-US" sz="2899" spc="-51" dirty="0">
                <a:solidFill>
                  <a:srgbClr val="000000"/>
                </a:solidFill>
                <a:latin typeface="Arial"/>
                <a:ea typeface="Arial"/>
                <a:cs typeface="Arial"/>
                <a:sym typeface="Arial"/>
              </a:rPr>
              <a:t>Ethical and Legal Considerations – Using health factors to adjust insurance premiums must align with fairness and regulatory guidelines to prevent discrimination or unethical pricing practices.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
            <a:chOff x="0" y="0"/>
            <a:chExt cx="24384000" cy="1371600"/>
          </a:xfrm>
        </p:grpSpPr>
        <p:sp>
          <p:nvSpPr>
            <p:cNvPr id="3" name="Freeform 3"/>
            <p:cNvSpPr/>
            <p:nvPr/>
          </p:nvSpPr>
          <p:spPr>
            <a:xfrm>
              <a:off x="0" y="0"/>
              <a:ext cx="24384000" cy="1371600"/>
            </a:xfrm>
            <a:custGeom>
              <a:avLst/>
              <a:gdLst/>
              <a:ahLst/>
              <a:cxnLst/>
              <a:rect l="l" t="t" r="r" b="b"/>
              <a:pathLst>
                <a:path w="24384000" h="1371600">
                  <a:moveTo>
                    <a:pt x="24384000" y="0"/>
                  </a:moveTo>
                  <a:lnTo>
                    <a:pt x="0" y="0"/>
                  </a:lnTo>
                  <a:lnTo>
                    <a:pt x="0" y="1371600"/>
                  </a:lnTo>
                  <a:lnTo>
                    <a:pt x="24384000" y="1371600"/>
                  </a:lnTo>
                  <a:lnTo>
                    <a:pt x="24384000" y="0"/>
                  </a:lnTo>
                  <a:close/>
                </a:path>
              </a:pathLst>
            </a:custGeom>
            <a:solidFill>
              <a:srgbClr val="D2222A"/>
            </a:solidFill>
          </p:spPr>
        </p:sp>
      </p:grpSp>
      <p:sp>
        <p:nvSpPr>
          <p:cNvPr id="4" name="Freeform 4"/>
          <p:cNvSpPr/>
          <p:nvPr/>
        </p:nvSpPr>
        <p:spPr>
          <a:xfrm>
            <a:off x="3600450" y="657225"/>
            <a:ext cx="3543300" cy="657225"/>
          </a:xfrm>
          <a:custGeom>
            <a:avLst/>
            <a:gdLst/>
            <a:ahLst/>
            <a:cxnLst/>
            <a:rect l="l" t="t" r="r" b="b"/>
            <a:pathLst>
              <a:path w="3543300" h="657225">
                <a:moveTo>
                  <a:pt x="0" y="0"/>
                </a:moveTo>
                <a:lnTo>
                  <a:pt x="3543300" y="0"/>
                </a:lnTo>
                <a:lnTo>
                  <a:pt x="3543300" y="657225"/>
                </a:lnTo>
                <a:lnTo>
                  <a:pt x="0" y="657225"/>
                </a:lnTo>
                <a:lnTo>
                  <a:pt x="0" y="0"/>
                </a:lnTo>
                <a:close/>
              </a:path>
            </a:pathLst>
          </a:custGeom>
          <a:blipFill>
            <a:blip r:embed="rId2"/>
            <a:stretch>
              <a:fillRect/>
            </a:stretch>
          </a:blipFill>
        </p:spPr>
      </p:sp>
      <p:sp>
        <p:nvSpPr>
          <p:cNvPr id="5" name="Freeform 5"/>
          <p:cNvSpPr/>
          <p:nvPr/>
        </p:nvSpPr>
        <p:spPr>
          <a:xfrm>
            <a:off x="0" y="171354"/>
            <a:ext cx="7551039" cy="1707356"/>
          </a:xfrm>
          <a:custGeom>
            <a:avLst/>
            <a:gdLst/>
            <a:ahLst/>
            <a:cxnLst/>
            <a:rect l="l" t="t" r="r" b="b"/>
            <a:pathLst>
              <a:path w="7551039" h="1707356">
                <a:moveTo>
                  <a:pt x="0" y="0"/>
                </a:moveTo>
                <a:lnTo>
                  <a:pt x="7551039" y="0"/>
                </a:lnTo>
                <a:lnTo>
                  <a:pt x="7551039" y="1707356"/>
                </a:lnTo>
                <a:lnTo>
                  <a:pt x="0" y="1707356"/>
                </a:lnTo>
                <a:lnTo>
                  <a:pt x="0" y="0"/>
                </a:lnTo>
                <a:close/>
              </a:path>
            </a:pathLst>
          </a:custGeom>
          <a:blipFill>
            <a:blip r:embed="rId3"/>
            <a:stretch>
              <a:fillRect t="-67" b="-67"/>
            </a:stretch>
          </a:blipFill>
        </p:spPr>
      </p:sp>
      <p:sp>
        <p:nvSpPr>
          <p:cNvPr id="6" name="Freeform 6"/>
          <p:cNvSpPr/>
          <p:nvPr/>
        </p:nvSpPr>
        <p:spPr>
          <a:xfrm>
            <a:off x="0" y="257175"/>
            <a:ext cx="7472361" cy="1457325"/>
          </a:xfrm>
          <a:custGeom>
            <a:avLst/>
            <a:gdLst/>
            <a:ahLst/>
            <a:cxnLst/>
            <a:rect l="l" t="t" r="r" b="b"/>
            <a:pathLst>
              <a:path w="7472361" h="1457325">
                <a:moveTo>
                  <a:pt x="0" y="0"/>
                </a:moveTo>
                <a:lnTo>
                  <a:pt x="7472361" y="0"/>
                </a:lnTo>
                <a:lnTo>
                  <a:pt x="7472361" y="1457325"/>
                </a:lnTo>
                <a:lnTo>
                  <a:pt x="0" y="1457325"/>
                </a:lnTo>
                <a:lnTo>
                  <a:pt x="0" y="0"/>
                </a:lnTo>
                <a:close/>
              </a:path>
            </a:pathLst>
          </a:custGeom>
          <a:blipFill>
            <a:blip r:embed="rId4"/>
            <a:stretch>
              <a:fillRect l="-31" r="-31"/>
            </a:stretch>
          </a:blipFill>
        </p:spPr>
      </p:sp>
      <p:sp>
        <p:nvSpPr>
          <p:cNvPr id="7" name="Freeform 7"/>
          <p:cNvSpPr/>
          <p:nvPr/>
        </p:nvSpPr>
        <p:spPr>
          <a:xfrm>
            <a:off x="2586038" y="614362"/>
            <a:ext cx="4829175" cy="742950"/>
          </a:xfrm>
          <a:custGeom>
            <a:avLst/>
            <a:gdLst/>
            <a:ahLst/>
            <a:cxnLst/>
            <a:rect l="l" t="t" r="r" b="b"/>
            <a:pathLst>
              <a:path w="4829175" h="742950">
                <a:moveTo>
                  <a:pt x="0" y="0"/>
                </a:moveTo>
                <a:lnTo>
                  <a:pt x="4829174" y="0"/>
                </a:lnTo>
                <a:lnTo>
                  <a:pt x="4829174" y="742950"/>
                </a:lnTo>
                <a:lnTo>
                  <a:pt x="0" y="742950"/>
                </a:lnTo>
                <a:lnTo>
                  <a:pt x="0" y="0"/>
                </a:lnTo>
                <a:close/>
              </a:path>
            </a:pathLst>
          </a:custGeom>
          <a:blipFill>
            <a:blip r:embed="rId5"/>
            <a:stretch>
              <a:fillRect l="-126" r="-126"/>
            </a:stretch>
          </a:blipFill>
        </p:spPr>
      </p:sp>
      <p:grpSp>
        <p:nvGrpSpPr>
          <p:cNvPr id="8" name="Group 8"/>
          <p:cNvGrpSpPr/>
          <p:nvPr/>
        </p:nvGrpSpPr>
        <p:grpSpPr>
          <a:xfrm>
            <a:off x="0" y="10115550"/>
            <a:ext cx="18288000" cy="171450"/>
            <a:chOff x="0" y="0"/>
            <a:chExt cx="24384000" cy="228600"/>
          </a:xfrm>
        </p:grpSpPr>
        <p:sp>
          <p:nvSpPr>
            <p:cNvPr id="9" name="Freeform 9"/>
            <p:cNvSpPr/>
            <p:nvPr/>
          </p:nvSpPr>
          <p:spPr>
            <a:xfrm>
              <a:off x="0" y="0"/>
              <a:ext cx="24384000" cy="228600"/>
            </a:xfrm>
            <a:custGeom>
              <a:avLst/>
              <a:gdLst/>
              <a:ahLst/>
              <a:cxnLst/>
              <a:rect l="l" t="t" r="r" b="b"/>
              <a:pathLst>
                <a:path w="24384000" h="228600">
                  <a:moveTo>
                    <a:pt x="24384000" y="0"/>
                  </a:moveTo>
                  <a:lnTo>
                    <a:pt x="0" y="0"/>
                  </a:lnTo>
                  <a:lnTo>
                    <a:pt x="0" y="228600"/>
                  </a:lnTo>
                  <a:lnTo>
                    <a:pt x="24384000" y="228600"/>
                  </a:lnTo>
                  <a:lnTo>
                    <a:pt x="24384000" y="0"/>
                  </a:lnTo>
                  <a:close/>
                </a:path>
              </a:pathLst>
            </a:custGeom>
            <a:solidFill>
              <a:srgbClr val="D2222A"/>
            </a:solidFill>
          </p:spPr>
        </p:sp>
      </p:grpSp>
      <p:grpSp>
        <p:nvGrpSpPr>
          <p:cNvPr id="10" name="Group 10"/>
          <p:cNvGrpSpPr/>
          <p:nvPr/>
        </p:nvGrpSpPr>
        <p:grpSpPr>
          <a:xfrm>
            <a:off x="6686550" y="1790700"/>
            <a:ext cx="4914900" cy="1402810"/>
            <a:chOff x="0" y="-292600"/>
            <a:chExt cx="9046271" cy="2581984"/>
          </a:xfrm>
        </p:grpSpPr>
        <p:sp>
          <p:nvSpPr>
            <p:cNvPr id="11" name="Freeform 11"/>
            <p:cNvSpPr/>
            <p:nvPr/>
          </p:nvSpPr>
          <p:spPr>
            <a:xfrm>
              <a:off x="0" y="0"/>
              <a:ext cx="8304431" cy="2289384"/>
            </a:xfrm>
            <a:custGeom>
              <a:avLst/>
              <a:gdLst/>
              <a:ahLst/>
              <a:cxnLst/>
              <a:rect l="l" t="t" r="r" b="b"/>
              <a:pathLst>
                <a:path w="8304431" h="2289384">
                  <a:moveTo>
                    <a:pt x="0" y="0"/>
                  </a:moveTo>
                  <a:lnTo>
                    <a:pt x="8304431" y="0"/>
                  </a:lnTo>
                  <a:lnTo>
                    <a:pt x="8304431" y="2289384"/>
                  </a:lnTo>
                  <a:lnTo>
                    <a:pt x="0" y="2289384"/>
                  </a:lnTo>
                  <a:close/>
                </a:path>
              </a:pathLst>
            </a:custGeom>
            <a:solidFill>
              <a:srgbClr val="000000">
                <a:alpha val="0"/>
              </a:srgbClr>
            </a:solidFill>
          </p:spPr>
        </p:sp>
        <p:sp>
          <p:nvSpPr>
            <p:cNvPr id="12" name="TextBox 12"/>
            <p:cNvSpPr txBox="1"/>
            <p:nvPr/>
          </p:nvSpPr>
          <p:spPr>
            <a:xfrm>
              <a:off x="0" y="-292600"/>
              <a:ext cx="9046271" cy="2413208"/>
            </a:xfrm>
            <a:prstGeom prst="rect">
              <a:avLst/>
            </a:prstGeom>
          </p:spPr>
          <p:txBody>
            <a:bodyPr lIns="0" tIns="0" rIns="0" bIns="0" rtlCol="0" anchor="t"/>
            <a:lstStyle/>
            <a:p>
              <a:pPr algn="l">
                <a:lnSpc>
                  <a:spcPts val="7679"/>
                </a:lnSpc>
              </a:pPr>
              <a:r>
                <a:rPr lang="en-US" sz="7200" b="1" dirty="0">
                  <a:solidFill>
                    <a:srgbClr val="000000"/>
                  </a:solidFill>
                  <a:latin typeface="Times New Roman Bold"/>
                  <a:ea typeface="Times New Roman Bold"/>
                  <a:cs typeface="Times New Roman Bold"/>
                  <a:sym typeface="Times New Roman Bold"/>
                </a:rPr>
                <a:t>Future</a:t>
              </a:r>
              <a:r>
                <a:rPr lang="en-US" sz="6399" b="1" dirty="0">
                  <a:solidFill>
                    <a:srgbClr val="000000"/>
                  </a:solidFill>
                  <a:latin typeface="Times New Roman Bold"/>
                  <a:ea typeface="Times New Roman Bold"/>
                  <a:cs typeface="Times New Roman Bold"/>
                  <a:sym typeface="Times New Roman Bold"/>
                </a:rPr>
                <a:t> Scope</a:t>
              </a:r>
            </a:p>
          </p:txBody>
        </p:sp>
      </p:grpSp>
      <p:sp>
        <p:nvSpPr>
          <p:cNvPr id="13" name="TextBox 13"/>
          <p:cNvSpPr txBox="1"/>
          <p:nvPr/>
        </p:nvSpPr>
        <p:spPr>
          <a:xfrm>
            <a:off x="678237" y="3065397"/>
            <a:ext cx="17259300" cy="6629400"/>
          </a:xfrm>
          <a:prstGeom prst="rect">
            <a:avLst/>
          </a:prstGeom>
        </p:spPr>
        <p:txBody>
          <a:bodyPr lIns="0" tIns="0" rIns="0" bIns="0" rtlCol="0" anchor="t">
            <a:spAutoFit/>
          </a:bodyPr>
          <a:lstStyle/>
          <a:p>
            <a:pPr marL="626106" lvl="1" indent="-313053" algn="l">
              <a:lnSpc>
                <a:spcPts val="3479"/>
              </a:lnSpc>
              <a:buFont typeface="Arial"/>
              <a:buChar char="•"/>
            </a:pPr>
            <a:r>
              <a:rPr lang="en-US" sz="2899" spc="-49" dirty="0">
                <a:solidFill>
                  <a:srgbClr val="000000"/>
                </a:solidFill>
                <a:latin typeface="Arial"/>
                <a:ea typeface="Arial"/>
                <a:cs typeface="Arial"/>
                <a:sym typeface="Arial"/>
              </a:rPr>
              <a:t>Integration of AI &amp; Machine Learning – Advanced predictive models can improve risk assessment by analyzing large datasets and identifying hidden patterns in health-related mortality risks.</a:t>
            </a:r>
          </a:p>
          <a:p>
            <a:pPr algn="l">
              <a:lnSpc>
                <a:spcPts val="3479"/>
              </a:lnSpc>
            </a:pPr>
            <a:endParaRPr lang="en-US" sz="2899" spc="-49" dirty="0">
              <a:solidFill>
                <a:srgbClr val="000000"/>
              </a:solidFill>
              <a:latin typeface="Arial"/>
              <a:ea typeface="Arial"/>
              <a:cs typeface="Arial"/>
              <a:sym typeface="Arial"/>
            </a:endParaRPr>
          </a:p>
          <a:p>
            <a:pPr marL="626106" lvl="1" indent="-313053" algn="l">
              <a:lnSpc>
                <a:spcPts val="3479"/>
              </a:lnSpc>
              <a:buFont typeface="Arial"/>
              <a:buChar char="•"/>
            </a:pPr>
            <a:r>
              <a:rPr lang="en-US" sz="2899" spc="-49" dirty="0">
                <a:solidFill>
                  <a:srgbClr val="000000"/>
                </a:solidFill>
                <a:latin typeface="Arial"/>
                <a:ea typeface="Arial"/>
                <a:cs typeface="Arial"/>
                <a:sym typeface="Arial"/>
              </a:rPr>
              <a:t>Personalized Insurance Policies – Future models can incorporate genetic data, wearable health trackers, and lifestyle monitoring to offer customized insurance plans.</a:t>
            </a:r>
          </a:p>
          <a:p>
            <a:pPr algn="l">
              <a:lnSpc>
                <a:spcPts val="3479"/>
              </a:lnSpc>
            </a:pPr>
            <a:endParaRPr lang="en-US" sz="2899" spc="-49" dirty="0">
              <a:solidFill>
                <a:srgbClr val="000000"/>
              </a:solidFill>
              <a:latin typeface="Arial"/>
              <a:ea typeface="Arial"/>
              <a:cs typeface="Arial"/>
              <a:sym typeface="Arial"/>
            </a:endParaRPr>
          </a:p>
          <a:p>
            <a:pPr marL="626106" lvl="1" indent="-313053" algn="l">
              <a:lnSpc>
                <a:spcPts val="3479"/>
              </a:lnSpc>
              <a:buFont typeface="Arial"/>
              <a:buChar char="•"/>
            </a:pPr>
            <a:r>
              <a:rPr lang="en-US" sz="2899" spc="-51" dirty="0">
                <a:solidFill>
                  <a:srgbClr val="000000"/>
                </a:solidFill>
                <a:latin typeface="Arial"/>
                <a:ea typeface="Arial"/>
                <a:cs typeface="Arial"/>
                <a:sym typeface="Arial"/>
              </a:rPr>
              <a:t>Real-Time Data Utilization – Leveraging real-time health data from medical records, fitness apps, and IoT devices can enhance the accuracy of life expectancy predictions.</a:t>
            </a:r>
          </a:p>
          <a:p>
            <a:pPr algn="l">
              <a:lnSpc>
                <a:spcPts val="3479"/>
              </a:lnSpc>
            </a:pPr>
            <a:endParaRPr lang="en-US" sz="2899" spc="-51" dirty="0">
              <a:solidFill>
                <a:srgbClr val="000000"/>
              </a:solidFill>
              <a:latin typeface="Arial"/>
              <a:ea typeface="Arial"/>
              <a:cs typeface="Arial"/>
              <a:sym typeface="Arial"/>
            </a:endParaRPr>
          </a:p>
          <a:p>
            <a:pPr marL="626106" lvl="1" indent="-313053" algn="l">
              <a:lnSpc>
                <a:spcPts val="3479"/>
              </a:lnSpc>
              <a:buFont typeface="Arial"/>
              <a:buChar char="•"/>
            </a:pPr>
            <a:r>
              <a:rPr lang="en-US" sz="2899" spc="-49" dirty="0">
                <a:solidFill>
                  <a:srgbClr val="000000"/>
                </a:solidFill>
                <a:latin typeface="Arial"/>
                <a:ea typeface="Arial"/>
                <a:cs typeface="Arial"/>
                <a:sym typeface="Arial"/>
              </a:rPr>
              <a:t> Adjustments – Policies could be structured to adjust premiums based on improved health conditions or lifestyle changes over time.</a:t>
            </a:r>
          </a:p>
          <a:p>
            <a:pPr algn="l">
              <a:lnSpc>
                <a:spcPts val="3479"/>
              </a:lnSpc>
            </a:pPr>
            <a:endParaRPr lang="en-US" sz="2899" spc="-49" dirty="0">
              <a:solidFill>
                <a:srgbClr val="000000"/>
              </a:solidFill>
              <a:latin typeface="Arial"/>
              <a:ea typeface="Arial"/>
              <a:cs typeface="Arial"/>
              <a:sym typeface="Arial"/>
            </a:endParaRPr>
          </a:p>
          <a:p>
            <a:pPr marL="626106" lvl="1" indent="-313053" algn="l">
              <a:lnSpc>
                <a:spcPts val="3479"/>
              </a:lnSpc>
              <a:buFont typeface="Arial"/>
              <a:buChar char="•"/>
            </a:pPr>
            <a:r>
              <a:rPr lang="en-US" sz="2899" spc="-49" dirty="0">
                <a:solidFill>
                  <a:srgbClr val="000000"/>
                </a:solidFill>
                <a:latin typeface="Arial"/>
                <a:ea typeface="Arial"/>
                <a:cs typeface="Arial"/>
                <a:sym typeface="Arial"/>
              </a:rPr>
              <a:t>Global Adaptation &amp; Inclusivity – Expanding the model to consider diverse demographics, environmental factors, and regional healthcare developments for more accurate and fair risk assessment.</a:t>
            </a:r>
          </a:p>
          <a:p>
            <a:pPr algn="l">
              <a:lnSpc>
                <a:spcPts val="3479"/>
              </a:lnSpc>
            </a:pPr>
            <a:endParaRPr lang="en-US" sz="2899" spc="-49" dirty="0">
              <a:solidFill>
                <a:srgbClr val="000000"/>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
            <a:chOff x="0" y="0"/>
            <a:chExt cx="24384000" cy="1371600"/>
          </a:xfrm>
        </p:grpSpPr>
        <p:sp>
          <p:nvSpPr>
            <p:cNvPr id="3" name="Freeform 3"/>
            <p:cNvSpPr/>
            <p:nvPr/>
          </p:nvSpPr>
          <p:spPr>
            <a:xfrm>
              <a:off x="0" y="0"/>
              <a:ext cx="24384000" cy="1371600"/>
            </a:xfrm>
            <a:custGeom>
              <a:avLst/>
              <a:gdLst/>
              <a:ahLst/>
              <a:cxnLst/>
              <a:rect l="l" t="t" r="r" b="b"/>
              <a:pathLst>
                <a:path w="24384000" h="1371600">
                  <a:moveTo>
                    <a:pt x="24384000" y="0"/>
                  </a:moveTo>
                  <a:lnTo>
                    <a:pt x="0" y="0"/>
                  </a:lnTo>
                  <a:lnTo>
                    <a:pt x="0" y="1371600"/>
                  </a:lnTo>
                  <a:lnTo>
                    <a:pt x="24384000" y="1371600"/>
                  </a:lnTo>
                  <a:lnTo>
                    <a:pt x="24384000" y="0"/>
                  </a:lnTo>
                  <a:close/>
                </a:path>
              </a:pathLst>
            </a:custGeom>
            <a:solidFill>
              <a:srgbClr val="D2222A"/>
            </a:solidFill>
          </p:spPr>
        </p:sp>
      </p:grpSp>
      <p:sp>
        <p:nvSpPr>
          <p:cNvPr id="4" name="Freeform 4"/>
          <p:cNvSpPr/>
          <p:nvPr/>
        </p:nvSpPr>
        <p:spPr>
          <a:xfrm>
            <a:off x="3600450" y="657225"/>
            <a:ext cx="3543300" cy="657225"/>
          </a:xfrm>
          <a:custGeom>
            <a:avLst/>
            <a:gdLst/>
            <a:ahLst/>
            <a:cxnLst/>
            <a:rect l="l" t="t" r="r" b="b"/>
            <a:pathLst>
              <a:path w="3543300" h="657225">
                <a:moveTo>
                  <a:pt x="0" y="0"/>
                </a:moveTo>
                <a:lnTo>
                  <a:pt x="3543300" y="0"/>
                </a:lnTo>
                <a:lnTo>
                  <a:pt x="3543300" y="657225"/>
                </a:lnTo>
                <a:lnTo>
                  <a:pt x="0" y="657225"/>
                </a:lnTo>
                <a:lnTo>
                  <a:pt x="0" y="0"/>
                </a:lnTo>
                <a:close/>
              </a:path>
            </a:pathLst>
          </a:custGeom>
          <a:blipFill>
            <a:blip r:embed="rId2"/>
            <a:stretch>
              <a:fillRect/>
            </a:stretch>
          </a:blipFill>
        </p:spPr>
      </p:sp>
      <p:sp>
        <p:nvSpPr>
          <p:cNvPr id="5" name="Freeform 5"/>
          <p:cNvSpPr/>
          <p:nvPr/>
        </p:nvSpPr>
        <p:spPr>
          <a:xfrm>
            <a:off x="0" y="171354"/>
            <a:ext cx="7551039" cy="1707356"/>
          </a:xfrm>
          <a:custGeom>
            <a:avLst/>
            <a:gdLst/>
            <a:ahLst/>
            <a:cxnLst/>
            <a:rect l="l" t="t" r="r" b="b"/>
            <a:pathLst>
              <a:path w="7551039" h="1707356">
                <a:moveTo>
                  <a:pt x="0" y="0"/>
                </a:moveTo>
                <a:lnTo>
                  <a:pt x="7551039" y="0"/>
                </a:lnTo>
                <a:lnTo>
                  <a:pt x="7551039" y="1707356"/>
                </a:lnTo>
                <a:lnTo>
                  <a:pt x="0" y="1707356"/>
                </a:lnTo>
                <a:lnTo>
                  <a:pt x="0" y="0"/>
                </a:lnTo>
                <a:close/>
              </a:path>
            </a:pathLst>
          </a:custGeom>
          <a:blipFill>
            <a:blip r:embed="rId3"/>
            <a:stretch>
              <a:fillRect t="-67" b="-67"/>
            </a:stretch>
          </a:blipFill>
        </p:spPr>
      </p:sp>
      <p:sp>
        <p:nvSpPr>
          <p:cNvPr id="6" name="Freeform 6"/>
          <p:cNvSpPr/>
          <p:nvPr/>
        </p:nvSpPr>
        <p:spPr>
          <a:xfrm>
            <a:off x="0" y="257175"/>
            <a:ext cx="7472361" cy="1457325"/>
          </a:xfrm>
          <a:custGeom>
            <a:avLst/>
            <a:gdLst/>
            <a:ahLst/>
            <a:cxnLst/>
            <a:rect l="l" t="t" r="r" b="b"/>
            <a:pathLst>
              <a:path w="7472361" h="1457325">
                <a:moveTo>
                  <a:pt x="0" y="0"/>
                </a:moveTo>
                <a:lnTo>
                  <a:pt x="7472361" y="0"/>
                </a:lnTo>
                <a:lnTo>
                  <a:pt x="7472361" y="1457325"/>
                </a:lnTo>
                <a:lnTo>
                  <a:pt x="0" y="1457325"/>
                </a:lnTo>
                <a:lnTo>
                  <a:pt x="0" y="0"/>
                </a:lnTo>
                <a:close/>
              </a:path>
            </a:pathLst>
          </a:custGeom>
          <a:blipFill>
            <a:blip r:embed="rId4"/>
            <a:stretch>
              <a:fillRect l="-31" r="-31"/>
            </a:stretch>
          </a:blipFill>
        </p:spPr>
      </p:sp>
      <p:sp>
        <p:nvSpPr>
          <p:cNvPr id="7" name="Freeform 7"/>
          <p:cNvSpPr/>
          <p:nvPr/>
        </p:nvSpPr>
        <p:spPr>
          <a:xfrm>
            <a:off x="2586038" y="614362"/>
            <a:ext cx="4829175" cy="742950"/>
          </a:xfrm>
          <a:custGeom>
            <a:avLst/>
            <a:gdLst/>
            <a:ahLst/>
            <a:cxnLst/>
            <a:rect l="l" t="t" r="r" b="b"/>
            <a:pathLst>
              <a:path w="4829175" h="742950">
                <a:moveTo>
                  <a:pt x="0" y="0"/>
                </a:moveTo>
                <a:lnTo>
                  <a:pt x="4829174" y="0"/>
                </a:lnTo>
                <a:lnTo>
                  <a:pt x="4829174" y="742950"/>
                </a:lnTo>
                <a:lnTo>
                  <a:pt x="0" y="742950"/>
                </a:lnTo>
                <a:lnTo>
                  <a:pt x="0" y="0"/>
                </a:lnTo>
                <a:close/>
              </a:path>
            </a:pathLst>
          </a:custGeom>
          <a:blipFill>
            <a:blip r:embed="rId5"/>
            <a:stretch>
              <a:fillRect l="-126" r="-126"/>
            </a:stretch>
          </a:blipFill>
        </p:spPr>
      </p:sp>
      <p:grpSp>
        <p:nvGrpSpPr>
          <p:cNvPr id="8" name="Group 8"/>
          <p:cNvGrpSpPr/>
          <p:nvPr/>
        </p:nvGrpSpPr>
        <p:grpSpPr>
          <a:xfrm>
            <a:off x="0" y="10115550"/>
            <a:ext cx="18288000" cy="171450"/>
            <a:chOff x="0" y="0"/>
            <a:chExt cx="24384000" cy="228600"/>
          </a:xfrm>
        </p:grpSpPr>
        <p:sp>
          <p:nvSpPr>
            <p:cNvPr id="9" name="Freeform 9"/>
            <p:cNvSpPr/>
            <p:nvPr/>
          </p:nvSpPr>
          <p:spPr>
            <a:xfrm>
              <a:off x="0" y="0"/>
              <a:ext cx="24384000" cy="228600"/>
            </a:xfrm>
            <a:custGeom>
              <a:avLst/>
              <a:gdLst/>
              <a:ahLst/>
              <a:cxnLst/>
              <a:rect l="l" t="t" r="r" b="b"/>
              <a:pathLst>
                <a:path w="24384000" h="228600">
                  <a:moveTo>
                    <a:pt x="24384000" y="0"/>
                  </a:moveTo>
                  <a:lnTo>
                    <a:pt x="0" y="0"/>
                  </a:lnTo>
                  <a:lnTo>
                    <a:pt x="0" y="228600"/>
                  </a:lnTo>
                  <a:lnTo>
                    <a:pt x="24384000" y="228600"/>
                  </a:lnTo>
                  <a:lnTo>
                    <a:pt x="24384000" y="0"/>
                  </a:lnTo>
                  <a:close/>
                </a:path>
              </a:pathLst>
            </a:custGeom>
            <a:solidFill>
              <a:srgbClr val="D2222A"/>
            </a:solidFill>
          </p:spPr>
        </p:sp>
      </p:grpSp>
      <p:grpSp>
        <p:nvGrpSpPr>
          <p:cNvPr id="10" name="Group 10"/>
          <p:cNvGrpSpPr/>
          <p:nvPr/>
        </p:nvGrpSpPr>
        <p:grpSpPr>
          <a:xfrm>
            <a:off x="6972300" y="1866900"/>
            <a:ext cx="5143500" cy="1118894"/>
            <a:chOff x="-16632" y="-226939"/>
            <a:chExt cx="6858000" cy="1491859"/>
          </a:xfrm>
        </p:grpSpPr>
        <p:sp>
          <p:nvSpPr>
            <p:cNvPr id="11" name="Freeform 11"/>
            <p:cNvSpPr/>
            <p:nvPr/>
          </p:nvSpPr>
          <p:spPr>
            <a:xfrm>
              <a:off x="0" y="0"/>
              <a:ext cx="5755640" cy="1264920"/>
            </a:xfrm>
            <a:custGeom>
              <a:avLst/>
              <a:gdLst/>
              <a:ahLst/>
              <a:cxnLst/>
              <a:rect l="l" t="t" r="r" b="b"/>
              <a:pathLst>
                <a:path w="5755640" h="1264920">
                  <a:moveTo>
                    <a:pt x="0" y="0"/>
                  </a:moveTo>
                  <a:lnTo>
                    <a:pt x="5755640" y="0"/>
                  </a:lnTo>
                  <a:lnTo>
                    <a:pt x="5755640" y="1264920"/>
                  </a:lnTo>
                  <a:lnTo>
                    <a:pt x="0" y="1264920"/>
                  </a:lnTo>
                  <a:close/>
                </a:path>
              </a:pathLst>
            </a:custGeom>
            <a:solidFill>
              <a:srgbClr val="000000">
                <a:alpha val="0"/>
              </a:srgbClr>
            </a:solidFill>
          </p:spPr>
        </p:sp>
        <p:sp>
          <p:nvSpPr>
            <p:cNvPr id="12" name="TextBox 12"/>
            <p:cNvSpPr txBox="1"/>
            <p:nvPr/>
          </p:nvSpPr>
          <p:spPr>
            <a:xfrm>
              <a:off x="-16632" y="-226939"/>
              <a:ext cx="6858000" cy="1379220"/>
            </a:xfrm>
            <a:prstGeom prst="rect">
              <a:avLst/>
            </a:prstGeom>
          </p:spPr>
          <p:txBody>
            <a:bodyPr lIns="0" tIns="0" rIns="0" bIns="0" rtlCol="0" anchor="t"/>
            <a:lstStyle/>
            <a:p>
              <a:pPr algn="l">
                <a:lnSpc>
                  <a:spcPts val="7109"/>
                </a:lnSpc>
              </a:pPr>
              <a:r>
                <a:rPr lang="en-US" sz="7200" b="1" spc="-15" dirty="0">
                  <a:solidFill>
                    <a:srgbClr val="000000"/>
                  </a:solidFill>
                  <a:latin typeface="Times New Roman Bold"/>
                  <a:ea typeface="Times New Roman Bold"/>
                  <a:cs typeface="Times New Roman Bold"/>
                  <a:sym typeface="Times New Roman Bold"/>
                </a:rPr>
                <a:t>Bibliography</a:t>
              </a:r>
            </a:p>
          </p:txBody>
        </p:sp>
      </p:grpSp>
      <p:sp>
        <p:nvSpPr>
          <p:cNvPr id="13" name="TextBox 13"/>
          <p:cNvSpPr txBox="1"/>
          <p:nvPr/>
        </p:nvSpPr>
        <p:spPr>
          <a:xfrm>
            <a:off x="1028700" y="2932174"/>
            <a:ext cx="17055648" cy="6256200"/>
          </a:xfrm>
          <a:prstGeom prst="rect">
            <a:avLst/>
          </a:prstGeom>
        </p:spPr>
        <p:txBody>
          <a:bodyPr lIns="0" tIns="0" rIns="0" bIns="0" rtlCol="0" anchor="t">
            <a:spAutoFit/>
          </a:bodyPr>
          <a:lstStyle/>
          <a:p>
            <a:pPr marL="626109" lvl="1" indent="-313054" algn="just">
              <a:lnSpc>
                <a:spcPts val="3479"/>
              </a:lnSpc>
              <a:buFont typeface="Arial"/>
              <a:buChar char="•"/>
            </a:pPr>
            <a:r>
              <a:rPr lang="en-US" sz="2899" spc="-49" dirty="0">
                <a:solidFill>
                  <a:srgbClr val="000000"/>
                </a:solidFill>
                <a:latin typeface="Arial"/>
                <a:ea typeface="Arial"/>
                <a:cs typeface="Arial"/>
                <a:sym typeface="Arial"/>
              </a:rPr>
              <a:t>https://www.actuariesindia.org/mortality-table</a:t>
            </a:r>
          </a:p>
          <a:p>
            <a:pPr marL="626109" lvl="1" indent="-313054" algn="just">
              <a:lnSpc>
                <a:spcPts val="3479"/>
              </a:lnSpc>
              <a:buFont typeface="Arial"/>
              <a:buChar char="•"/>
            </a:pPr>
            <a:r>
              <a:rPr lang="en-US" sz="2899" spc="-49" dirty="0">
                <a:solidFill>
                  <a:srgbClr val="000000"/>
                </a:solidFill>
                <a:latin typeface="Arial"/>
                <a:ea typeface="Arial"/>
                <a:cs typeface="Arial"/>
                <a:sym typeface="Arial"/>
              </a:rPr>
              <a:t>https://nphic.org/news/news-highlights/2225-single-cigarette-takes-20-minutes-off-life-expectancy-study</a:t>
            </a:r>
          </a:p>
          <a:p>
            <a:pPr marL="626109" lvl="1" indent="-313054" algn="just">
              <a:lnSpc>
                <a:spcPts val="3479"/>
              </a:lnSpc>
              <a:buFont typeface="Arial"/>
              <a:buChar char="•"/>
            </a:pPr>
            <a:r>
              <a:rPr lang="en-US" sz="2899" spc="-49" dirty="0">
                <a:solidFill>
                  <a:srgbClr val="000000"/>
                </a:solidFill>
                <a:latin typeface="Arial"/>
                <a:ea typeface="Arial"/>
                <a:cs typeface="Arial"/>
                <a:sym typeface="Arial"/>
              </a:rPr>
              <a:t>https://www.theguardian.com/australia-news/commentisfree/article/2024/aug/28/australia-hypertension-deaths-blood-pressure</a:t>
            </a:r>
          </a:p>
          <a:p>
            <a:pPr marL="626109" lvl="1" indent="-313054" algn="just">
              <a:lnSpc>
                <a:spcPts val="3479"/>
              </a:lnSpc>
              <a:buFont typeface="Arial"/>
              <a:buChar char="•"/>
            </a:pPr>
            <a:r>
              <a:rPr lang="en-US" sz="2899" spc="-49" dirty="0">
                <a:solidFill>
                  <a:srgbClr val="000000"/>
                </a:solidFill>
                <a:latin typeface="Arial"/>
                <a:ea typeface="Arial"/>
                <a:cs typeface="Arial"/>
                <a:sym typeface="Arial"/>
              </a:rPr>
              <a:t>https://www.theguardian.com/food/2024/nov/24/the-truth-about-salt-how-to-avoid-one-of-the-worlds-biggest-hidden-killers</a:t>
            </a:r>
          </a:p>
          <a:p>
            <a:pPr marL="626109" lvl="1" indent="-313054" algn="just">
              <a:lnSpc>
                <a:spcPts val="3479"/>
              </a:lnSpc>
              <a:buFont typeface="Arial"/>
              <a:buChar char="•"/>
            </a:pPr>
            <a:r>
              <a:rPr lang="en-US" sz="2899" spc="-49" dirty="0">
                <a:solidFill>
                  <a:srgbClr val="000000"/>
                </a:solidFill>
                <a:latin typeface="Arial"/>
                <a:ea typeface="Arial"/>
                <a:cs typeface="Arial"/>
                <a:sym typeface="Arial"/>
              </a:rPr>
              <a:t>https://www.eatingwell.com/myths-about-high-blood-pressure-to-stop-believing-8746582</a:t>
            </a:r>
          </a:p>
          <a:p>
            <a:pPr marL="626109" lvl="1" indent="-313054" algn="just">
              <a:lnSpc>
                <a:spcPts val="3479"/>
              </a:lnSpc>
              <a:buFont typeface="Arial"/>
              <a:buChar char="•"/>
            </a:pPr>
            <a:r>
              <a:rPr lang="en-US" sz="2899" spc="-49" dirty="0">
                <a:solidFill>
                  <a:srgbClr val="000000"/>
                </a:solidFill>
                <a:latin typeface="Arial"/>
                <a:ea typeface="Arial"/>
                <a:cs typeface="Arial"/>
                <a:sym typeface="Arial"/>
              </a:rPr>
              <a:t>https://en.wikipedia.or</a:t>
            </a:r>
          </a:p>
          <a:p>
            <a:pPr marL="626109" lvl="1" indent="-313054" algn="just">
              <a:lnSpc>
                <a:spcPts val="3479"/>
              </a:lnSpc>
              <a:buFont typeface="Arial"/>
              <a:buChar char="•"/>
            </a:pPr>
            <a:r>
              <a:rPr lang="en-US" sz="2899" spc="-49" dirty="0">
                <a:solidFill>
                  <a:srgbClr val="000000"/>
                </a:solidFill>
                <a:latin typeface="Arial"/>
                <a:ea typeface="Arial"/>
                <a:cs typeface="Arial"/>
                <a:sym typeface="Arial"/>
              </a:rPr>
              <a:t>g/wiki/Long-</a:t>
            </a:r>
            <a:r>
              <a:rPr lang="en-US" sz="2899" spc="-49" dirty="0" err="1">
                <a:solidFill>
                  <a:srgbClr val="000000"/>
                </a:solidFill>
                <a:latin typeface="Arial"/>
                <a:ea typeface="Arial"/>
                <a:cs typeface="Arial"/>
                <a:sym typeface="Arial"/>
              </a:rPr>
              <a:t>term_effects_of_alcohol</a:t>
            </a:r>
            <a:endParaRPr lang="en-US" sz="2899" spc="-49" dirty="0">
              <a:solidFill>
                <a:srgbClr val="000000"/>
              </a:solidFill>
              <a:latin typeface="Arial"/>
              <a:ea typeface="Arial"/>
              <a:cs typeface="Arial"/>
              <a:sym typeface="Arial"/>
            </a:endParaRPr>
          </a:p>
          <a:p>
            <a:pPr marL="626109" lvl="1" indent="-313054" algn="just">
              <a:lnSpc>
                <a:spcPts val="3479"/>
              </a:lnSpc>
              <a:buFont typeface="Arial"/>
              <a:buChar char="•"/>
            </a:pPr>
            <a:r>
              <a:rPr lang="en-US" sz="2899" spc="-49" dirty="0">
                <a:solidFill>
                  <a:srgbClr val="000000"/>
                </a:solidFill>
                <a:latin typeface="Arial"/>
                <a:ea typeface="Arial"/>
                <a:cs typeface="Arial"/>
                <a:sym typeface="Arial"/>
              </a:rPr>
              <a:t> https://time.com/7210400/why-is-alcohol-unhealthy/</a:t>
            </a:r>
            <a:endParaRPr lang="en-US" sz="2899" spc="-49" dirty="0">
              <a:solidFill>
                <a:srgbClr val="000000"/>
              </a:solidFill>
              <a:latin typeface="Arial"/>
              <a:ea typeface="Arial"/>
              <a:cs typeface="Arial"/>
              <a:sym typeface="Arial"/>
              <a:hlinkClick r:id="rId6" tooltip="https://time.com/7210400/why-is-alcohol-unhealthy/"/>
            </a:endParaRPr>
          </a:p>
          <a:p>
            <a:pPr marL="626109" lvl="1" indent="-313054" algn="just">
              <a:lnSpc>
                <a:spcPts val="3479"/>
              </a:lnSpc>
              <a:buFont typeface="Arial"/>
              <a:buChar char="•"/>
            </a:pPr>
            <a:r>
              <a:rPr lang="en-US" sz="2899" spc="-49" dirty="0">
                <a:solidFill>
                  <a:srgbClr val="000000"/>
                </a:solidFill>
                <a:latin typeface="Arial"/>
                <a:ea typeface="Arial"/>
                <a:cs typeface="Arial"/>
                <a:sym typeface="Arial"/>
              </a:rPr>
              <a:t>https://journals.plos.org/plosone/article?id=10.1371/journal.pone.0232815</a:t>
            </a:r>
          </a:p>
          <a:p>
            <a:pPr marL="626109" lvl="1" indent="-313054" algn="just">
              <a:lnSpc>
                <a:spcPts val="3479"/>
              </a:lnSpc>
              <a:buFont typeface="Arial"/>
              <a:buChar char="•"/>
            </a:pPr>
            <a:r>
              <a:rPr lang="en-US" sz="2899" spc="-49" dirty="0">
                <a:solidFill>
                  <a:srgbClr val="000000"/>
                </a:solidFill>
                <a:latin typeface="Arial"/>
                <a:ea typeface="Arial"/>
                <a:cs typeface="Arial"/>
                <a:sym typeface="Arial"/>
              </a:rPr>
              <a:t>https://jamanetwork.com/journals/jamainternalmedicine/fullarticle/2811807</a:t>
            </a:r>
          </a:p>
          <a:p>
            <a:pPr marL="626109" lvl="1" indent="-313054" algn="just">
              <a:lnSpc>
                <a:spcPts val="3479"/>
              </a:lnSpc>
              <a:buFont typeface="Arial"/>
              <a:buChar char="•"/>
            </a:pPr>
            <a:r>
              <a:rPr lang="en-US" sz="2899" spc="-49" dirty="0">
                <a:solidFill>
                  <a:srgbClr val="000000"/>
                </a:solidFill>
                <a:latin typeface="Arial"/>
                <a:ea typeface="Arial"/>
                <a:cs typeface="Arial"/>
                <a:sym typeface="Arial"/>
              </a:rPr>
              <a:t>https://pubmed.ncbi.nlm.nih.gov/38143046/</a:t>
            </a:r>
          </a:p>
          <a:p>
            <a:pPr marL="626109" lvl="1" indent="-313054" algn="just">
              <a:lnSpc>
                <a:spcPts val="3479"/>
              </a:lnSpc>
              <a:buFont typeface="Arial"/>
              <a:buChar char="•"/>
            </a:pPr>
            <a:r>
              <a:rPr lang="en-US" sz="2899" spc="-49" dirty="0">
                <a:solidFill>
                  <a:srgbClr val="000000"/>
                </a:solidFill>
                <a:latin typeface="Arial"/>
                <a:ea typeface="Arial"/>
                <a:cs typeface="Arial"/>
                <a:sym typeface="Arial"/>
              </a:rPr>
              <a:t>https://journals.plos.org/plosone/article?id=10.1371/journal.pone.0232815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107</TotalTime>
  <Words>1663</Words>
  <Application>Microsoft Office PowerPoint</Application>
  <PresentationFormat>Custom</PresentationFormat>
  <Paragraphs>193</Paragraphs>
  <Slides>24</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24</vt:i4>
      </vt:variant>
    </vt:vector>
  </HeadingPairs>
  <TitlesOfParts>
    <vt:vector size="33" baseType="lpstr">
      <vt:lpstr>Times New Roman Bold</vt:lpstr>
      <vt:lpstr>Times New Roman Bold Italics</vt:lpstr>
      <vt:lpstr>Arial</vt:lpstr>
      <vt:lpstr>Canva Sans Italics</vt:lpstr>
      <vt:lpstr>Canva Sans Bold</vt:lpstr>
      <vt:lpstr>Calibri</vt:lpstr>
      <vt:lpstr>Canva Sans</vt:lpstr>
      <vt:lpstr>Times New Roman Italics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lung_cancer_AS_FINAL_proj.pptx</dc:title>
  <dc:creator>Hasan Bombaywala</dc:creator>
  <cp:lastModifiedBy>Hasan Bombaywala</cp:lastModifiedBy>
  <cp:revision>9</cp:revision>
  <dcterms:created xsi:type="dcterms:W3CDTF">2006-08-16T00:00:00Z</dcterms:created>
  <dcterms:modified xsi:type="dcterms:W3CDTF">2025-04-05T03:47:11Z</dcterms:modified>
  <dc:identifier>DAGhHhOPcWg</dc:identifier>
</cp:coreProperties>
</file>